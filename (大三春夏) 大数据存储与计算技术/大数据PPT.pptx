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26"/>
  </p:notesMasterIdLst>
  <p:sldIdLst>
    <p:sldId id="294" r:id="rId2"/>
    <p:sldId id="266" r:id="rId3"/>
    <p:sldId id="296" r:id="rId4"/>
    <p:sldId id="276" r:id="rId5"/>
    <p:sldId id="313" r:id="rId6"/>
    <p:sldId id="297" r:id="rId7"/>
    <p:sldId id="279" r:id="rId8"/>
    <p:sldId id="298" r:id="rId9"/>
    <p:sldId id="299" r:id="rId10"/>
    <p:sldId id="300" r:id="rId11"/>
    <p:sldId id="301" r:id="rId12"/>
    <p:sldId id="314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  <p:sldId id="310" r:id="rId22"/>
    <p:sldId id="311" r:id="rId23"/>
    <p:sldId id="312" r:id="rId24"/>
    <p:sldId id="292" r:id="rId25"/>
  </p:sldIdLst>
  <p:sldSz cx="12192000" cy="6858000"/>
  <p:notesSz cx="6858000" cy="9144000"/>
  <p:embeddedFontLst>
    <p:embeddedFont>
      <p:font typeface="方正宋刻本秀楷简体" panose="02010600030101010101" charset="-122"/>
      <p:regular r:id="rId27"/>
    </p:embeddedFont>
    <p:embeddedFont>
      <p:font typeface="碳纤维正中黑简体" panose="02010600030101010101" charset="-122"/>
      <p:regular r:id="rId28"/>
    </p:embeddedFont>
    <p:embeddedFont>
      <p:font typeface="Consolas" panose="020B0609020204030204" pitchFamily="49" charset="0"/>
      <p:regular r:id="rId29"/>
      <p:bold r:id="rId30"/>
      <p:italic r:id="rId31"/>
      <p:boldItalic r:id="rId32"/>
    </p:embeddedFont>
    <p:embeddedFont>
      <p:font typeface="Tw Cen MT Condensed Extra Bold" panose="020B0803020202020204" pitchFamily="34" charset="0"/>
      <p:regular r:id="rId33"/>
    </p:embeddedFont>
    <p:embeddedFont>
      <p:font typeface="等线" panose="02010600030101010101" pitchFamily="2" charset="-122"/>
      <p:regular r:id="rId34"/>
      <p:bold r:id="rId35"/>
    </p:embeddedFont>
    <p:embeddedFont>
      <p:font typeface="等线 Light" panose="02010600030101010101" pitchFamily="2" charset="-122"/>
      <p:regular r:id="rId36"/>
    </p:embeddedFont>
    <p:embeddedFont>
      <p:font typeface="黑体" panose="02010609060101010101" pitchFamily="49" charset="-122"/>
      <p:regular r:id="rId37"/>
    </p:embeddedFont>
    <p:embeddedFont>
      <p:font typeface="华文中宋" panose="02010600040101010101" pitchFamily="2" charset="-122"/>
      <p:regular r:id="rId38"/>
    </p:embeddedFont>
    <p:embeddedFont>
      <p:font typeface="微软雅黑" panose="020B0503020204020204" pitchFamily="34" charset="-122"/>
      <p:regular r:id="rId39"/>
      <p:bold r:id="rId4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8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19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344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11F6BF-A064-496A-8858-71AF19A7BF3B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43F9E6-D147-49EB-B7EE-8C22AB3C3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1388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43F9E6-D147-49EB-B7EE-8C22AB3C3656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7948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1822F0-24C6-44F0-B128-5D581EB17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F664C9D-9548-413B-BB4D-41FC1C666A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409742-13CF-45BB-8A57-9290BBD5E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F391-C7C7-45FD-9C11-539A1B550E1A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74632E-33A3-40D6-85E4-FD06A8185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77DF68-8E9B-4D2E-A414-CCFCA8FCE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54744-3E8A-4ABC-A6A8-29635DAB4F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075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18E464-4DA4-4128-AE76-C324B8D2D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770439-BBCC-4933-B1A7-0373F2F65E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45C9D9-0C66-423F-AC8C-8CDC76ADB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F391-C7C7-45FD-9C11-539A1B550E1A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721F7D-B8F0-43C4-A27C-8C654D4CB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610929-12D3-4CF5-9AD5-88A9FAB00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54744-3E8A-4ABC-A6A8-29635DAB4F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6816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110E20-BD81-4C54-8315-40540E582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751CFCE-4824-4815-AEC4-C2276C158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A4E347-5418-4757-B08C-D7492A2EC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F391-C7C7-45FD-9C11-539A1B550E1A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A9C3FC-318D-4813-BF69-E702FD0DB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CEB01E-4FC1-43A1-8963-FC9622447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54744-3E8A-4ABC-A6A8-29635DAB4F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4559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A5CECE-F846-4CDE-8CAA-ECF6FE75B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29CB89-30DA-45A8-ACD4-2715B566F2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192119A-8A96-43B3-86EE-3BE2326EE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BE3AF59-78A2-484B-A203-D79BCC072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F391-C7C7-45FD-9C11-539A1B550E1A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8D07403-796E-4482-A065-F338F2A7E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372CA5-038B-4CFF-8BC4-9D793BADE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54744-3E8A-4ABC-A6A8-29635DAB4F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0420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9A842A-9E30-4867-96A1-6DCC7E946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5A4056-EFE2-4281-A991-403D133EC9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3B81B86-58BA-4861-8F04-B485E313C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DAE0107-1516-49F1-88D2-52BF1B9E61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C2E7CAC-3D8B-4EFB-8BAC-63D41CB23B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19B5B27-7A7D-4069-829E-8E032F299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F391-C7C7-45FD-9C11-539A1B550E1A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4C95170-0B0A-49D7-ADC3-EB90C7202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B9983D2-007E-4159-AB79-08E9BC6D2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54744-3E8A-4ABC-A6A8-29635DAB4F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0533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A419A4-1554-4B2D-AE14-73D56BAF5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518C3E2-FAA0-46BD-9BD0-885EC83B2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F391-C7C7-45FD-9C11-539A1B550E1A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7BD36CA-D773-477A-BDC4-33C90AE5E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AFC28A-0803-4090-A97F-1BE13DB22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54744-3E8A-4ABC-A6A8-29635DAB4F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6334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9BA9050-E53E-4CDC-B70A-511D06CF5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F391-C7C7-45FD-9C11-539A1B550E1A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8BFE7E3-5614-4801-B66D-74E206ABA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3B79F4-79A4-4159-94CB-AA5638982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54744-3E8A-4ABC-A6A8-29635DAB4F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5072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DC6BE0-96D5-492E-ADFE-53715CFFA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619489-44C1-46C6-BDCC-15D5F5BD0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128BC79-C657-475B-935F-7106A96765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D53255-339C-4F4C-A20B-0EFB0CDC4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F391-C7C7-45FD-9C11-539A1B550E1A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992AB3C-1F32-46DD-A5EA-5048E41CC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7F174A7-A9E9-4B89-BEB5-D00ACF42A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54744-3E8A-4ABC-A6A8-29635DAB4F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5952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6E63B8-5DB6-4060-A978-D66A8F489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B2B7873-2DB6-4ABD-A4ED-D5B289141A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0829574-98D2-4809-B775-DD5761F8C7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67B15C-928F-4461-B823-678A7DA1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F391-C7C7-45FD-9C11-539A1B550E1A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BE862CF-B662-45A4-81A3-0BFDA9EEA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90B54A4-B224-4EDC-B940-EA1BED24D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54744-3E8A-4ABC-A6A8-29635DAB4F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434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BF44A1-5E5F-419B-8FC6-5DB27ADFC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AAC4C79-3144-4E5F-B9D5-7C4FEDA450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8E2A6C-EC5A-4765-BF7F-329C141A9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F391-C7C7-45FD-9C11-539A1B550E1A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56D295-A28D-42EC-9051-33527E346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0B80E4-937A-47E6-B4FB-3395E28B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54744-3E8A-4ABC-A6A8-29635DAB4F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179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03700D2-20FD-4ADE-BDE6-635392C7F9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9EF349C-D17E-4972-8723-4D475E87B8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627DEA-1E2D-4EB6-A569-DC261D830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F391-C7C7-45FD-9C11-539A1B550E1A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76AEF6-1C9E-4BE6-B0A3-44CD1E66F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9DDB47-F6DF-4B48-AC71-44DEF8566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54744-3E8A-4ABC-A6A8-29635DAB4F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0322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A6E6C70-D01A-4397-9CD2-05D6545D6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095E93-2B73-4B9D-993B-2092EA6994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1789E9-3BCE-4E17-8088-FB30B031AB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5DF391-C7C7-45FD-9C11-539A1B550E1A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A83A53-25E7-4AEC-92ED-F5BEA67A74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D24AC5-D81C-42C5-8E98-6468B352B3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454744-3E8A-4ABC-A6A8-29635DAB4F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6824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435620C1-A801-4755-B362-321F46EDB2F5}"/>
              </a:ext>
            </a:extLst>
          </p:cNvPr>
          <p:cNvCxnSpPr/>
          <p:nvPr/>
        </p:nvCxnSpPr>
        <p:spPr>
          <a:xfrm>
            <a:off x="648833" y="490652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D688B81B-2200-4477-911B-AC746D185EF0}"/>
              </a:ext>
            </a:extLst>
          </p:cNvPr>
          <p:cNvSpPr txBox="1"/>
          <p:nvPr/>
        </p:nvSpPr>
        <p:spPr>
          <a:xfrm>
            <a:off x="542925" y="604952"/>
            <a:ext cx="16093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CROSS BORDER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E-COMMERCE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0776511-3A62-44FF-9F3D-19DF28CC18FE}"/>
              </a:ext>
            </a:extLst>
          </p:cNvPr>
          <p:cNvSpPr txBox="1"/>
          <p:nvPr/>
        </p:nvSpPr>
        <p:spPr>
          <a:xfrm>
            <a:off x="542925" y="5786978"/>
            <a:ext cx="1321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CASE STUDY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RESEARCH.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4ED5457-C38C-4D52-B24F-65277C6629FC}"/>
              </a:ext>
            </a:extLst>
          </p:cNvPr>
          <p:cNvCxnSpPr/>
          <p:nvPr/>
        </p:nvCxnSpPr>
        <p:spPr>
          <a:xfrm>
            <a:off x="648833" y="6391831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894801C0-371B-42A4-9CF4-41C89E62DD78}"/>
              </a:ext>
            </a:extLst>
          </p:cNvPr>
          <p:cNvSpPr txBox="1"/>
          <p:nvPr/>
        </p:nvSpPr>
        <p:spPr>
          <a:xfrm>
            <a:off x="10311856" y="6207165"/>
            <a:ext cx="636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MAY.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DC8189-2713-4357-A4B1-95EC6F0C4B52}"/>
              </a:ext>
            </a:extLst>
          </p:cNvPr>
          <p:cNvSpPr txBox="1"/>
          <p:nvPr/>
        </p:nvSpPr>
        <p:spPr>
          <a:xfrm>
            <a:off x="10791389" y="5791666"/>
            <a:ext cx="9444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29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94AC3E1-4450-4F7D-AA51-06C0599A8947}"/>
              </a:ext>
            </a:extLst>
          </p:cNvPr>
          <p:cNvSpPr/>
          <p:nvPr/>
        </p:nvSpPr>
        <p:spPr>
          <a:xfrm>
            <a:off x="10945503" y="441325"/>
            <a:ext cx="659122" cy="659122"/>
          </a:xfrm>
          <a:prstGeom prst="rect">
            <a:avLst/>
          </a:prstGeom>
          <a:blipFill dpi="0" rotWithShape="1">
            <a:blip r:embed="rId3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AA06DD6-CF0D-4076-9AA5-B87B9ACB1800}"/>
              </a:ext>
            </a:extLst>
          </p:cNvPr>
          <p:cNvGrpSpPr/>
          <p:nvPr/>
        </p:nvGrpSpPr>
        <p:grpSpPr>
          <a:xfrm>
            <a:off x="1876429" y="2216056"/>
            <a:ext cx="8447735" cy="1323439"/>
            <a:chOff x="1650336" y="2320524"/>
            <a:chExt cx="8447735" cy="1323439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9DFF788E-03A9-45A2-B8FF-99E9C41E7689}"/>
                </a:ext>
              </a:extLst>
            </p:cNvPr>
            <p:cNvSpPr txBox="1"/>
            <p:nvPr/>
          </p:nvSpPr>
          <p:spPr>
            <a:xfrm>
              <a:off x="1650336" y="2320524"/>
              <a:ext cx="8447735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Tw Cen MT Condensed Extra Bold" panose="020B0803020202020204" pitchFamily="34" charset="0"/>
                  <a:ea typeface="微软雅黑" panose="020B0503020204020204" pitchFamily="34" charset="-122"/>
                  <a:cs typeface="+mn-cs"/>
                </a:rPr>
                <a:t>REPOET TITLE HERE</a:t>
              </a:r>
              <a:endParaRPr kumimoji="0" lang="zh-CN" altLang="en-US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386A53F4-7B0F-4247-AE9C-A6381A5CC16D}"/>
                </a:ext>
              </a:extLst>
            </p:cNvPr>
            <p:cNvSpPr txBox="1"/>
            <p:nvPr/>
          </p:nvSpPr>
          <p:spPr>
            <a:xfrm>
              <a:off x="2348995" y="2812966"/>
              <a:ext cx="761549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>
                <a:defRPr/>
              </a:pPr>
              <a:r>
                <a:rPr lang="zh-CN" altLang="en-US" sz="4800" b="1" dirty="0">
                  <a:ln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黑体" panose="02010609060101010101" charset="-122"/>
                  <a:ea typeface="黑体" panose="02010609060101010101" charset="-122"/>
                  <a:sym typeface="+mn-ea"/>
                </a:rPr>
                <a:t>电子商务数据存储系统</a:t>
              </a: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138C5448-A2D0-4BEC-9140-36C1710CF40A}"/>
              </a:ext>
            </a:extLst>
          </p:cNvPr>
          <p:cNvSpPr txBox="1"/>
          <p:nvPr/>
        </p:nvSpPr>
        <p:spPr>
          <a:xfrm>
            <a:off x="4220232" y="3756584"/>
            <a:ext cx="3883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大数据存储与计算技术课程展示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39335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平行四边形 22">
            <a:extLst>
              <a:ext uri="{FF2B5EF4-FFF2-40B4-BE49-F238E27FC236}">
                <a16:creationId xmlns:a16="http://schemas.microsoft.com/office/drawing/2014/main" id="{911C9BF1-FDE9-41FF-B3F2-BB27F23A82C7}"/>
              </a:ext>
            </a:extLst>
          </p:cNvPr>
          <p:cNvSpPr/>
          <p:nvPr/>
        </p:nvSpPr>
        <p:spPr>
          <a:xfrm>
            <a:off x="525701" y="2371724"/>
            <a:ext cx="1953935" cy="2132431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4" name="平行四边形 23">
            <a:extLst>
              <a:ext uri="{FF2B5EF4-FFF2-40B4-BE49-F238E27FC236}">
                <a16:creationId xmlns:a16="http://schemas.microsoft.com/office/drawing/2014/main" id="{2EBF05B3-AFF8-463A-9FD7-9FEC1D8BCB61}"/>
              </a:ext>
            </a:extLst>
          </p:cNvPr>
          <p:cNvSpPr/>
          <p:nvPr/>
        </p:nvSpPr>
        <p:spPr>
          <a:xfrm>
            <a:off x="2852175" y="2389605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5" name="平行四边形 24">
            <a:extLst>
              <a:ext uri="{FF2B5EF4-FFF2-40B4-BE49-F238E27FC236}">
                <a16:creationId xmlns:a16="http://schemas.microsoft.com/office/drawing/2014/main" id="{4B84C800-9C7C-4B9D-B403-55E15B359696}"/>
              </a:ext>
            </a:extLst>
          </p:cNvPr>
          <p:cNvSpPr/>
          <p:nvPr/>
        </p:nvSpPr>
        <p:spPr>
          <a:xfrm>
            <a:off x="5178649" y="2371724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6" name="平行四边形 25">
            <a:extLst>
              <a:ext uri="{FF2B5EF4-FFF2-40B4-BE49-F238E27FC236}">
                <a16:creationId xmlns:a16="http://schemas.microsoft.com/office/drawing/2014/main" id="{9E4D95D3-67E7-4DAC-948B-6087EADFBD72}"/>
              </a:ext>
            </a:extLst>
          </p:cNvPr>
          <p:cNvSpPr/>
          <p:nvPr/>
        </p:nvSpPr>
        <p:spPr>
          <a:xfrm>
            <a:off x="7480783" y="2371724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7" name="平行四边形 26">
            <a:extLst>
              <a:ext uri="{FF2B5EF4-FFF2-40B4-BE49-F238E27FC236}">
                <a16:creationId xmlns:a16="http://schemas.microsoft.com/office/drawing/2014/main" id="{AB7EFD45-2D8B-413A-9639-7758CDD6E85D}"/>
              </a:ext>
            </a:extLst>
          </p:cNvPr>
          <p:cNvSpPr/>
          <p:nvPr/>
        </p:nvSpPr>
        <p:spPr>
          <a:xfrm>
            <a:off x="9782917" y="2398728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C964731-6A68-40B7-8218-02FE5B7F0021}"/>
              </a:ext>
            </a:extLst>
          </p:cNvPr>
          <p:cNvSpPr txBox="1"/>
          <p:nvPr/>
        </p:nvSpPr>
        <p:spPr>
          <a:xfrm>
            <a:off x="1301081" y="2486686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anose="02010600030101010101" pitchFamily="2" charset="-122"/>
                <a:cs typeface="+mn-cs"/>
              </a:rPr>
              <a:t>01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1316E15-7D16-43AD-B30A-6328EC34A498}"/>
              </a:ext>
            </a:extLst>
          </p:cNvPr>
          <p:cNvSpPr txBox="1"/>
          <p:nvPr/>
        </p:nvSpPr>
        <p:spPr>
          <a:xfrm>
            <a:off x="742685" y="3254908"/>
            <a:ext cx="15199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i="1" spc="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存储需求分析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2B85476-2080-4473-A2E5-397F00784D83}"/>
              </a:ext>
            </a:extLst>
          </p:cNvPr>
          <p:cNvSpPr txBox="1"/>
          <p:nvPr/>
        </p:nvSpPr>
        <p:spPr>
          <a:xfrm>
            <a:off x="3590188" y="2486685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anose="02010600030101010101" pitchFamily="2" charset="-122"/>
                <a:cs typeface="+mn-cs"/>
              </a:rPr>
              <a:t>02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50DD273-7FD4-4358-8D07-F36528077176}"/>
              </a:ext>
            </a:extLst>
          </p:cNvPr>
          <p:cNvSpPr txBox="1"/>
          <p:nvPr/>
        </p:nvSpPr>
        <p:spPr>
          <a:xfrm>
            <a:off x="3014210" y="3249519"/>
            <a:ext cx="15199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i="1" spc="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存储媒介选择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32F7806-7B10-408F-8DBC-33B7856B77DB}"/>
              </a:ext>
            </a:extLst>
          </p:cNvPr>
          <p:cNvSpPr txBox="1"/>
          <p:nvPr/>
        </p:nvSpPr>
        <p:spPr>
          <a:xfrm>
            <a:off x="5908537" y="2486685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anose="02010600030101010101" pitchFamily="2" charset="-122"/>
                <a:cs typeface="+mn-cs"/>
              </a:rPr>
              <a:t>03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AACB218-F1C1-4D71-A921-4B2549CC38C3}"/>
              </a:ext>
            </a:extLst>
          </p:cNvPr>
          <p:cNvSpPr txBox="1"/>
          <p:nvPr/>
        </p:nvSpPr>
        <p:spPr>
          <a:xfrm>
            <a:off x="5327910" y="3260736"/>
            <a:ext cx="15199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i="1" spc="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RAID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i="1" spc="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级别选择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A44778F-6657-480E-911C-7BA87A1C8A6C}"/>
              </a:ext>
            </a:extLst>
          </p:cNvPr>
          <p:cNvSpPr txBox="1"/>
          <p:nvPr/>
        </p:nvSpPr>
        <p:spPr>
          <a:xfrm>
            <a:off x="8161363" y="2486685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anose="02010600030101010101" pitchFamily="2" charset="-122"/>
                <a:cs typeface="+mn-cs"/>
              </a:rPr>
              <a:t>04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15897E3-FDD3-4F37-A0A8-691A3353F37D}"/>
              </a:ext>
            </a:extLst>
          </p:cNvPr>
          <p:cNvSpPr txBox="1"/>
          <p:nvPr/>
        </p:nvSpPr>
        <p:spPr>
          <a:xfrm>
            <a:off x="10468141" y="2513689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anose="02010600030101010101" pitchFamily="2" charset="-122"/>
                <a:cs typeface="+mn-cs"/>
              </a:rPr>
              <a:t>05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96B4773-2FA6-4DD6-84CA-9C1A032BED2E}"/>
              </a:ext>
            </a:extLst>
          </p:cNvPr>
          <p:cNvSpPr txBox="1"/>
          <p:nvPr/>
        </p:nvSpPr>
        <p:spPr>
          <a:xfrm>
            <a:off x="10852496" y="5811559"/>
            <a:ext cx="7521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目录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357AF92-86B8-4795-9CF8-872141B477C1}"/>
              </a:ext>
            </a:extLst>
          </p:cNvPr>
          <p:cNvSpPr txBox="1"/>
          <p:nvPr/>
        </p:nvSpPr>
        <p:spPr>
          <a:xfrm>
            <a:off x="9626198" y="6088558"/>
            <a:ext cx="19784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anose="02010600030101010101" pitchFamily="2" charset="-122"/>
                <a:cs typeface="+mn-cs"/>
              </a:rPr>
              <a:t>CONTENTS</a:t>
            </a:r>
            <a:endParaRPr kumimoji="0" lang="zh-CN" altLang="en-US" sz="36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8469B60-7AD5-41F0-8FA3-E6948C9492A3}"/>
              </a:ext>
            </a:extLst>
          </p:cNvPr>
          <p:cNvSpPr txBox="1"/>
          <p:nvPr/>
        </p:nvSpPr>
        <p:spPr>
          <a:xfrm>
            <a:off x="600716" y="652403"/>
            <a:ext cx="1217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整体框架</a:t>
            </a: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AA1400C2-3CA4-45AE-8B44-DBA7032D49FF}"/>
              </a:ext>
            </a:extLst>
          </p:cNvPr>
          <p:cNvCxnSpPr/>
          <p:nvPr/>
        </p:nvCxnSpPr>
        <p:spPr>
          <a:xfrm>
            <a:off x="648833" y="490652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616FA163-735D-4639-890F-565A37BF82C1}"/>
              </a:ext>
            </a:extLst>
          </p:cNvPr>
          <p:cNvSpPr txBox="1"/>
          <p:nvPr/>
        </p:nvSpPr>
        <p:spPr>
          <a:xfrm>
            <a:off x="542925" y="5786978"/>
            <a:ext cx="1321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CASE STUDY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RESEARCH.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56CA3691-9065-4678-BACE-DE65F1C4E3BC}"/>
              </a:ext>
            </a:extLst>
          </p:cNvPr>
          <p:cNvCxnSpPr/>
          <p:nvPr/>
        </p:nvCxnSpPr>
        <p:spPr>
          <a:xfrm>
            <a:off x="648833" y="6391831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40DE269A-2169-4275-8B2A-0740146C5F3D}"/>
              </a:ext>
            </a:extLst>
          </p:cNvPr>
          <p:cNvSpPr/>
          <p:nvPr/>
        </p:nvSpPr>
        <p:spPr>
          <a:xfrm>
            <a:off x="10945503" y="441325"/>
            <a:ext cx="659122" cy="659122"/>
          </a:xfrm>
          <a:prstGeom prst="rect">
            <a:avLst/>
          </a:prstGeom>
          <a:blipFill dpi="0" rotWithShape="1">
            <a:blip r:embed="rId3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1D0F814-1216-1CBC-EBD1-6C68750C9F64}"/>
              </a:ext>
            </a:extLst>
          </p:cNvPr>
          <p:cNvSpPr txBox="1"/>
          <p:nvPr/>
        </p:nvSpPr>
        <p:spPr>
          <a:xfrm>
            <a:off x="7657822" y="3260736"/>
            <a:ext cx="15199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i="1" spc="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网络存储架构设计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97C61F8-A5C0-40E4-7EB4-86A84867ADCC}"/>
              </a:ext>
            </a:extLst>
          </p:cNvPr>
          <p:cNvSpPr txBox="1"/>
          <p:nvPr/>
        </p:nvSpPr>
        <p:spPr>
          <a:xfrm>
            <a:off x="9929347" y="3249519"/>
            <a:ext cx="15199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i="1" spc="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备份策略设计</a:t>
            </a:r>
          </a:p>
        </p:txBody>
      </p:sp>
    </p:spTree>
    <p:extLst>
      <p:ext uri="{BB962C8B-B14F-4D97-AF65-F5344CB8AC3E}">
        <p14:creationId xmlns:p14="http://schemas.microsoft.com/office/powerpoint/2010/main" val="27296891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3B3A6-55CB-E171-D395-0D01650B4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平行四边形 5">
            <a:extLst>
              <a:ext uri="{FF2B5EF4-FFF2-40B4-BE49-F238E27FC236}">
                <a16:creationId xmlns:a16="http://schemas.microsoft.com/office/drawing/2014/main" id="{9565B0C4-C52E-0F8C-70F7-036BA9EDD78C}"/>
              </a:ext>
            </a:extLst>
          </p:cNvPr>
          <p:cNvSpPr/>
          <p:nvPr/>
        </p:nvSpPr>
        <p:spPr>
          <a:xfrm>
            <a:off x="525701" y="2371725"/>
            <a:ext cx="1953935" cy="2114550"/>
          </a:xfrm>
          <a:prstGeom prst="parallelogram">
            <a:avLst>
              <a:gd name="adj" fmla="val 14746"/>
            </a:avLst>
          </a:prstGeom>
          <a:solidFill>
            <a:srgbClr val="0B88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4" name="平行四边形 23">
            <a:extLst>
              <a:ext uri="{FF2B5EF4-FFF2-40B4-BE49-F238E27FC236}">
                <a16:creationId xmlns:a16="http://schemas.microsoft.com/office/drawing/2014/main" id="{01DD4DBD-2958-0F1E-E3A5-253C2738FBC1}"/>
              </a:ext>
            </a:extLst>
          </p:cNvPr>
          <p:cNvSpPr/>
          <p:nvPr/>
        </p:nvSpPr>
        <p:spPr>
          <a:xfrm>
            <a:off x="2852175" y="2389605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5" name="平行四边形 24">
            <a:extLst>
              <a:ext uri="{FF2B5EF4-FFF2-40B4-BE49-F238E27FC236}">
                <a16:creationId xmlns:a16="http://schemas.microsoft.com/office/drawing/2014/main" id="{CC741ACC-BC38-C0D8-06DB-E25C7043D07C}"/>
              </a:ext>
            </a:extLst>
          </p:cNvPr>
          <p:cNvSpPr/>
          <p:nvPr/>
        </p:nvSpPr>
        <p:spPr>
          <a:xfrm>
            <a:off x="5178649" y="2371724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6" name="平行四边形 25">
            <a:extLst>
              <a:ext uri="{FF2B5EF4-FFF2-40B4-BE49-F238E27FC236}">
                <a16:creationId xmlns:a16="http://schemas.microsoft.com/office/drawing/2014/main" id="{9D88C050-009A-D8A4-C1B8-76B2A50424B9}"/>
              </a:ext>
            </a:extLst>
          </p:cNvPr>
          <p:cNvSpPr/>
          <p:nvPr/>
        </p:nvSpPr>
        <p:spPr>
          <a:xfrm>
            <a:off x="7480783" y="2371724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7" name="平行四边形 26">
            <a:extLst>
              <a:ext uri="{FF2B5EF4-FFF2-40B4-BE49-F238E27FC236}">
                <a16:creationId xmlns:a16="http://schemas.microsoft.com/office/drawing/2014/main" id="{1A4981D4-CD90-6C1C-F880-5496579CF5A5}"/>
              </a:ext>
            </a:extLst>
          </p:cNvPr>
          <p:cNvSpPr/>
          <p:nvPr/>
        </p:nvSpPr>
        <p:spPr>
          <a:xfrm>
            <a:off x="9782917" y="2398728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5EDD5C2-ABD0-4E6B-6DB1-C8AAAA31449E}"/>
              </a:ext>
            </a:extLst>
          </p:cNvPr>
          <p:cNvSpPr txBox="1"/>
          <p:nvPr/>
        </p:nvSpPr>
        <p:spPr>
          <a:xfrm>
            <a:off x="1301081" y="2486686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anose="02010600030101010101" pitchFamily="2" charset="-122"/>
                <a:cs typeface="+mn-cs"/>
              </a:rPr>
              <a:t>01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 Condensed Extra Bold" panose="020B08030202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8630265-BD1B-E672-70AD-696D20E153B9}"/>
              </a:ext>
            </a:extLst>
          </p:cNvPr>
          <p:cNvSpPr txBox="1"/>
          <p:nvPr/>
        </p:nvSpPr>
        <p:spPr>
          <a:xfrm>
            <a:off x="742685" y="3254908"/>
            <a:ext cx="15199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i="1" spc="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存储需求分析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78A85F9-44E6-30A7-4107-6A03E3A45C0C}"/>
              </a:ext>
            </a:extLst>
          </p:cNvPr>
          <p:cNvSpPr txBox="1"/>
          <p:nvPr/>
        </p:nvSpPr>
        <p:spPr>
          <a:xfrm>
            <a:off x="3590188" y="2486685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anose="02010600030101010101" pitchFamily="2" charset="-122"/>
                <a:cs typeface="+mn-cs"/>
              </a:rPr>
              <a:t>02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79AA3C9-54BD-423E-D162-3F97FA981D80}"/>
              </a:ext>
            </a:extLst>
          </p:cNvPr>
          <p:cNvSpPr txBox="1"/>
          <p:nvPr/>
        </p:nvSpPr>
        <p:spPr>
          <a:xfrm>
            <a:off x="3014210" y="3249519"/>
            <a:ext cx="15199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i="1" spc="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存储媒介选择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DB57AB7-23F5-1AC5-0674-936CA81BA678}"/>
              </a:ext>
            </a:extLst>
          </p:cNvPr>
          <p:cNvSpPr txBox="1"/>
          <p:nvPr/>
        </p:nvSpPr>
        <p:spPr>
          <a:xfrm>
            <a:off x="5908537" y="2486685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anose="02010600030101010101" pitchFamily="2" charset="-122"/>
                <a:cs typeface="+mn-cs"/>
              </a:rPr>
              <a:t>03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40061CA-057D-A2F4-1A3E-FDCCB32E3594}"/>
              </a:ext>
            </a:extLst>
          </p:cNvPr>
          <p:cNvSpPr txBox="1"/>
          <p:nvPr/>
        </p:nvSpPr>
        <p:spPr>
          <a:xfrm>
            <a:off x="5327910" y="3260736"/>
            <a:ext cx="15199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i="1" spc="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RAID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i="1" spc="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级别选择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549E312-CFE3-85B1-DBC2-CE367BC442AA}"/>
              </a:ext>
            </a:extLst>
          </p:cNvPr>
          <p:cNvSpPr txBox="1"/>
          <p:nvPr/>
        </p:nvSpPr>
        <p:spPr>
          <a:xfrm>
            <a:off x="8161363" y="2486685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anose="02010600030101010101" pitchFamily="2" charset="-122"/>
                <a:cs typeface="+mn-cs"/>
              </a:rPr>
              <a:t>04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0F66E15-FD09-7CF3-28D9-B2E3E0C8F2DB}"/>
              </a:ext>
            </a:extLst>
          </p:cNvPr>
          <p:cNvSpPr txBox="1"/>
          <p:nvPr/>
        </p:nvSpPr>
        <p:spPr>
          <a:xfrm>
            <a:off x="10468141" y="2513689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anose="02010600030101010101" pitchFamily="2" charset="-122"/>
                <a:cs typeface="+mn-cs"/>
              </a:rPr>
              <a:t>05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9A07C95-E7C5-A975-4317-476A0BDC7368}"/>
              </a:ext>
            </a:extLst>
          </p:cNvPr>
          <p:cNvSpPr txBox="1"/>
          <p:nvPr/>
        </p:nvSpPr>
        <p:spPr>
          <a:xfrm>
            <a:off x="10852496" y="5811559"/>
            <a:ext cx="7521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目录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38E7DD07-93FA-839B-419B-D7DF34A69EFE}"/>
              </a:ext>
            </a:extLst>
          </p:cNvPr>
          <p:cNvSpPr txBox="1"/>
          <p:nvPr/>
        </p:nvSpPr>
        <p:spPr>
          <a:xfrm>
            <a:off x="9626198" y="6088558"/>
            <a:ext cx="19784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anose="02010600030101010101" pitchFamily="2" charset="-122"/>
                <a:cs typeface="+mn-cs"/>
              </a:rPr>
              <a:t>CONTENTS</a:t>
            </a:r>
            <a:endParaRPr kumimoji="0" lang="zh-CN" altLang="en-US" sz="36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8C232B2-4BF7-C59F-1648-5F67BE7C10E1}"/>
              </a:ext>
            </a:extLst>
          </p:cNvPr>
          <p:cNvSpPr txBox="1"/>
          <p:nvPr/>
        </p:nvSpPr>
        <p:spPr>
          <a:xfrm>
            <a:off x="600716" y="652403"/>
            <a:ext cx="1217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整体框架</a:t>
            </a: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7C234FED-8658-0E16-D507-72A75F22B573}"/>
              </a:ext>
            </a:extLst>
          </p:cNvPr>
          <p:cNvCxnSpPr/>
          <p:nvPr/>
        </p:nvCxnSpPr>
        <p:spPr>
          <a:xfrm>
            <a:off x="648833" y="490652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5218EDF4-0B55-8D6C-7B3B-59025871BD26}"/>
              </a:ext>
            </a:extLst>
          </p:cNvPr>
          <p:cNvSpPr txBox="1"/>
          <p:nvPr/>
        </p:nvSpPr>
        <p:spPr>
          <a:xfrm>
            <a:off x="542925" y="5786978"/>
            <a:ext cx="1321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CASE STUDY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RESEARCH.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B1BD3DB5-09C6-BAF5-C5EC-C17630419684}"/>
              </a:ext>
            </a:extLst>
          </p:cNvPr>
          <p:cNvCxnSpPr/>
          <p:nvPr/>
        </p:nvCxnSpPr>
        <p:spPr>
          <a:xfrm>
            <a:off x="648833" y="6391831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6AA6BD06-9469-5FAB-4722-BE83225E5671}"/>
              </a:ext>
            </a:extLst>
          </p:cNvPr>
          <p:cNvSpPr/>
          <p:nvPr/>
        </p:nvSpPr>
        <p:spPr>
          <a:xfrm>
            <a:off x="10945503" y="441325"/>
            <a:ext cx="659122" cy="659122"/>
          </a:xfrm>
          <a:prstGeom prst="rect">
            <a:avLst/>
          </a:prstGeom>
          <a:blipFill dpi="0" rotWithShape="1">
            <a:blip r:embed="rId2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4CF810-61D6-D25D-5412-743299D11F86}"/>
              </a:ext>
            </a:extLst>
          </p:cNvPr>
          <p:cNvSpPr txBox="1"/>
          <p:nvPr/>
        </p:nvSpPr>
        <p:spPr>
          <a:xfrm>
            <a:off x="7657822" y="3260736"/>
            <a:ext cx="15199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i="1" spc="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网络存储架构设计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FFDA1F1-A30B-E0B7-F9EA-0DEC8C08BAF6}"/>
              </a:ext>
            </a:extLst>
          </p:cNvPr>
          <p:cNvSpPr txBox="1"/>
          <p:nvPr/>
        </p:nvSpPr>
        <p:spPr>
          <a:xfrm>
            <a:off x="9929347" y="3249519"/>
            <a:ext cx="15199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i="1" spc="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备份策略设计</a:t>
            </a:r>
          </a:p>
        </p:txBody>
      </p:sp>
    </p:spTree>
    <p:extLst>
      <p:ext uri="{BB962C8B-B14F-4D97-AF65-F5344CB8AC3E}">
        <p14:creationId xmlns:p14="http://schemas.microsoft.com/office/powerpoint/2010/main" val="9510169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777AC30-D7B8-4A22-A991-9396DED80FB5}"/>
              </a:ext>
            </a:extLst>
          </p:cNvPr>
          <p:cNvGrpSpPr/>
          <p:nvPr/>
        </p:nvGrpSpPr>
        <p:grpSpPr>
          <a:xfrm>
            <a:off x="587375" y="621626"/>
            <a:ext cx="1924181" cy="430887"/>
            <a:chOff x="514384" y="883622"/>
            <a:chExt cx="1924181" cy="430887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6D189431-C165-4FD6-BFA8-1290C8EEBED1}"/>
                </a:ext>
              </a:extLst>
            </p:cNvPr>
            <p:cNvSpPr txBox="1"/>
            <p:nvPr/>
          </p:nvSpPr>
          <p:spPr>
            <a:xfrm>
              <a:off x="514384" y="883622"/>
              <a:ext cx="192418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200" b="1" dirty="0">
                  <a:solidFill>
                    <a:prstClr val="black"/>
                  </a:solidFill>
                  <a:latin typeface="Tw Cen MT Condensed Extra Bold" panose="020B0803020202020204" pitchFamily="34" charset="0"/>
                  <a:ea typeface="等线" panose="02010600030101010101" pitchFamily="2" charset="-122"/>
                </a:rPr>
                <a:t>存储需求分析</a:t>
              </a:r>
              <a:endPara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20EC1FCD-C252-4889-814B-181CE1E29221}"/>
                </a:ext>
              </a:extLst>
            </p:cNvPr>
            <p:cNvSpPr txBox="1"/>
            <p:nvPr/>
          </p:nvSpPr>
          <p:spPr>
            <a:xfrm>
              <a:off x="977654" y="914399"/>
              <a:ext cx="1847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803B6C9C-B823-49DD-9978-044429195685}"/>
              </a:ext>
            </a:extLst>
          </p:cNvPr>
          <p:cNvSpPr txBox="1"/>
          <p:nvPr/>
        </p:nvSpPr>
        <p:spPr>
          <a:xfrm>
            <a:off x="10022506" y="6048588"/>
            <a:ext cx="18459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1" u="none" strike="noStrike" kern="1200" cap="none" spc="20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存储</a:t>
            </a:r>
            <a:r>
              <a:rPr lang="zh-CN" altLang="en-US" sz="2000" b="1" i="1" spc="200" dirty="0">
                <a:solidFill>
                  <a:schemeClr val="accent1"/>
                </a:solidFill>
                <a:latin typeface="碳纤维正中黑简体" panose="02010601030101010101" pitchFamily="2" charset="-122"/>
                <a:ea typeface="碳纤维正中黑简体" panose="02010601030101010101" pitchFamily="2" charset="-122"/>
              </a:rPr>
              <a:t>需求</a:t>
            </a:r>
            <a:endParaRPr lang="en-US" altLang="zh-CN" sz="2000" b="1" i="1" spc="200" dirty="0">
              <a:solidFill>
                <a:schemeClr val="accent1"/>
              </a:solidFill>
              <a:latin typeface="碳纤维正中黑简体" panose="02010601030101010101" pitchFamily="2" charset="-122"/>
              <a:ea typeface="碳纤维正中黑简体" panose="02010601030101010101" pitchFamily="2" charset="-122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i="1" spc="200" dirty="0">
                <a:solidFill>
                  <a:prstClr val="black"/>
                </a:solidFill>
                <a:latin typeface="碳纤维正中黑简体" panose="02010601030101010101" pitchFamily="2" charset="-122"/>
                <a:ea typeface="碳纤维正中黑简体" panose="02010601030101010101" pitchFamily="2" charset="-122"/>
              </a:rPr>
              <a:t>分析</a:t>
            </a:r>
            <a:endParaRPr kumimoji="0" lang="zh-CN" altLang="en-US" sz="20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CD5FD0C3-4B60-45AF-8AC2-FC35F4EB3925}"/>
              </a:ext>
            </a:extLst>
          </p:cNvPr>
          <p:cNvCxnSpPr>
            <a:cxnSpLocks/>
          </p:cNvCxnSpPr>
          <p:nvPr/>
        </p:nvCxnSpPr>
        <p:spPr>
          <a:xfrm flipH="1">
            <a:off x="9173004" y="6310198"/>
            <a:ext cx="1301701" cy="0"/>
          </a:xfrm>
          <a:prstGeom prst="line">
            <a:avLst/>
          </a:prstGeom>
          <a:ln w="25400">
            <a:solidFill>
              <a:srgbClr val="0B88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400647EF-15EE-4A67-8473-7756E16659D4}"/>
              </a:ext>
            </a:extLst>
          </p:cNvPr>
          <p:cNvSpPr/>
          <p:nvPr/>
        </p:nvSpPr>
        <p:spPr>
          <a:xfrm>
            <a:off x="10945503" y="441325"/>
            <a:ext cx="659122" cy="659122"/>
          </a:xfrm>
          <a:prstGeom prst="rect">
            <a:avLst/>
          </a:prstGeom>
          <a:blipFill dpi="0" rotWithShape="1">
            <a:blip r:embed="rId3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603C4738-A889-4076-9458-8DC7391D6E51}"/>
              </a:ext>
            </a:extLst>
          </p:cNvPr>
          <p:cNvCxnSpPr/>
          <p:nvPr/>
        </p:nvCxnSpPr>
        <p:spPr>
          <a:xfrm>
            <a:off x="648833" y="490652"/>
            <a:ext cx="566058" cy="0"/>
          </a:xfrm>
          <a:prstGeom prst="line">
            <a:avLst/>
          </a:prstGeom>
          <a:ln w="63500">
            <a:solidFill>
              <a:srgbClr val="0B88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4AFF33BD-A45F-40F9-A013-92E47B566238}"/>
              </a:ext>
            </a:extLst>
          </p:cNvPr>
          <p:cNvSpPr txBox="1"/>
          <p:nvPr/>
        </p:nvSpPr>
        <p:spPr>
          <a:xfrm>
            <a:off x="542925" y="5786978"/>
            <a:ext cx="1321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CASE STUDY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RESEARCH.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28AD0577-037C-4A2A-9E13-18B5B9A85A1B}"/>
              </a:ext>
            </a:extLst>
          </p:cNvPr>
          <p:cNvCxnSpPr/>
          <p:nvPr/>
        </p:nvCxnSpPr>
        <p:spPr>
          <a:xfrm>
            <a:off x="648833" y="6391831"/>
            <a:ext cx="566058" cy="0"/>
          </a:xfrm>
          <a:prstGeom prst="line">
            <a:avLst/>
          </a:prstGeom>
          <a:ln w="63500">
            <a:solidFill>
              <a:srgbClr val="0B88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FB5370F1-C6D7-433A-95A6-FC6F1C3CAA98}"/>
              </a:ext>
            </a:extLst>
          </p:cNvPr>
          <p:cNvSpPr txBox="1"/>
          <p:nvPr/>
        </p:nvSpPr>
        <p:spPr>
          <a:xfrm>
            <a:off x="587443" y="1467692"/>
            <a:ext cx="109557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b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淘宝等超大型电子商务平台，其应用和数据特性对底层存储系统提出了极致的挑战。系统的设计必须充分考量并满足这些源于真实业务场景的严苛指标：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A979236-953F-40D5-855D-381733B6709D}"/>
              </a:ext>
            </a:extLst>
          </p:cNvPr>
          <p:cNvSpPr txBox="1"/>
          <p:nvPr/>
        </p:nvSpPr>
        <p:spPr>
          <a:xfrm>
            <a:off x="727573" y="2638463"/>
            <a:ext cx="1811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海量交易请求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EF7A146-C820-9AFA-BC93-1774031958D9}"/>
              </a:ext>
            </a:extLst>
          </p:cNvPr>
          <p:cNvSpPr txBox="1"/>
          <p:nvPr/>
        </p:nvSpPr>
        <p:spPr>
          <a:xfrm>
            <a:off x="846866" y="3464470"/>
            <a:ext cx="160594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zh-CN" altLang="en-US" b="1" dirty="0">
                <a:solidFill>
                  <a:prstClr val="black"/>
                </a:solidFill>
                <a:latin typeface="华文中宋" panose="02010600040101010101" charset="-122"/>
                <a:ea typeface="华文中宋" panose="02010600040101010101" charset="-122"/>
              </a:rPr>
              <a:t>巨额高峰流量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C32DCB29-69E4-D073-FFC9-6BD9F67ED076}"/>
              </a:ext>
            </a:extLst>
          </p:cNvPr>
          <p:cNvSpPr txBox="1"/>
          <p:nvPr/>
        </p:nvSpPr>
        <p:spPr>
          <a:xfrm>
            <a:off x="844807" y="4290405"/>
            <a:ext cx="18118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zh-CN" altLang="en-US" b="1" dirty="0">
                <a:solidFill>
                  <a:prstClr val="black"/>
                </a:solidFill>
                <a:latin typeface="华文中宋" panose="02010600040101010101" charset="-122"/>
                <a:ea typeface="华文中宋" panose="02010600040101010101" charset="-122"/>
              </a:rPr>
              <a:t>爆炸式数据增长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62D4139F-4062-B7E2-EEB7-4992837C6F97}"/>
              </a:ext>
            </a:extLst>
          </p:cNvPr>
          <p:cNvSpPr txBox="1"/>
          <p:nvPr/>
        </p:nvSpPr>
        <p:spPr>
          <a:xfrm>
            <a:off x="2709674" y="2635667"/>
            <a:ext cx="8546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Consolas" panose="020B0609020204030204" pitchFamily="49" charset="0"/>
              </a:rPr>
              <a:t>日均处理交易类数据请求高达</a:t>
            </a:r>
            <a:r>
              <a:rPr lang="en-US" altLang="zh-CN" dirty="0">
                <a:latin typeface="Consolas" panose="020B0609020204030204" pitchFamily="49" charset="0"/>
              </a:rPr>
              <a:t>60</a:t>
            </a:r>
            <a:r>
              <a:rPr lang="zh-CN" altLang="en-US" dirty="0">
                <a:latin typeface="Consolas" panose="020B0609020204030204" pitchFamily="49" charset="0"/>
              </a:rPr>
              <a:t>亿次，峰值期间请求密度进一步飙升。</a:t>
            </a:r>
            <a:endParaRPr lang="zh-CN" altLang="en-US" sz="20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5C34F30-C14F-A286-E746-300EE89C700D}"/>
              </a:ext>
            </a:extLst>
          </p:cNvPr>
          <p:cNvSpPr txBox="1"/>
          <p:nvPr/>
        </p:nvSpPr>
        <p:spPr>
          <a:xfrm>
            <a:off x="2709674" y="3431165"/>
            <a:ext cx="8546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Consolas" panose="020B0609020204030204" pitchFamily="49" charset="0"/>
              </a:rPr>
              <a:t>促销活动等高峰时期，网络出口及存储系统需承载超过</a:t>
            </a:r>
            <a:r>
              <a:rPr lang="en-US" altLang="zh-CN" dirty="0">
                <a:latin typeface="Consolas" panose="020B0609020204030204" pitchFamily="49" charset="0"/>
              </a:rPr>
              <a:t>30GB/</a:t>
            </a:r>
            <a:r>
              <a:rPr lang="zh-CN" altLang="en-US" dirty="0">
                <a:latin typeface="Consolas" panose="020B0609020204030204" pitchFamily="49" charset="0"/>
              </a:rPr>
              <a:t>秒（约合</a:t>
            </a:r>
            <a:r>
              <a:rPr lang="en-US" altLang="zh-CN" dirty="0">
                <a:latin typeface="Consolas" panose="020B0609020204030204" pitchFamily="49" charset="0"/>
              </a:rPr>
              <a:t>240Gbps</a:t>
            </a:r>
            <a:r>
              <a:rPr lang="zh-CN" altLang="en-US" dirty="0">
                <a:latin typeface="Consolas" panose="020B0609020204030204" pitchFamily="49" charset="0"/>
              </a:rPr>
              <a:t>）的瞬时数据洪流。</a:t>
            </a:r>
            <a:endParaRPr lang="zh-CN" altLang="en-US" sz="2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11A4345-C27E-064C-4418-0AC834274576}"/>
              </a:ext>
            </a:extLst>
          </p:cNvPr>
          <p:cNvSpPr txBox="1"/>
          <p:nvPr/>
        </p:nvSpPr>
        <p:spPr>
          <a:xfrm>
            <a:off x="2709674" y="4289909"/>
            <a:ext cx="8546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Consolas" panose="020B0609020204030204" pitchFamily="49" charset="0"/>
              </a:rPr>
              <a:t>每日新增结构化交易数据约</a:t>
            </a:r>
            <a:r>
              <a:rPr lang="en-US" altLang="zh-CN" dirty="0">
                <a:latin typeface="Consolas" panose="020B0609020204030204" pitchFamily="49" charset="0"/>
              </a:rPr>
              <a:t>800GB</a:t>
            </a:r>
            <a:r>
              <a:rPr lang="zh-CN" altLang="en-US" dirty="0">
                <a:latin typeface="Consolas" panose="020B0609020204030204" pitchFamily="49" charset="0"/>
              </a:rPr>
              <a:t>，而非结构化的日志数据更是高达</a:t>
            </a:r>
            <a:r>
              <a:rPr lang="en-US" altLang="zh-CN" dirty="0">
                <a:latin typeface="Consolas" panose="020B0609020204030204" pitchFamily="49" charset="0"/>
              </a:rPr>
              <a:t>1TB</a:t>
            </a:r>
            <a:r>
              <a:rPr lang="zh-CN" altLang="en-US" dirty="0">
                <a:latin typeface="Consolas" panose="020B0609020204030204" pitchFamily="49" charset="0"/>
              </a:rPr>
              <a:t>，对存储容量的扩展性提出极高要求。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3449000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04E1BE-01F5-AFA7-5771-7D000EC83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5B1D8874-BBCF-A03D-6040-DE10A4A3D5E4}"/>
              </a:ext>
            </a:extLst>
          </p:cNvPr>
          <p:cNvGrpSpPr/>
          <p:nvPr/>
        </p:nvGrpSpPr>
        <p:grpSpPr>
          <a:xfrm>
            <a:off x="587375" y="621626"/>
            <a:ext cx="1924181" cy="430887"/>
            <a:chOff x="514384" y="883622"/>
            <a:chExt cx="1924181" cy="430887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3B3A7691-A5AE-5C45-4129-44969B73FADD}"/>
                </a:ext>
              </a:extLst>
            </p:cNvPr>
            <p:cNvSpPr txBox="1"/>
            <p:nvPr/>
          </p:nvSpPr>
          <p:spPr>
            <a:xfrm>
              <a:off x="514384" y="883622"/>
              <a:ext cx="192418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200" b="1" dirty="0">
                  <a:solidFill>
                    <a:prstClr val="black"/>
                  </a:solidFill>
                  <a:latin typeface="Tw Cen MT Condensed Extra Bold" panose="020B0803020202020204" pitchFamily="34" charset="0"/>
                  <a:ea typeface="等线" panose="02010600030101010101" pitchFamily="2" charset="-122"/>
                </a:rPr>
                <a:t>存储需求分析</a:t>
              </a:r>
              <a:endPara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1F4C1B7E-F0B5-B3C7-8C4D-D7EBCC2C8261}"/>
                </a:ext>
              </a:extLst>
            </p:cNvPr>
            <p:cNvSpPr txBox="1"/>
            <p:nvPr/>
          </p:nvSpPr>
          <p:spPr>
            <a:xfrm>
              <a:off x="977654" y="914399"/>
              <a:ext cx="1847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endParaRPr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5FB876E2-9BCB-1915-1DCA-0ED491A34819}"/>
              </a:ext>
            </a:extLst>
          </p:cNvPr>
          <p:cNvSpPr txBox="1"/>
          <p:nvPr/>
        </p:nvSpPr>
        <p:spPr>
          <a:xfrm>
            <a:off x="10022506" y="6048588"/>
            <a:ext cx="18459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1" u="none" strike="noStrike" kern="1200" cap="none" spc="20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存储</a:t>
            </a:r>
            <a:r>
              <a:rPr lang="zh-CN" altLang="en-US" sz="2000" b="1" i="1" spc="200" dirty="0">
                <a:solidFill>
                  <a:schemeClr val="accent1"/>
                </a:solidFill>
                <a:latin typeface="碳纤维正中黑简体" panose="02010601030101010101" pitchFamily="2" charset="-122"/>
                <a:ea typeface="碳纤维正中黑简体" panose="02010601030101010101" pitchFamily="2" charset="-122"/>
              </a:rPr>
              <a:t>需求</a:t>
            </a:r>
            <a:endParaRPr lang="en-US" altLang="zh-CN" sz="2000" b="1" i="1" spc="200" dirty="0">
              <a:solidFill>
                <a:schemeClr val="accent1"/>
              </a:solidFill>
              <a:latin typeface="碳纤维正中黑简体" panose="02010601030101010101" pitchFamily="2" charset="-122"/>
              <a:ea typeface="碳纤维正中黑简体" panose="02010601030101010101" pitchFamily="2" charset="-122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i="1" spc="200" dirty="0">
                <a:solidFill>
                  <a:prstClr val="black"/>
                </a:solidFill>
                <a:latin typeface="碳纤维正中黑简体" panose="02010601030101010101" pitchFamily="2" charset="-122"/>
                <a:ea typeface="碳纤维正中黑简体" panose="02010601030101010101" pitchFamily="2" charset="-122"/>
              </a:rPr>
              <a:t>分析</a:t>
            </a:r>
            <a:endParaRPr kumimoji="0" lang="zh-CN" altLang="en-US" sz="2000" b="1" i="1" u="none" strike="noStrike" kern="1200" cap="none" spc="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碳纤维正中黑简体" panose="02010601030101010101" pitchFamily="2" charset="-122"/>
              <a:ea typeface="碳纤维正中黑简体" panose="02010601030101010101" pitchFamily="2" charset="-122"/>
              <a:cs typeface="+mn-cs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D53021F-5074-063F-C46F-ACCF1103B374}"/>
              </a:ext>
            </a:extLst>
          </p:cNvPr>
          <p:cNvCxnSpPr>
            <a:cxnSpLocks/>
          </p:cNvCxnSpPr>
          <p:nvPr/>
        </p:nvCxnSpPr>
        <p:spPr>
          <a:xfrm flipH="1">
            <a:off x="9173004" y="6310198"/>
            <a:ext cx="1301701" cy="0"/>
          </a:xfrm>
          <a:prstGeom prst="line">
            <a:avLst/>
          </a:prstGeom>
          <a:ln w="25400">
            <a:solidFill>
              <a:srgbClr val="0B88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DFA36628-B7F7-EED4-5469-C0048D90993B}"/>
              </a:ext>
            </a:extLst>
          </p:cNvPr>
          <p:cNvSpPr/>
          <p:nvPr/>
        </p:nvSpPr>
        <p:spPr>
          <a:xfrm>
            <a:off x="10945503" y="441325"/>
            <a:ext cx="659122" cy="659122"/>
          </a:xfrm>
          <a:prstGeom prst="rect">
            <a:avLst/>
          </a:prstGeom>
          <a:blipFill dpi="0" rotWithShape="1">
            <a:blip r:embed="rId3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187D0E14-3BB5-07B9-C0BE-A496371631BE}"/>
              </a:ext>
            </a:extLst>
          </p:cNvPr>
          <p:cNvCxnSpPr/>
          <p:nvPr/>
        </p:nvCxnSpPr>
        <p:spPr>
          <a:xfrm>
            <a:off x="648833" y="490652"/>
            <a:ext cx="566058" cy="0"/>
          </a:xfrm>
          <a:prstGeom prst="line">
            <a:avLst/>
          </a:prstGeom>
          <a:ln w="63500">
            <a:solidFill>
              <a:srgbClr val="0B88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2AB116EA-50E1-0611-B5E0-4B0B7CC8D5E6}"/>
              </a:ext>
            </a:extLst>
          </p:cNvPr>
          <p:cNvSpPr txBox="1"/>
          <p:nvPr/>
        </p:nvSpPr>
        <p:spPr>
          <a:xfrm>
            <a:off x="542925" y="5786978"/>
            <a:ext cx="1321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CASE STUDY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RESEARCH.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5D926171-6666-122D-C3EA-66DAB4DC8BAF}"/>
              </a:ext>
            </a:extLst>
          </p:cNvPr>
          <p:cNvCxnSpPr/>
          <p:nvPr/>
        </p:nvCxnSpPr>
        <p:spPr>
          <a:xfrm>
            <a:off x="648833" y="6391831"/>
            <a:ext cx="566058" cy="0"/>
          </a:xfrm>
          <a:prstGeom prst="line">
            <a:avLst/>
          </a:prstGeom>
          <a:ln w="63500">
            <a:solidFill>
              <a:srgbClr val="0B88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20B64117-6D7D-DD58-2101-F5AEC935E684}"/>
              </a:ext>
            </a:extLst>
          </p:cNvPr>
          <p:cNvSpPr txBox="1"/>
          <p:nvPr/>
        </p:nvSpPr>
        <p:spPr>
          <a:xfrm>
            <a:off x="587443" y="1183486"/>
            <a:ext cx="10955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b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综合上述业务特征，电商平台的存储系统必须满足以下核心需求：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iconfont-11180-4674648">
            <a:extLst>
              <a:ext uri="{FF2B5EF4-FFF2-40B4-BE49-F238E27FC236}">
                <a16:creationId xmlns:a16="http://schemas.microsoft.com/office/drawing/2014/main" id="{EE731345-2B5E-292F-86A8-89F80F4A9DE1}"/>
              </a:ext>
            </a:extLst>
          </p:cNvPr>
          <p:cNvSpPr>
            <a:spLocks noChangeAspect="1"/>
          </p:cNvSpPr>
          <p:nvPr/>
        </p:nvSpPr>
        <p:spPr bwMode="auto">
          <a:xfrm>
            <a:off x="2449615" y="1931090"/>
            <a:ext cx="289542" cy="289542"/>
          </a:xfrm>
          <a:custGeom>
            <a:avLst/>
            <a:gdLst>
              <a:gd name="T0" fmla="*/ 6903 w 13303"/>
              <a:gd name="T1" fmla="*/ 13303 h 13303"/>
              <a:gd name="T2" fmla="*/ 990 w 13303"/>
              <a:gd name="T3" fmla="*/ 9352 h 13303"/>
              <a:gd name="T4" fmla="*/ 2378 w 13303"/>
              <a:gd name="T5" fmla="*/ 2378 h 13303"/>
              <a:gd name="T6" fmla="*/ 9352 w 13303"/>
              <a:gd name="T7" fmla="*/ 990 h 13303"/>
              <a:gd name="T8" fmla="*/ 13303 w 13303"/>
              <a:gd name="T9" fmla="*/ 6903 h 13303"/>
              <a:gd name="T10" fmla="*/ 11428 w 13303"/>
              <a:gd name="T11" fmla="*/ 11428 h 13303"/>
              <a:gd name="T12" fmla="*/ 6903 w 13303"/>
              <a:gd name="T13" fmla="*/ 13303 h 13303"/>
              <a:gd name="T14" fmla="*/ 10243 w 13303"/>
              <a:gd name="T15" fmla="*/ 4852 h 13303"/>
              <a:gd name="T16" fmla="*/ 9597 w 13303"/>
              <a:gd name="T17" fmla="*/ 4852 h 13303"/>
              <a:gd name="T18" fmla="*/ 6041 w 13303"/>
              <a:gd name="T19" fmla="*/ 8405 h 13303"/>
              <a:gd name="T20" fmla="*/ 4209 w 13303"/>
              <a:gd name="T21" fmla="*/ 6574 h 13303"/>
              <a:gd name="T22" fmla="*/ 3572 w 13303"/>
              <a:gd name="T23" fmla="*/ 6583 h 13303"/>
              <a:gd name="T24" fmla="*/ 3563 w 13303"/>
              <a:gd name="T25" fmla="*/ 7220 h 13303"/>
              <a:gd name="T26" fmla="*/ 5718 w 13303"/>
              <a:gd name="T27" fmla="*/ 9378 h 13303"/>
              <a:gd name="T28" fmla="*/ 6364 w 13303"/>
              <a:gd name="T29" fmla="*/ 9378 h 13303"/>
              <a:gd name="T30" fmla="*/ 10243 w 13303"/>
              <a:gd name="T31" fmla="*/ 5498 h 13303"/>
              <a:gd name="T32" fmla="*/ 10243 w 13303"/>
              <a:gd name="T33" fmla="*/ 4852 h 133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3303" h="13303">
                <a:moveTo>
                  <a:pt x="6903" y="13303"/>
                </a:moveTo>
                <a:cubicBezTo>
                  <a:pt x="4314" y="13303"/>
                  <a:pt x="1981" y="11744"/>
                  <a:pt x="990" y="9352"/>
                </a:cubicBezTo>
                <a:cubicBezTo>
                  <a:pt x="0" y="6961"/>
                  <a:pt x="547" y="4208"/>
                  <a:pt x="2378" y="2378"/>
                </a:cubicBezTo>
                <a:cubicBezTo>
                  <a:pt x="4208" y="547"/>
                  <a:pt x="6961" y="0"/>
                  <a:pt x="9352" y="990"/>
                </a:cubicBezTo>
                <a:cubicBezTo>
                  <a:pt x="11744" y="1981"/>
                  <a:pt x="13303" y="4314"/>
                  <a:pt x="13303" y="6903"/>
                </a:cubicBezTo>
                <a:cubicBezTo>
                  <a:pt x="13303" y="8600"/>
                  <a:pt x="12629" y="10228"/>
                  <a:pt x="11428" y="11428"/>
                </a:cubicBezTo>
                <a:cubicBezTo>
                  <a:pt x="10228" y="12629"/>
                  <a:pt x="8600" y="13303"/>
                  <a:pt x="6903" y="13303"/>
                </a:cubicBezTo>
                <a:close/>
                <a:moveTo>
                  <a:pt x="10243" y="4852"/>
                </a:moveTo>
                <a:cubicBezTo>
                  <a:pt x="10065" y="4672"/>
                  <a:pt x="9775" y="4672"/>
                  <a:pt x="9597" y="4852"/>
                </a:cubicBezTo>
                <a:lnTo>
                  <a:pt x="6041" y="8405"/>
                </a:lnTo>
                <a:lnTo>
                  <a:pt x="4209" y="6574"/>
                </a:lnTo>
                <a:cubicBezTo>
                  <a:pt x="4029" y="6404"/>
                  <a:pt x="3747" y="6408"/>
                  <a:pt x="3572" y="6583"/>
                </a:cubicBezTo>
                <a:cubicBezTo>
                  <a:pt x="3397" y="6758"/>
                  <a:pt x="3393" y="7040"/>
                  <a:pt x="3563" y="7220"/>
                </a:cubicBezTo>
                <a:lnTo>
                  <a:pt x="5718" y="9378"/>
                </a:lnTo>
                <a:cubicBezTo>
                  <a:pt x="5897" y="9554"/>
                  <a:pt x="6185" y="9554"/>
                  <a:pt x="6364" y="9378"/>
                </a:cubicBezTo>
                <a:lnTo>
                  <a:pt x="10243" y="5498"/>
                </a:lnTo>
                <a:cubicBezTo>
                  <a:pt x="10421" y="5320"/>
                  <a:pt x="10421" y="5030"/>
                  <a:pt x="10243" y="4852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E02EB66-DAC6-823C-2EBA-BF7F5F81D0FD}"/>
              </a:ext>
            </a:extLst>
          </p:cNvPr>
          <p:cNvSpPr txBox="1"/>
          <p:nvPr/>
        </p:nvSpPr>
        <p:spPr>
          <a:xfrm>
            <a:off x="1806899" y="2271233"/>
            <a:ext cx="16484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极致性能</a:t>
            </a: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01702176-E39F-051C-9DA5-E5322FDAE67D}"/>
              </a:ext>
            </a:extLst>
          </p:cNvPr>
          <p:cNvCxnSpPr>
            <a:cxnSpLocks/>
          </p:cNvCxnSpPr>
          <p:nvPr/>
        </p:nvCxnSpPr>
        <p:spPr>
          <a:xfrm flipV="1">
            <a:off x="347105" y="2743866"/>
            <a:ext cx="11436467" cy="9264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D94EDD9F-6FCA-5D37-7AFA-93C40E7B677E}"/>
              </a:ext>
            </a:extLst>
          </p:cNvPr>
          <p:cNvSpPr/>
          <p:nvPr/>
        </p:nvSpPr>
        <p:spPr>
          <a:xfrm flipV="1">
            <a:off x="1206500" y="2730269"/>
            <a:ext cx="27559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B2A635D-FD4F-5C0E-D219-C3F0376F3A8D}"/>
              </a:ext>
            </a:extLst>
          </p:cNvPr>
          <p:cNvSpPr txBox="1"/>
          <p:nvPr/>
        </p:nvSpPr>
        <p:spPr>
          <a:xfrm>
            <a:off x="1120975" y="2887209"/>
            <a:ext cx="3057326" cy="28402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sz="1600" b="1" dirty="0">
                <a:latin typeface="+mn-ea"/>
              </a:rPr>
              <a:t>高并发处理能力</a:t>
            </a:r>
            <a:endParaRPr lang="en-US" altLang="zh-CN" sz="1600" b="1" dirty="0">
              <a:latin typeface="+mn-ea"/>
            </a:endParaRPr>
          </a:p>
          <a:p>
            <a:pPr>
              <a:lnSpc>
                <a:spcPts val="2400"/>
              </a:lnSpc>
            </a:pPr>
            <a:r>
              <a:rPr lang="zh-CN" altLang="en-US" sz="1400" dirty="0">
                <a:latin typeface="+mn-ea"/>
              </a:rPr>
              <a:t>通过众多节点并行处理请求分散均衡负载压力</a:t>
            </a:r>
            <a:endParaRPr lang="en-US" altLang="zh-CN" sz="1400" dirty="0">
              <a:latin typeface="+mn-ea"/>
            </a:endParaRPr>
          </a:p>
          <a:p>
            <a:pPr>
              <a:lnSpc>
                <a:spcPts val="2400"/>
              </a:lnSpc>
            </a:pPr>
            <a:r>
              <a:rPr lang="zh-CN" altLang="en-US" sz="1600" b="1" dirty="0">
                <a:latin typeface="+mn-ea"/>
              </a:rPr>
              <a:t>高吞吐带宽</a:t>
            </a:r>
            <a:endParaRPr lang="en-US" altLang="zh-CN" sz="1600" b="1" dirty="0">
              <a:latin typeface="+mn-ea"/>
            </a:endParaRPr>
          </a:p>
          <a:p>
            <a:pPr>
              <a:lnSpc>
                <a:spcPts val="2400"/>
              </a:lnSpc>
            </a:pPr>
            <a:r>
              <a:rPr lang="zh-CN" altLang="en-US" sz="1400" dirty="0">
                <a:latin typeface="+mn-ea"/>
              </a:rPr>
              <a:t>具备充足的聚合 </a:t>
            </a:r>
            <a:r>
              <a:rPr lang="en-US" altLang="zh-CN" sz="1400" dirty="0">
                <a:latin typeface="+mn-ea"/>
              </a:rPr>
              <a:t>I/O </a:t>
            </a:r>
            <a:r>
              <a:rPr lang="zh-CN" altLang="en-US" sz="1400" dirty="0">
                <a:latin typeface="+mn-ea"/>
              </a:rPr>
              <a:t>带宽和高效的数据读写管道设计，防止数据拥塞</a:t>
            </a:r>
            <a:endParaRPr lang="en-US" altLang="zh-CN" sz="1400" dirty="0">
              <a:latin typeface="+mn-ea"/>
            </a:endParaRPr>
          </a:p>
          <a:p>
            <a:pPr>
              <a:lnSpc>
                <a:spcPts val="2400"/>
              </a:lnSpc>
            </a:pPr>
            <a:r>
              <a:rPr lang="zh-CN" altLang="en-US" sz="1600" b="1" dirty="0">
                <a:latin typeface="+mn-ea"/>
              </a:rPr>
              <a:t>低延迟响应</a:t>
            </a:r>
            <a:endParaRPr lang="en-US" altLang="zh-CN" sz="1600" b="1" dirty="0">
              <a:latin typeface="+mn-ea"/>
            </a:endParaRPr>
          </a:p>
          <a:p>
            <a:pPr>
              <a:lnSpc>
                <a:spcPts val="2400"/>
              </a:lnSpc>
            </a:pPr>
            <a:r>
              <a:rPr lang="zh-CN" altLang="en-US" sz="1400" dirty="0">
                <a:latin typeface="+mn-ea"/>
              </a:rPr>
              <a:t>直接关系到用户体验、留存率和最终的交易转化率</a:t>
            </a:r>
          </a:p>
        </p:txBody>
      </p:sp>
      <p:sp>
        <p:nvSpPr>
          <p:cNvPr id="30" name="iconfont-11180-4674648">
            <a:extLst>
              <a:ext uri="{FF2B5EF4-FFF2-40B4-BE49-F238E27FC236}">
                <a16:creationId xmlns:a16="http://schemas.microsoft.com/office/drawing/2014/main" id="{57470D17-84DF-4332-864D-2EA1569F517E}"/>
              </a:ext>
            </a:extLst>
          </p:cNvPr>
          <p:cNvSpPr>
            <a:spLocks noChangeAspect="1"/>
          </p:cNvSpPr>
          <p:nvPr/>
        </p:nvSpPr>
        <p:spPr bwMode="auto">
          <a:xfrm>
            <a:off x="5576958" y="1924294"/>
            <a:ext cx="289542" cy="289542"/>
          </a:xfrm>
          <a:custGeom>
            <a:avLst/>
            <a:gdLst>
              <a:gd name="T0" fmla="*/ 6903 w 13303"/>
              <a:gd name="T1" fmla="*/ 13303 h 13303"/>
              <a:gd name="T2" fmla="*/ 990 w 13303"/>
              <a:gd name="T3" fmla="*/ 9352 h 13303"/>
              <a:gd name="T4" fmla="*/ 2378 w 13303"/>
              <a:gd name="T5" fmla="*/ 2378 h 13303"/>
              <a:gd name="T6" fmla="*/ 9352 w 13303"/>
              <a:gd name="T7" fmla="*/ 990 h 13303"/>
              <a:gd name="T8" fmla="*/ 13303 w 13303"/>
              <a:gd name="T9" fmla="*/ 6903 h 13303"/>
              <a:gd name="T10" fmla="*/ 11428 w 13303"/>
              <a:gd name="T11" fmla="*/ 11428 h 13303"/>
              <a:gd name="T12" fmla="*/ 6903 w 13303"/>
              <a:gd name="T13" fmla="*/ 13303 h 13303"/>
              <a:gd name="T14" fmla="*/ 10243 w 13303"/>
              <a:gd name="T15" fmla="*/ 4852 h 13303"/>
              <a:gd name="T16" fmla="*/ 9597 w 13303"/>
              <a:gd name="T17" fmla="*/ 4852 h 13303"/>
              <a:gd name="T18" fmla="*/ 6041 w 13303"/>
              <a:gd name="T19" fmla="*/ 8405 h 13303"/>
              <a:gd name="T20" fmla="*/ 4209 w 13303"/>
              <a:gd name="T21" fmla="*/ 6574 h 13303"/>
              <a:gd name="T22" fmla="*/ 3572 w 13303"/>
              <a:gd name="T23" fmla="*/ 6583 h 13303"/>
              <a:gd name="T24" fmla="*/ 3563 w 13303"/>
              <a:gd name="T25" fmla="*/ 7220 h 13303"/>
              <a:gd name="T26" fmla="*/ 5718 w 13303"/>
              <a:gd name="T27" fmla="*/ 9378 h 13303"/>
              <a:gd name="T28" fmla="*/ 6364 w 13303"/>
              <a:gd name="T29" fmla="*/ 9378 h 13303"/>
              <a:gd name="T30" fmla="*/ 10243 w 13303"/>
              <a:gd name="T31" fmla="*/ 5498 h 13303"/>
              <a:gd name="T32" fmla="*/ 10243 w 13303"/>
              <a:gd name="T33" fmla="*/ 4852 h 133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3303" h="13303">
                <a:moveTo>
                  <a:pt x="6903" y="13303"/>
                </a:moveTo>
                <a:cubicBezTo>
                  <a:pt x="4314" y="13303"/>
                  <a:pt x="1981" y="11744"/>
                  <a:pt x="990" y="9352"/>
                </a:cubicBezTo>
                <a:cubicBezTo>
                  <a:pt x="0" y="6961"/>
                  <a:pt x="547" y="4208"/>
                  <a:pt x="2378" y="2378"/>
                </a:cubicBezTo>
                <a:cubicBezTo>
                  <a:pt x="4208" y="547"/>
                  <a:pt x="6961" y="0"/>
                  <a:pt x="9352" y="990"/>
                </a:cubicBezTo>
                <a:cubicBezTo>
                  <a:pt x="11744" y="1981"/>
                  <a:pt x="13303" y="4314"/>
                  <a:pt x="13303" y="6903"/>
                </a:cubicBezTo>
                <a:cubicBezTo>
                  <a:pt x="13303" y="8600"/>
                  <a:pt x="12629" y="10228"/>
                  <a:pt x="11428" y="11428"/>
                </a:cubicBezTo>
                <a:cubicBezTo>
                  <a:pt x="10228" y="12629"/>
                  <a:pt x="8600" y="13303"/>
                  <a:pt x="6903" y="13303"/>
                </a:cubicBezTo>
                <a:close/>
                <a:moveTo>
                  <a:pt x="10243" y="4852"/>
                </a:moveTo>
                <a:cubicBezTo>
                  <a:pt x="10065" y="4672"/>
                  <a:pt x="9775" y="4672"/>
                  <a:pt x="9597" y="4852"/>
                </a:cubicBezTo>
                <a:lnTo>
                  <a:pt x="6041" y="8405"/>
                </a:lnTo>
                <a:lnTo>
                  <a:pt x="4209" y="6574"/>
                </a:lnTo>
                <a:cubicBezTo>
                  <a:pt x="4029" y="6404"/>
                  <a:pt x="3747" y="6408"/>
                  <a:pt x="3572" y="6583"/>
                </a:cubicBezTo>
                <a:cubicBezTo>
                  <a:pt x="3397" y="6758"/>
                  <a:pt x="3393" y="7040"/>
                  <a:pt x="3563" y="7220"/>
                </a:cubicBezTo>
                <a:lnTo>
                  <a:pt x="5718" y="9378"/>
                </a:lnTo>
                <a:cubicBezTo>
                  <a:pt x="5897" y="9554"/>
                  <a:pt x="6185" y="9554"/>
                  <a:pt x="6364" y="9378"/>
                </a:cubicBezTo>
                <a:lnTo>
                  <a:pt x="10243" y="5498"/>
                </a:lnTo>
                <a:cubicBezTo>
                  <a:pt x="10421" y="5320"/>
                  <a:pt x="10421" y="5030"/>
                  <a:pt x="10243" y="4852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7CF6D37-6144-26DF-5C2D-AEF6BCF38B50}"/>
              </a:ext>
            </a:extLst>
          </p:cNvPr>
          <p:cNvSpPr txBox="1"/>
          <p:nvPr/>
        </p:nvSpPr>
        <p:spPr>
          <a:xfrm>
            <a:off x="4578792" y="2305683"/>
            <a:ext cx="236766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zh-CN" altLang="en-US" sz="1600" b="1" dirty="0">
                <a:solidFill>
                  <a:prstClr val="black"/>
                </a:solidFill>
                <a:latin typeface="华文中宋" panose="02010600040101010101" charset="-122"/>
                <a:ea typeface="华文中宋" panose="02010600040101010101" charset="-122"/>
              </a:rPr>
              <a:t>海量容量与卓越可靠性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7CF46CC-0960-F8BC-EECC-CF2FDEB0A6D4}"/>
              </a:ext>
            </a:extLst>
          </p:cNvPr>
          <p:cNvSpPr txBox="1"/>
          <p:nvPr/>
        </p:nvSpPr>
        <p:spPr>
          <a:xfrm>
            <a:off x="4292600" y="2899909"/>
            <a:ext cx="2940049" cy="2833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sz="1600" b="1" dirty="0">
                <a:effectLst/>
                <a:latin typeface="+mn-ea"/>
              </a:rPr>
              <a:t>大规模可扩展存储</a:t>
            </a:r>
            <a:endParaRPr lang="en-US" altLang="zh-CN" sz="1600" b="1" dirty="0">
              <a:effectLst/>
              <a:latin typeface="+mn-ea"/>
            </a:endParaRPr>
          </a:p>
          <a:p>
            <a:pPr>
              <a:lnSpc>
                <a:spcPts val="2400"/>
              </a:lnSpc>
            </a:pPr>
            <a:r>
              <a:rPr lang="zh-CN" altLang="en-US" sz="1400" dirty="0">
                <a:effectLst/>
                <a:latin typeface="+mn-ea"/>
              </a:rPr>
              <a:t>必须具备 </a:t>
            </a:r>
            <a:r>
              <a:rPr lang="en-US" altLang="zh-CN" sz="1400" dirty="0">
                <a:effectLst/>
                <a:latin typeface="+mn-ea"/>
              </a:rPr>
              <a:t>PB </a:t>
            </a:r>
            <a:r>
              <a:rPr lang="zh-CN" altLang="en-US" sz="1400" dirty="0">
                <a:effectLst/>
                <a:latin typeface="+mn-ea"/>
              </a:rPr>
              <a:t>级别起步的存储容量，并支持平滑在线扩展</a:t>
            </a:r>
            <a:endParaRPr lang="en-US" altLang="zh-CN" sz="1400" dirty="0">
              <a:effectLst/>
              <a:latin typeface="+mn-ea"/>
            </a:endParaRPr>
          </a:p>
          <a:p>
            <a:pPr>
              <a:lnSpc>
                <a:spcPts val="2400"/>
              </a:lnSpc>
            </a:pPr>
            <a:r>
              <a:rPr lang="zh-CN" altLang="en-US" sz="1600" b="1" dirty="0">
                <a:effectLst/>
                <a:latin typeface="+mn-ea"/>
              </a:rPr>
              <a:t>数据冗余与容灾</a:t>
            </a:r>
            <a:endParaRPr lang="en-US" altLang="zh-CN" sz="1600" b="1" dirty="0">
              <a:effectLst/>
              <a:latin typeface="+mn-ea"/>
            </a:endParaRPr>
          </a:p>
          <a:p>
            <a:pPr>
              <a:lnSpc>
                <a:spcPts val="2400"/>
              </a:lnSpc>
            </a:pPr>
            <a:r>
              <a:rPr lang="zh-CN" altLang="en-US" sz="1400" dirty="0">
                <a:effectLst/>
                <a:latin typeface="+mn-ea"/>
              </a:rPr>
              <a:t>任何丢失或损坏都将导致灾难性的经济损失、品牌声誉受损乃至法律风险</a:t>
            </a:r>
            <a:endParaRPr lang="en-US" altLang="zh-CN" sz="1400" dirty="0">
              <a:effectLst/>
              <a:latin typeface="+mn-ea"/>
            </a:endParaRPr>
          </a:p>
          <a:p>
            <a:pPr>
              <a:lnSpc>
                <a:spcPts val="2400"/>
              </a:lnSpc>
            </a:pPr>
            <a:r>
              <a:rPr lang="zh-CN" altLang="en-US" sz="1600" b="1" dirty="0">
                <a:effectLst/>
                <a:latin typeface="+mn-ea"/>
              </a:rPr>
              <a:t>极高可用性</a:t>
            </a:r>
            <a:endParaRPr lang="en-US" altLang="zh-CN" sz="1600" b="1" dirty="0">
              <a:effectLst/>
              <a:latin typeface="+mn-ea"/>
            </a:endParaRPr>
          </a:p>
          <a:p>
            <a:pPr>
              <a:lnSpc>
                <a:spcPts val="2400"/>
              </a:lnSpc>
            </a:pPr>
            <a:r>
              <a:rPr lang="zh-CN" altLang="en-US" sz="1400" dirty="0">
                <a:effectLst/>
                <a:latin typeface="+mn-ea"/>
              </a:rPr>
              <a:t>系统需具备完善的无单点故障设计</a:t>
            </a:r>
          </a:p>
        </p:txBody>
      </p:sp>
      <p:sp>
        <p:nvSpPr>
          <p:cNvPr id="33" name="iconfont-11180-4674648">
            <a:extLst>
              <a:ext uri="{FF2B5EF4-FFF2-40B4-BE49-F238E27FC236}">
                <a16:creationId xmlns:a16="http://schemas.microsoft.com/office/drawing/2014/main" id="{A5695AF2-6D57-5A71-5AF5-BC3E59241ED4}"/>
              </a:ext>
            </a:extLst>
          </p:cNvPr>
          <p:cNvSpPr>
            <a:spLocks noChangeAspect="1"/>
          </p:cNvSpPr>
          <p:nvPr/>
        </p:nvSpPr>
        <p:spPr bwMode="auto">
          <a:xfrm>
            <a:off x="8676497" y="1924294"/>
            <a:ext cx="289542" cy="289542"/>
          </a:xfrm>
          <a:custGeom>
            <a:avLst/>
            <a:gdLst>
              <a:gd name="T0" fmla="*/ 6903 w 13303"/>
              <a:gd name="T1" fmla="*/ 13303 h 13303"/>
              <a:gd name="T2" fmla="*/ 990 w 13303"/>
              <a:gd name="T3" fmla="*/ 9352 h 13303"/>
              <a:gd name="T4" fmla="*/ 2378 w 13303"/>
              <a:gd name="T5" fmla="*/ 2378 h 13303"/>
              <a:gd name="T6" fmla="*/ 9352 w 13303"/>
              <a:gd name="T7" fmla="*/ 990 h 13303"/>
              <a:gd name="T8" fmla="*/ 13303 w 13303"/>
              <a:gd name="T9" fmla="*/ 6903 h 13303"/>
              <a:gd name="T10" fmla="*/ 11428 w 13303"/>
              <a:gd name="T11" fmla="*/ 11428 h 13303"/>
              <a:gd name="T12" fmla="*/ 6903 w 13303"/>
              <a:gd name="T13" fmla="*/ 13303 h 13303"/>
              <a:gd name="T14" fmla="*/ 10243 w 13303"/>
              <a:gd name="T15" fmla="*/ 4852 h 13303"/>
              <a:gd name="T16" fmla="*/ 9597 w 13303"/>
              <a:gd name="T17" fmla="*/ 4852 h 13303"/>
              <a:gd name="T18" fmla="*/ 6041 w 13303"/>
              <a:gd name="T19" fmla="*/ 8405 h 13303"/>
              <a:gd name="T20" fmla="*/ 4209 w 13303"/>
              <a:gd name="T21" fmla="*/ 6574 h 13303"/>
              <a:gd name="T22" fmla="*/ 3572 w 13303"/>
              <a:gd name="T23" fmla="*/ 6583 h 13303"/>
              <a:gd name="T24" fmla="*/ 3563 w 13303"/>
              <a:gd name="T25" fmla="*/ 7220 h 13303"/>
              <a:gd name="T26" fmla="*/ 5718 w 13303"/>
              <a:gd name="T27" fmla="*/ 9378 h 13303"/>
              <a:gd name="T28" fmla="*/ 6364 w 13303"/>
              <a:gd name="T29" fmla="*/ 9378 h 13303"/>
              <a:gd name="T30" fmla="*/ 10243 w 13303"/>
              <a:gd name="T31" fmla="*/ 5498 h 13303"/>
              <a:gd name="T32" fmla="*/ 10243 w 13303"/>
              <a:gd name="T33" fmla="*/ 4852 h 133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3303" h="13303">
                <a:moveTo>
                  <a:pt x="6903" y="13303"/>
                </a:moveTo>
                <a:cubicBezTo>
                  <a:pt x="4314" y="13303"/>
                  <a:pt x="1981" y="11744"/>
                  <a:pt x="990" y="9352"/>
                </a:cubicBezTo>
                <a:cubicBezTo>
                  <a:pt x="0" y="6961"/>
                  <a:pt x="547" y="4208"/>
                  <a:pt x="2378" y="2378"/>
                </a:cubicBezTo>
                <a:cubicBezTo>
                  <a:pt x="4208" y="547"/>
                  <a:pt x="6961" y="0"/>
                  <a:pt x="9352" y="990"/>
                </a:cubicBezTo>
                <a:cubicBezTo>
                  <a:pt x="11744" y="1981"/>
                  <a:pt x="13303" y="4314"/>
                  <a:pt x="13303" y="6903"/>
                </a:cubicBezTo>
                <a:cubicBezTo>
                  <a:pt x="13303" y="8600"/>
                  <a:pt x="12629" y="10228"/>
                  <a:pt x="11428" y="11428"/>
                </a:cubicBezTo>
                <a:cubicBezTo>
                  <a:pt x="10228" y="12629"/>
                  <a:pt x="8600" y="13303"/>
                  <a:pt x="6903" y="13303"/>
                </a:cubicBezTo>
                <a:close/>
                <a:moveTo>
                  <a:pt x="10243" y="4852"/>
                </a:moveTo>
                <a:cubicBezTo>
                  <a:pt x="10065" y="4672"/>
                  <a:pt x="9775" y="4672"/>
                  <a:pt x="9597" y="4852"/>
                </a:cubicBezTo>
                <a:lnTo>
                  <a:pt x="6041" y="8405"/>
                </a:lnTo>
                <a:lnTo>
                  <a:pt x="4209" y="6574"/>
                </a:lnTo>
                <a:cubicBezTo>
                  <a:pt x="4029" y="6404"/>
                  <a:pt x="3747" y="6408"/>
                  <a:pt x="3572" y="6583"/>
                </a:cubicBezTo>
                <a:cubicBezTo>
                  <a:pt x="3397" y="6758"/>
                  <a:pt x="3393" y="7040"/>
                  <a:pt x="3563" y="7220"/>
                </a:cubicBezTo>
                <a:lnTo>
                  <a:pt x="5718" y="9378"/>
                </a:lnTo>
                <a:cubicBezTo>
                  <a:pt x="5897" y="9554"/>
                  <a:pt x="6185" y="9554"/>
                  <a:pt x="6364" y="9378"/>
                </a:cubicBezTo>
                <a:lnTo>
                  <a:pt x="10243" y="5498"/>
                </a:lnTo>
                <a:cubicBezTo>
                  <a:pt x="10421" y="5320"/>
                  <a:pt x="10421" y="5030"/>
                  <a:pt x="10243" y="4852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89E81A1-EAAE-6C2E-5445-D37FE38C7CE3}"/>
              </a:ext>
            </a:extLst>
          </p:cNvPr>
          <p:cNvSpPr txBox="1"/>
          <p:nvPr/>
        </p:nvSpPr>
        <p:spPr>
          <a:xfrm>
            <a:off x="7544835" y="2306897"/>
            <a:ext cx="247767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zh-CN" altLang="en-US" sz="1600" b="1" dirty="0">
                <a:solidFill>
                  <a:prstClr val="black"/>
                </a:solidFill>
                <a:latin typeface="华文中宋" panose="02010600040101010101" charset="-122"/>
                <a:ea typeface="华文中宋" panose="02010600040101010101" charset="-122"/>
              </a:rPr>
              <a:t>严苛安全与高效访问</a:t>
            </a: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C7E74C51-CCAE-DD49-1735-8F764E877467}"/>
              </a:ext>
            </a:extLst>
          </p:cNvPr>
          <p:cNvSpPr/>
          <p:nvPr/>
        </p:nvSpPr>
        <p:spPr>
          <a:xfrm flipV="1">
            <a:off x="4343779" y="2728047"/>
            <a:ext cx="27559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66E34753-67EE-CBB7-B1DE-4C81A60AA38A}"/>
              </a:ext>
            </a:extLst>
          </p:cNvPr>
          <p:cNvSpPr/>
          <p:nvPr/>
        </p:nvSpPr>
        <p:spPr>
          <a:xfrm flipV="1">
            <a:off x="7481058" y="2723123"/>
            <a:ext cx="27559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B234DBC-8AC1-430F-B063-80E94FA7F1C3}"/>
              </a:ext>
            </a:extLst>
          </p:cNvPr>
          <p:cNvSpPr txBox="1"/>
          <p:nvPr/>
        </p:nvSpPr>
        <p:spPr>
          <a:xfrm>
            <a:off x="7346948" y="2868148"/>
            <a:ext cx="2940049" cy="2833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sz="1600" b="1" dirty="0">
                <a:effectLst/>
                <a:latin typeface="+mn-ea"/>
              </a:rPr>
              <a:t>全方位数据安全防护</a:t>
            </a:r>
            <a:endParaRPr lang="en-US" altLang="zh-CN" sz="1600" b="1" dirty="0">
              <a:effectLst/>
              <a:latin typeface="+mn-ea"/>
            </a:endParaRPr>
          </a:p>
          <a:p>
            <a:pPr>
              <a:lnSpc>
                <a:spcPts val="2400"/>
              </a:lnSpc>
            </a:pPr>
            <a:r>
              <a:rPr lang="zh-CN" altLang="en-US" sz="1400" dirty="0">
                <a:effectLst/>
                <a:latin typeface="+mn-ea"/>
              </a:rPr>
              <a:t>系统承载海量敏感数据，应构建从物理层到应用层的全链路安全防护体系</a:t>
            </a:r>
            <a:endParaRPr lang="en-US" altLang="zh-CN" sz="1400" dirty="0">
              <a:effectLst/>
              <a:latin typeface="+mn-ea"/>
            </a:endParaRPr>
          </a:p>
          <a:p>
            <a:pPr>
              <a:lnSpc>
                <a:spcPts val="2400"/>
              </a:lnSpc>
            </a:pPr>
            <a:r>
              <a:rPr lang="zh-CN" altLang="en-US" sz="1600" b="1" dirty="0">
                <a:effectLst/>
                <a:latin typeface="+mn-ea"/>
              </a:rPr>
              <a:t>高效随机访问优化</a:t>
            </a:r>
            <a:endParaRPr lang="en-US" altLang="zh-CN" sz="1600" b="1" dirty="0">
              <a:effectLst/>
              <a:latin typeface="+mn-ea"/>
            </a:endParaRPr>
          </a:p>
          <a:p>
            <a:pPr>
              <a:lnSpc>
                <a:spcPts val="2400"/>
              </a:lnSpc>
            </a:pPr>
            <a:r>
              <a:rPr lang="zh-CN" altLang="en-US" sz="1400" dirty="0">
                <a:effectLst/>
                <a:latin typeface="+mn-ea"/>
              </a:rPr>
              <a:t>浏览、搜索、个性化推荐等行为具有高度的突发性和随机性，应针对随机 </a:t>
            </a:r>
            <a:r>
              <a:rPr lang="en-US" altLang="zh-CN" sz="1400" dirty="0">
                <a:effectLst/>
                <a:latin typeface="+mn-ea"/>
              </a:rPr>
              <a:t>I/O </a:t>
            </a:r>
            <a:r>
              <a:rPr lang="zh-CN" altLang="en-US" sz="1400" dirty="0">
                <a:effectLst/>
                <a:latin typeface="+mn-ea"/>
              </a:rPr>
              <a:t>进行深度优化，保障用户操作的流畅体验</a:t>
            </a:r>
            <a:endParaRPr lang="en-US" altLang="zh-CN" sz="1400" dirty="0"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622247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0EC2F-327A-C88F-9DBE-3961730E2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3">
            <a:extLst>
              <a:ext uri="{FF2B5EF4-FFF2-40B4-BE49-F238E27FC236}">
                <a16:creationId xmlns:a16="http://schemas.microsoft.com/office/drawing/2014/main" id="{514FDF32-92EF-DC96-BD17-D27143CDAA59}"/>
              </a:ext>
            </a:extLst>
          </p:cNvPr>
          <p:cNvSpPr/>
          <p:nvPr/>
        </p:nvSpPr>
        <p:spPr>
          <a:xfrm>
            <a:off x="2797226" y="2371724"/>
            <a:ext cx="1953935" cy="2114550"/>
          </a:xfrm>
          <a:prstGeom prst="parallelogram">
            <a:avLst>
              <a:gd name="adj" fmla="val 14746"/>
            </a:avLst>
          </a:prstGeom>
          <a:solidFill>
            <a:srgbClr val="0B88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3" name="平行四边形 22">
            <a:extLst>
              <a:ext uri="{FF2B5EF4-FFF2-40B4-BE49-F238E27FC236}">
                <a16:creationId xmlns:a16="http://schemas.microsoft.com/office/drawing/2014/main" id="{04F695C4-76C3-01FB-8C22-2633AD92F854}"/>
              </a:ext>
            </a:extLst>
          </p:cNvPr>
          <p:cNvSpPr/>
          <p:nvPr/>
        </p:nvSpPr>
        <p:spPr>
          <a:xfrm>
            <a:off x="525701" y="2371724"/>
            <a:ext cx="1953935" cy="2132431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5" name="平行四边形 24">
            <a:extLst>
              <a:ext uri="{FF2B5EF4-FFF2-40B4-BE49-F238E27FC236}">
                <a16:creationId xmlns:a16="http://schemas.microsoft.com/office/drawing/2014/main" id="{491E2030-5CCB-6A36-64AF-9027D8AA7AAE}"/>
              </a:ext>
            </a:extLst>
          </p:cNvPr>
          <p:cNvSpPr/>
          <p:nvPr/>
        </p:nvSpPr>
        <p:spPr>
          <a:xfrm>
            <a:off x="5178649" y="2371724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6" name="平行四边形 25">
            <a:extLst>
              <a:ext uri="{FF2B5EF4-FFF2-40B4-BE49-F238E27FC236}">
                <a16:creationId xmlns:a16="http://schemas.microsoft.com/office/drawing/2014/main" id="{01490164-A1D3-70D7-1B10-84E61F2DDE7D}"/>
              </a:ext>
            </a:extLst>
          </p:cNvPr>
          <p:cNvSpPr/>
          <p:nvPr/>
        </p:nvSpPr>
        <p:spPr>
          <a:xfrm>
            <a:off x="7480783" y="2371724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7" name="平行四边形 26">
            <a:extLst>
              <a:ext uri="{FF2B5EF4-FFF2-40B4-BE49-F238E27FC236}">
                <a16:creationId xmlns:a16="http://schemas.microsoft.com/office/drawing/2014/main" id="{D5FEBF09-0370-EE00-26B7-8CC19866C778}"/>
              </a:ext>
            </a:extLst>
          </p:cNvPr>
          <p:cNvSpPr/>
          <p:nvPr/>
        </p:nvSpPr>
        <p:spPr>
          <a:xfrm>
            <a:off x="9782917" y="2398728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96979C5-DCE4-FA1B-4D94-6A2781365658}"/>
              </a:ext>
            </a:extLst>
          </p:cNvPr>
          <p:cNvSpPr txBox="1"/>
          <p:nvPr/>
        </p:nvSpPr>
        <p:spPr>
          <a:xfrm>
            <a:off x="1301081" y="2486686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anose="02010600030101010101" pitchFamily="2" charset="-122"/>
                <a:cs typeface="+mn-cs"/>
              </a:rPr>
              <a:t>01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5C8EA52-80EA-BA30-C2B9-F4263A35204F}"/>
              </a:ext>
            </a:extLst>
          </p:cNvPr>
          <p:cNvSpPr txBox="1"/>
          <p:nvPr/>
        </p:nvSpPr>
        <p:spPr>
          <a:xfrm>
            <a:off x="742685" y="3254908"/>
            <a:ext cx="15199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i="1" spc="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存储需求分析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89D663F-9616-E12F-266F-72E9BE56342B}"/>
              </a:ext>
            </a:extLst>
          </p:cNvPr>
          <p:cNvSpPr txBox="1"/>
          <p:nvPr/>
        </p:nvSpPr>
        <p:spPr>
          <a:xfrm>
            <a:off x="3590188" y="2486685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anose="02010600030101010101" pitchFamily="2" charset="-122"/>
                <a:cs typeface="+mn-cs"/>
              </a:rPr>
              <a:t>02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 Condensed Extra Bold" panose="020B08030202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D649924-7756-536B-86AC-64A43F242CD5}"/>
              </a:ext>
            </a:extLst>
          </p:cNvPr>
          <p:cNvSpPr txBox="1"/>
          <p:nvPr/>
        </p:nvSpPr>
        <p:spPr>
          <a:xfrm>
            <a:off x="3014210" y="3249519"/>
            <a:ext cx="15199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i="1" spc="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存储媒介选择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BDA958F-D8FC-45BD-07A5-93AD8E49A5EB}"/>
              </a:ext>
            </a:extLst>
          </p:cNvPr>
          <p:cNvSpPr txBox="1"/>
          <p:nvPr/>
        </p:nvSpPr>
        <p:spPr>
          <a:xfrm>
            <a:off x="5908537" y="2486685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anose="02010600030101010101" pitchFamily="2" charset="-122"/>
                <a:cs typeface="+mn-cs"/>
              </a:rPr>
              <a:t>03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D0D819C-4DA4-6DBD-781D-E5C19ECB0E76}"/>
              </a:ext>
            </a:extLst>
          </p:cNvPr>
          <p:cNvSpPr txBox="1"/>
          <p:nvPr/>
        </p:nvSpPr>
        <p:spPr>
          <a:xfrm>
            <a:off x="5327910" y="3260736"/>
            <a:ext cx="15199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i="1" spc="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RAID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i="1" spc="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级别选择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0496803-861C-53BF-E801-D225D4A14952}"/>
              </a:ext>
            </a:extLst>
          </p:cNvPr>
          <p:cNvSpPr txBox="1"/>
          <p:nvPr/>
        </p:nvSpPr>
        <p:spPr>
          <a:xfrm>
            <a:off x="8161363" y="2486685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anose="02010600030101010101" pitchFamily="2" charset="-122"/>
                <a:cs typeface="+mn-cs"/>
              </a:rPr>
              <a:t>04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52763D7-7C61-01F2-9DD8-81FE100588F9}"/>
              </a:ext>
            </a:extLst>
          </p:cNvPr>
          <p:cNvSpPr txBox="1"/>
          <p:nvPr/>
        </p:nvSpPr>
        <p:spPr>
          <a:xfrm>
            <a:off x="10468141" y="2513689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anose="02010600030101010101" pitchFamily="2" charset="-122"/>
                <a:cs typeface="+mn-cs"/>
              </a:rPr>
              <a:t>05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4B0DAFD-0EDE-6333-9B79-017F704186E6}"/>
              </a:ext>
            </a:extLst>
          </p:cNvPr>
          <p:cNvSpPr txBox="1"/>
          <p:nvPr/>
        </p:nvSpPr>
        <p:spPr>
          <a:xfrm>
            <a:off x="10852496" y="5811559"/>
            <a:ext cx="7521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目录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2208C4A8-9909-7FCC-8FB6-2017F296138A}"/>
              </a:ext>
            </a:extLst>
          </p:cNvPr>
          <p:cNvSpPr txBox="1"/>
          <p:nvPr/>
        </p:nvSpPr>
        <p:spPr>
          <a:xfrm>
            <a:off x="9626198" y="6088558"/>
            <a:ext cx="19784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anose="02010600030101010101" pitchFamily="2" charset="-122"/>
                <a:cs typeface="+mn-cs"/>
              </a:rPr>
              <a:t>CONTENTS</a:t>
            </a:r>
            <a:endParaRPr kumimoji="0" lang="zh-CN" altLang="en-US" sz="36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5DCC1DA-3F58-76DA-3347-B79E369D3744}"/>
              </a:ext>
            </a:extLst>
          </p:cNvPr>
          <p:cNvSpPr txBox="1"/>
          <p:nvPr/>
        </p:nvSpPr>
        <p:spPr>
          <a:xfrm>
            <a:off x="600716" y="652403"/>
            <a:ext cx="1217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整体框架</a:t>
            </a: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DF5A0C3B-6101-D6A4-77DE-5EDA01FD2747}"/>
              </a:ext>
            </a:extLst>
          </p:cNvPr>
          <p:cNvCxnSpPr/>
          <p:nvPr/>
        </p:nvCxnSpPr>
        <p:spPr>
          <a:xfrm>
            <a:off x="648833" y="490652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5B260AC7-B789-2D6B-B0EF-53F605C1105E}"/>
              </a:ext>
            </a:extLst>
          </p:cNvPr>
          <p:cNvSpPr txBox="1"/>
          <p:nvPr/>
        </p:nvSpPr>
        <p:spPr>
          <a:xfrm>
            <a:off x="542925" y="5786978"/>
            <a:ext cx="1321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CASE STUDY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RESEARCH.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8DFADF98-116D-F373-6AA8-66E7B5AACBAC}"/>
              </a:ext>
            </a:extLst>
          </p:cNvPr>
          <p:cNvCxnSpPr/>
          <p:nvPr/>
        </p:nvCxnSpPr>
        <p:spPr>
          <a:xfrm>
            <a:off x="648833" y="6391831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1A9CDB84-95C0-F8BE-2362-3006978A69C6}"/>
              </a:ext>
            </a:extLst>
          </p:cNvPr>
          <p:cNvSpPr/>
          <p:nvPr/>
        </p:nvSpPr>
        <p:spPr>
          <a:xfrm>
            <a:off x="10945503" y="441325"/>
            <a:ext cx="659122" cy="659122"/>
          </a:xfrm>
          <a:prstGeom prst="rect">
            <a:avLst/>
          </a:prstGeom>
          <a:blipFill dpi="0" rotWithShape="1">
            <a:blip r:embed="rId2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D8C87C9-9556-88C6-2A2A-AE0974A3F8ED}"/>
              </a:ext>
            </a:extLst>
          </p:cNvPr>
          <p:cNvSpPr txBox="1"/>
          <p:nvPr/>
        </p:nvSpPr>
        <p:spPr>
          <a:xfrm>
            <a:off x="7657822" y="3260736"/>
            <a:ext cx="15199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i="1" spc="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网络存储架构设计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10BB707-B329-BA2C-5335-129EF889D31D}"/>
              </a:ext>
            </a:extLst>
          </p:cNvPr>
          <p:cNvSpPr txBox="1"/>
          <p:nvPr/>
        </p:nvSpPr>
        <p:spPr>
          <a:xfrm>
            <a:off x="9929347" y="3249519"/>
            <a:ext cx="15199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i="1" spc="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备份策略设计</a:t>
            </a:r>
          </a:p>
        </p:txBody>
      </p:sp>
    </p:spTree>
    <p:extLst>
      <p:ext uri="{BB962C8B-B14F-4D97-AF65-F5344CB8AC3E}">
        <p14:creationId xmlns:p14="http://schemas.microsoft.com/office/powerpoint/2010/main" val="41976586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777AC30-D7B8-4A22-A991-9396DED80FB5}"/>
              </a:ext>
            </a:extLst>
          </p:cNvPr>
          <p:cNvGrpSpPr/>
          <p:nvPr/>
        </p:nvGrpSpPr>
        <p:grpSpPr>
          <a:xfrm>
            <a:off x="587375" y="609812"/>
            <a:ext cx="3302828" cy="442701"/>
            <a:chOff x="514384" y="871808"/>
            <a:chExt cx="3302828" cy="442701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6D189431-C165-4FD6-BFA8-1290C8EEBED1}"/>
                </a:ext>
              </a:extLst>
            </p:cNvPr>
            <p:cNvSpPr txBox="1"/>
            <p:nvPr/>
          </p:nvSpPr>
          <p:spPr>
            <a:xfrm>
              <a:off x="514384" y="883622"/>
              <a:ext cx="53732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 Condensed Extra Bold" panose="020B0803020202020204" pitchFamily="34" charset="0"/>
                  <a:ea typeface="等线" panose="02010600030101010101" pitchFamily="2" charset="-122"/>
                  <a:cs typeface="+mn-cs"/>
                </a:rPr>
                <a:t>2.1</a:t>
              </a:r>
              <a:endPara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20EC1FCD-C252-4889-814B-181CE1E29221}"/>
                </a:ext>
              </a:extLst>
            </p:cNvPr>
            <p:cNvSpPr txBox="1"/>
            <p:nvPr/>
          </p:nvSpPr>
          <p:spPr>
            <a:xfrm>
              <a:off x="1051711" y="871808"/>
              <a:ext cx="27655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主流存储介质技术对比</a:t>
              </a:r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400647EF-15EE-4A67-8473-7756E16659D4}"/>
              </a:ext>
            </a:extLst>
          </p:cNvPr>
          <p:cNvSpPr/>
          <p:nvPr/>
        </p:nvSpPr>
        <p:spPr>
          <a:xfrm>
            <a:off x="10945503" y="441325"/>
            <a:ext cx="659122" cy="659122"/>
          </a:xfrm>
          <a:prstGeom prst="rect">
            <a:avLst/>
          </a:prstGeom>
          <a:blipFill dpi="0" rotWithShape="1">
            <a:blip r:embed="rId3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603C4738-A889-4076-9458-8DC7391D6E51}"/>
              </a:ext>
            </a:extLst>
          </p:cNvPr>
          <p:cNvCxnSpPr/>
          <p:nvPr/>
        </p:nvCxnSpPr>
        <p:spPr>
          <a:xfrm>
            <a:off x="648833" y="490652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4AFF33BD-A45F-40F9-A013-92E47B566238}"/>
              </a:ext>
            </a:extLst>
          </p:cNvPr>
          <p:cNvSpPr txBox="1"/>
          <p:nvPr/>
        </p:nvSpPr>
        <p:spPr>
          <a:xfrm>
            <a:off x="542925" y="5786978"/>
            <a:ext cx="1321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CASE STUDY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RESEARCH.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28AD0577-037C-4A2A-9E13-18B5B9A85A1B}"/>
              </a:ext>
            </a:extLst>
          </p:cNvPr>
          <p:cNvCxnSpPr/>
          <p:nvPr/>
        </p:nvCxnSpPr>
        <p:spPr>
          <a:xfrm>
            <a:off x="648833" y="6391831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平行四边形 5">
            <a:extLst>
              <a:ext uri="{FF2B5EF4-FFF2-40B4-BE49-F238E27FC236}">
                <a16:creationId xmlns:a16="http://schemas.microsoft.com/office/drawing/2014/main" id="{6D7C8306-1E89-45FE-94B5-50478C1E9C55}"/>
              </a:ext>
            </a:extLst>
          </p:cNvPr>
          <p:cNvSpPr/>
          <p:nvPr/>
        </p:nvSpPr>
        <p:spPr>
          <a:xfrm>
            <a:off x="1676743" y="4906969"/>
            <a:ext cx="2219994" cy="430888"/>
          </a:xfrm>
          <a:prstGeom prst="parallelogram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39D3723-C58A-4F69-9B58-4E1DD3EFFB21}"/>
              </a:ext>
            </a:extLst>
          </p:cNvPr>
          <p:cNvSpPr txBox="1"/>
          <p:nvPr/>
        </p:nvSpPr>
        <p:spPr>
          <a:xfrm>
            <a:off x="2561027" y="4857776"/>
            <a:ext cx="14226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磁带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iconfont-11180-4674648">
            <a:extLst>
              <a:ext uri="{FF2B5EF4-FFF2-40B4-BE49-F238E27FC236}">
                <a16:creationId xmlns:a16="http://schemas.microsoft.com/office/drawing/2014/main" id="{0BF88FF5-3F5B-48D5-B1A6-3C3A9A2F34CB}"/>
              </a:ext>
            </a:extLst>
          </p:cNvPr>
          <p:cNvSpPr>
            <a:spLocks noChangeAspect="1"/>
          </p:cNvSpPr>
          <p:nvPr/>
        </p:nvSpPr>
        <p:spPr bwMode="auto">
          <a:xfrm>
            <a:off x="1977202" y="4927055"/>
            <a:ext cx="323109" cy="323109"/>
          </a:xfrm>
          <a:custGeom>
            <a:avLst/>
            <a:gdLst>
              <a:gd name="T0" fmla="*/ 6903 w 13303"/>
              <a:gd name="T1" fmla="*/ 13303 h 13303"/>
              <a:gd name="T2" fmla="*/ 990 w 13303"/>
              <a:gd name="T3" fmla="*/ 9352 h 13303"/>
              <a:gd name="T4" fmla="*/ 2378 w 13303"/>
              <a:gd name="T5" fmla="*/ 2378 h 13303"/>
              <a:gd name="T6" fmla="*/ 9352 w 13303"/>
              <a:gd name="T7" fmla="*/ 990 h 13303"/>
              <a:gd name="T8" fmla="*/ 13303 w 13303"/>
              <a:gd name="T9" fmla="*/ 6903 h 13303"/>
              <a:gd name="T10" fmla="*/ 11428 w 13303"/>
              <a:gd name="T11" fmla="*/ 11428 h 13303"/>
              <a:gd name="T12" fmla="*/ 6903 w 13303"/>
              <a:gd name="T13" fmla="*/ 13303 h 13303"/>
              <a:gd name="T14" fmla="*/ 10243 w 13303"/>
              <a:gd name="T15" fmla="*/ 4852 h 13303"/>
              <a:gd name="T16" fmla="*/ 9597 w 13303"/>
              <a:gd name="T17" fmla="*/ 4852 h 13303"/>
              <a:gd name="T18" fmla="*/ 6041 w 13303"/>
              <a:gd name="T19" fmla="*/ 8405 h 13303"/>
              <a:gd name="T20" fmla="*/ 4209 w 13303"/>
              <a:gd name="T21" fmla="*/ 6574 h 13303"/>
              <a:gd name="T22" fmla="*/ 3572 w 13303"/>
              <a:gd name="T23" fmla="*/ 6583 h 13303"/>
              <a:gd name="T24" fmla="*/ 3563 w 13303"/>
              <a:gd name="T25" fmla="*/ 7220 h 13303"/>
              <a:gd name="T26" fmla="*/ 5718 w 13303"/>
              <a:gd name="T27" fmla="*/ 9378 h 13303"/>
              <a:gd name="T28" fmla="*/ 6364 w 13303"/>
              <a:gd name="T29" fmla="*/ 9378 h 13303"/>
              <a:gd name="T30" fmla="*/ 10243 w 13303"/>
              <a:gd name="T31" fmla="*/ 5498 h 13303"/>
              <a:gd name="T32" fmla="*/ 10243 w 13303"/>
              <a:gd name="T33" fmla="*/ 4852 h 133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3303" h="13303">
                <a:moveTo>
                  <a:pt x="6903" y="13303"/>
                </a:moveTo>
                <a:cubicBezTo>
                  <a:pt x="4314" y="13303"/>
                  <a:pt x="1981" y="11744"/>
                  <a:pt x="990" y="9352"/>
                </a:cubicBezTo>
                <a:cubicBezTo>
                  <a:pt x="0" y="6961"/>
                  <a:pt x="547" y="4208"/>
                  <a:pt x="2378" y="2378"/>
                </a:cubicBezTo>
                <a:cubicBezTo>
                  <a:pt x="4208" y="547"/>
                  <a:pt x="6961" y="0"/>
                  <a:pt x="9352" y="990"/>
                </a:cubicBezTo>
                <a:cubicBezTo>
                  <a:pt x="11744" y="1981"/>
                  <a:pt x="13303" y="4314"/>
                  <a:pt x="13303" y="6903"/>
                </a:cubicBezTo>
                <a:cubicBezTo>
                  <a:pt x="13303" y="8600"/>
                  <a:pt x="12629" y="10228"/>
                  <a:pt x="11428" y="11428"/>
                </a:cubicBezTo>
                <a:cubicBezTo>
                  <a:pt x="10228" y="12629"/>
                  <a:pt x="8600" y="13303"/>
                  <a:pt x="6903" y="13303"/>
                </a:cubicBezTo>
                <a:close/>
                <a:moveTo>
                  <a:pt x="10243" y="4852"/>
                </a:moveTo>
                <a:cubicBezTo>
                  <a:pt x="10065" y="4672"/>
                  <a:pt x="9775" y="4672"/>
                  <a:pt x="9597" y="4852"/>
                </a:cubicBezTo>
                <a:lnTo>
                  <a:pt x="6041" y="8405"/>
                </a:lnTo>
                <a:lnTo>
                  <a:pt x="4209" y="6574"/>
                </a:lnTo>
                <a:cubicBezTo>
                  <a:pt x="4029" y="6404"/>
                  <a:pt x="3747" y="6408"/>
                  <a:pt x="3572" y="6583"/>
                </a:cubicBezTo>
                <a:cubicBezTo>
                  <a:pt x="3397" y="6758"/>
                  <a:pt x="3393" y="7040"/>
                  <a:pt x="3563" y="7220"/>
                </a:cubicBezTo>
                <a:lnTo>
                  <a:pt x="5718" y="9378"/>
                </a:lnTo>
                <a:cubicBezTo>
                  <a:pt x="5897" y="9554"/>
                  <a:pt x="6185" y="9554"/>
                  <a:pt x="6364" y="9378"/>
                </a:cubicBezTo>
                <a:lnTo>
                  <a:pt x="10243" y="5498"/>
                </a:lnTo>
                <a:cubicBezTo>
                  <a:pt x="10421" y="5320"/>
                  <a:pt x="10421" y="5030"/>
                  <a:pt x="10243" y="4852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FC07B98C-582B-48E0-AA53-F15786FDAE49}"/>
              </a:ext>
            </a:extLst>
          </p:cNvPr>
          <p:cNvCxnSpPr/>
          <p:nvPr/>
        </p:nvCxnSpPr>
        <p:spPr>
          <a:xfrm>
            <a:off x="648833" y="1366429"/>
            <a:ext cx="10804967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73481858-10BD-4FE0-A74A-AC9C4F93E6E4}"/>
              </a:ext>
            </a:extLst>
          </p:cNvPr>
          <p:cNvCxnSpPr>
            <a:cxnSpLocks/>
          </p:cNvCxnSpPr>
          <p:nvPr/>
        </p:nvCxnSpPr>
        <p:spPr>
          <a:xfrm flipH="1">
            <a:off x="4196005" y="1787725"/>
            <a:ext cx="1" cy="2246433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8FE9C989-1D44-4E9D-93BD-C5F680FCAAA8}"/>
              </a:ext>
            </a:extLst>
          </p:cNvPr>
          <p:cNvCxnSpPr>
            <a:cxnSpLocks/>
          </p:cNvCxnSpPr>
          <p:nvPr/>
        </p:nvCxnSpPr>
        <p:spPr>
          <a:xfrm flipH="1">
            <a:off x="6787112" y="2081974"/>
            <a:ext cx="1" cy="2246433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6A1F0B5A-7E82-C461-FEB6-CF47E8CD1603}"/>
              </a:ext>
            </a:extLst>
          </p:cNvPr>
          <p:cNvSpPr txBox="1"/>
          <p:nvPr/>
        </p:nvSpPr>
        <p:spPr>
          <a:xfrm>
            <a:off x="1732097" y="1578987"/>
            <a:ext cx="225154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0" dirty="0">
                <a:effectLst/>
                <a:latin typeface="Consolas" panose="020B0609020204030204" pitchFamily="49" charset="0"/>
              </a:rPr>
              <a:t>作为一种成熟的存储技术，其主要优势在于</a:t>
            </a:r>
            <a:r>
              <a:rPr lang="zh-CN" altLang="en-US" b="1" dirty="0">
                <a:effectLst/>
                <a:latin typeface="Consolas" panose="020B0609020204030204" pitchFamily="49" charset="0"/>
              </a:rPr>
              <a:t>极低的单位存储成本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和</a:t>
            </a:r>
            <a:r>
              <a:rPr lang="zh-CN" altLang="en-US" b="1" dirty="0">
                <a:effectLst/>
                <a:latin typeface="Consolas" panose="020B0609020204030204" pitchFamily="49" charset="0"/>
              </a:rPr>
              <a:t>良好的长期耐用性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，非常适合用于不经常访问的</a:t>
            </a:r>
            <a:r>
              <a:rPr lang="zh-CN" altLang="en-US" b="1" dirty="0">
                <a:effectLst/>
                <a:latin typeface="Consolas" panose="020B0609020204030204" pitchFamily="49" charset="0"/>
              </a:rPr>
              <a:t>冷数据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或归档数据的存储。其顺序访问的特性是其性能瓶颈，不适用于需要快速随机访问的场景</a:t>
            </a:r>
            <a:endParaRPr lang="zh-CN" altLang="en-US" dirty="0"/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B288B12D-11BA-7261-DC6A-70F94490044E}"/>
              </a:ext>
            </a:extLst>
          </p:cNvPr>
          <p:cNvCxnSpPr>
            <a:cxnSpLocks/>
          </p:cNvCxnSpPr>
          <p:nvPr/>
        </p:nvCxnSpPr>
        <p:spPr>
          <a:xfrm flipH="1">
            <a:off x="4565731" y="1786243"/>
            <a:ext cx="1" cy="2246433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平行四边形 39">
            <a:extLst>
              <a:ext uri="{FF2B5EF4-FFF2-40B4-BE49-F238E27FC236}">
                <a16:creationId xmlns:a16="http://schemas.microsoft.com/office/drawing/2014/main" id="{75B360A5-A105-ABBB-9A04-A3AA0393F478}"/>
              </a:ext>
            </a:extLst>
          </p:cNvPr>
          <p:cNvSpPr/>
          <p:nvPr/>
        </p:nvSpPr>
        <p:spPr>
          <a:xfrm>
            <a:off x="4906163" y="4905487"/>
            <a:ext cx="2219994" cy="430888"/>
          </a:xfrm>
          <a:prstGeom prst="parallelogram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5C73D718-FEBE-20AA-6C78-9ED7D4AD0211}"/>
              </a:ext>
            </a:extLst>
          </p:cNvPr>
          <p:cNvSpPr txBox="1"/>
          <p:nvPr/>
        </p:nvSpPr>
        <p:spPr>
          <a:xfrm>
            <a:off x="5409953" y="4989357"/>
            <a:ext cx="1716204" cy="3470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zh-CN" altLang="en-US" sz="2400" b="1" dirty="0">
                <a:effectLst/>
                <a:latin typeface="Consolas" panose="020B0609020204030204" pitchFamily="49" charset="0"/>
              </a:rPr>
              <a:t>磁盘驱动器</a:t>
            </a:r>
            <a:endParaRPr lang="en-US" altLang="zh-CN" sz="24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630EF35-233B-6E7F-D95F-455072179A04}"/>
              </a:ext>
            </a:extLst>
          </p:cNvPr>
          <p:cNvSpPr txBox="1"/>
          <p:nvPr/>
        </p:nvSpPr>
        <p:spPr>
          <a:xfrm>
            <a:off x="5025155" y="1796808"/>
            <a:ext cx="210100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Consolas" panose="020B0609020204030204" pitchFamily="49" charset="0"/>
              </a:rPr>
              <a:t>在</a:t>
            </a:r>
            <a:r>
              <a:rPr lang="zh-CN" altLang="en-US" b="1" dirty="0">
                <a:latin typeface="Consolas" panose="020B0609020204030204" pitchFamily="49" charset="0"/>
              </a:rPr>
              <a:t>容量、性能和成本</a:t>
            </a:r>
            <a:r>
              <a:rPr lang="zh-CN" altLang="en-US" dirty="0">
                <a:latin typeface="Consolas" panose="020B0609020204030204" pitchFamily="49" charset="0"/>
              </a:rPr>
              <a:t>之间提供了较好的平衡，是目前企业级存储中应用最广泛的介质，尤其适合大容量和顺序读写负载。其机械结构限制了其随机</a:t>
            </a:r>
            <a:r>
              <a:rPr lang="en-US" altLang="zh-CN" dirty="0">
                <a:latin typeface="Consolas" panose="020B0609020204030204" pitchFamily="49" charset="0"/>
              </a:rPr>
              <a:t>I/O</a:t>
            </a:r>
            <a:r>
              <a:rPr lang="zh-CN" altLang="en-US" dirty="0">
                <a:latin typeface="Consolas" panose="020B0609020204030204" pitchFamily="49" charset="0"/>
              </a:rPr>
              <a:t>性能</a:t>
            </a: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4B410F65-EA27-3C26-CA3A-E1DC24781FC8}"/>
              </a:ext>
            </a:extLst>
          </p:cNvPr>
          <p:cNvCxnSpPr>
            <a:cxnSpLocks/>
          </p:cNvCxnSpPr>
          <p:nvPr/>
        </p:nvCxnSpPr>
        <p:spPr>
          <a:xfrm flipH="1">
            <a:off x="7401074" y="1786243"/>
            <a:ext cx="1" cy="2246433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live-chat_72439">
            <a:extLst>
              <a:ext uri="{FF2B5EF4-FFF2-40B4-BE49-F238E27FC236}">
                <a16:creationId xmlns:a16="http://schemas.microsoft.com/office/drawing/2014/main" id="{FEBF1774-837C-87E2-5B44-A798B53471C4}"/>
              </a:ext>
            </a:extLst>
          </p:cNvPr>
          <p:cNvSpPr>
            <a:spLocks noChangeAspect="1"/>
          </p:cNvSpPr>
          <p:nvPr/>
        </p:nvSpPr>
        <p:spPr bwMode="auto">
          <a:xfrm>
            <a:off x="5021468" y="4925573"/>
            <a:ext cx="409393" cy="357377"/>
          </a:xfrm>
          <a:custGeom>
            <a:avLst/>
            <a:gdLst>
              <a:gd name="connsiteX0" fmla="*/ 424975 w 608697"/>
              <a:gd name="connsiteY0" fmla="*/ 168488 h 531358"/>
              <a:gd name="connsiteX1" fmla="*/ 387604 w 608697"/>
              <a:gd name="connsiteY1" fmla="*/ 205806 h 531358"/>
              <a:gd name="connsiteX2" fmla="*/ 424975 w 608697"/>
              <a:gd name="connsiteY2" fmla="*/ 243124 h 531358"/>
              <a:gd name="connsiteX3" fmla="*/ 462346 w 608697"/>
              <a:gd name="connsiteY3" fmla="*/ 205806 h 531358"/>
              <a:gd name="connsiteX4" fmla="*/ 424975 w 608697"/>
              <a:gd name="connsiteY4" fmla="*/ 168488 h 531358"/>
              <a:gd name="connsiteX5" fmla="*/ 287947 w 608697"/>
              <a:gd name="connsiteY5" fmla="*/ 168488 h 531358"/>
              <a:gd name="connsiteX6" fmla="*/ 250576 w 608697"/>
              <a:gd name="connsiteY6" fmla="*/ 205806 h 531358"/>
              <a:gd name="connsiteX7" fmla="*/ 287947 w 608697"/>
              <a:gd name="connsiteY7" fmla="*/ 243124 h 531358"/>
              <a:gd name="connsiteX8" fmla="*/ 325318 w 608697"/>
              <a:gd name="connsiteY8" fmla="*/ 205806 h 531358"/>
              <a:gd name="connsiteX9" fmla="*/ 287947 w 608697"/>
              <a:gd name="connsiteY9" fmla="*/ 168488 h 531358"/>
              <a:gd name="connsiteX10" fmla="*/ 102356 w 608697"/>
              <a:gd name="connsiteY10" fmla="*/ 121231 h 531358"/>
              <a:gd name="connsiteX11" fmla="*/ 98850 w 608697"/>
              <a:gd name="connsiteY11" fmla="*/ 127711 h 531358"/>
              <a:gd name="connsiteX12" fmla="*/ 76842 w 608697"/>
              <a:gd name="connsiteY12" fmla="*/ 217990 h 531358"/>
              <a:gd name="connsiteX13" fmla="*/ 98850 w 608697"/>
              <a:gd name="connsiteY13" fmla="*/ 308194 h 531358"/>
              <a:gd name="connsiteX14" fmla="*/ 157488 w 608697"/>
              <a:gd name="connsiteY14" fmla="*/ 380223 h 531358"/>
              <a:gd name="connsiteX15" fmla="*/ 344668 w 608697"/>
              <a:gd name="connsiteY15" fmla="*/ 444729 h 531358"/>
              <a:gd name="connsiteX16" fmla="*/ 370257 w 608697"/>
              <a:gd name="connsiteY16" fmla="*/ 443687 h 531358"/>
              <a:gd name="connsiteX17" fmla="*/ 236717 w 608697"/>
              <a:gd name="connsiteY17" fmla="*/ 477876 h 531358"/>
              <a:gd name="connsiteX18" fmla="*/ 198072 w 608697"/>
              <a:gd name="connsiteY18" fmla="*/ 475344 h 531358"/>
              <a:gd name="connsiteX19" fmla="*/ 82437 w 608697"/>
              <a:gd name="connsiteY19" fmla="*/ 531284 h 531358"/>
              <a:gd name="connsiteX20" fmla="*/ 81542 w 608697"/>
              <a:gd name="connsiteY20" fmla="*/ 531358 h 531358"/>
              <a:gd name="connsiteX21" fmla="*/ 75051 w 608697"/>
              <a:gd name="connsiteY21" fmla="*/ 527857 h 531358"/>
              <a:gd name="connsiteX22" fmla="*/ 74753 w 608697"/>
              <a:gd name="connsiteY22" fmla="*/ 519738 h 531358"/>
              <a:gd name="connsiteX23" fmla="*/ 88778 w 608697"/>
              <a:gd name="connsiteY23" fmla="*/ 435046 h 531358"/>
              <a:gd name="connsiteX24" fmla="*/ 0 w 608697"/>
              <a:gd name="connsiteY24" fmla="*/ 282198 h 531358"/>
              <a:gd name="connsiteX25" fmla="*/ 102356 w 608697"/>
              <a:gd name="connsiteY25" fmla="*/ 121231 h 531358"/>
              <a:gd name="connsiteX26" fmla="*/ 356424 w 608697"/>
              <a:gd name="connsiteY26" fmla="*/ 0 h 531358"/>
              <a:gd name="connsiteX27" fmla="*/ 608697 w 608697"/>
              <a:gd name="connsiteY27" fmla="*/ 211244 h 531358"/>
              <a:gd name="connsiteX28" fmla="*/ 518290 w 608697"/>
              <a:gd name="connsiteY28" fmla="*/ 373401 h 531358"/>
              <a:gd name="connsiteX29" fmla="*/ 531941 w 608697"/>
              <a:gd name="connsiteY29" fmla="*/ 441109 h 531358"/>
              <a:gd name="connsiteX30" fmla="*/ 531120 w 608697"/>
              <a:gd name="connsiteY30" fmla="*/ 465391 h 531358"/>
              <a:gd name="connsiteX31" fmla="*/ 511577 w 608697"/>
              <a:gd name="connsiteY31" fmla="*/ 475894 h 531358"/>
              <a:gd name="connsiteX32" fmla="*/ 509041 w 608697"/>
              <a:gd name="connsiteY32" fmla="*/ 475745 h 531358"/>
              <a:gd name="connsiteX33" fmla="*/ 391408 w 608697"/>
              <a:gd name="connsiteY33" fmla="*/ 420476 h 531358"/>
              <a:gd name="connsiteX34" fmla="*/ 356424 w 608697"/>
              <a:gd name="connsiteY34" fmla="*/ 422487 h 531358"/>
              <a:gd name="connsiteX35" fmla="*/ 104225 w 608697"/>
              <a:gd name="connsiteY35" fmla="*/ 211244 h 531358"/>
              <a:gd name="connsiteX36" fmla="*/ 356424 w 608697"/>
              <a:gd name="connsiteY36" fmla="*/ 0 h 531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608697" h="531358">
                <a:moveTo>
                  <a:pt x="424975" y="168488"/>
                </a:moveTo>
                <a:cubicBezTo>
                  <a:pt x="404312" y="168488"/>
                  <a:pt x="387604" y="185248"/>
                  <a:pt x="387604" y="205806"/>
                </a:cubicBezTo>
                <a:cubicBezTo>
                  <a:pt x="387604" y="226439"/>
                  <a:pt x="404312" y="243124"/>
                  <a:pt x="424975" y="243124"/>
                </a:cubicBezTo>
                <a:cubicBezTo>
                  <a:pt x="445562" y="243124"/>
                  <a:pt x="462346" y="226439"/>
                  <a:pt x="462346" y="205806"/>
                </a:cubicBezTo>
                <a:cubicBezTo>
                  <a:pt x="462346" y="185248"/>
                  <a:pt x="445637" y="168488"/>
                  <a:pt x="424975" y="168488"/>
                </a:cubicBezTo>
                <a:close/>
                <a:moveTo>
                  <a:pt x="287947" y="168488"/>
                </a:moveTo>
                <a:cubicBezTo>
                  <a:pt x="267285" y="168488"/>
                  <a:pt x="250576" y="185248"/>
                  <a:pt x="250576" y="205806"/>
                </a:cubicBezTo>
                <a:cubicBezTo>
                  <a:pt x="250576" y="226439"/>
                  <a:pt x="267285" y="243124"/>
                  <a:pt x="287947" y="243124"/>
                </a:cubicBezTo>
                <a:cubicBezTo>
                  <a:pt x="308610" y="243124"/>
                  <a:pt x="325318" y="226439"/>
                  <a:pt x="325318" y="205806"/>
                </a:cubicBezTo>
                <a:cubicBezTo>
                  <a:pt x="325318" y="185248"/>
                  <a:pt x="308610" y="168488"/>
                  <a:pt x="287947" y="168488"/>
                </a:cubicBezTo>
                <a:close/>
                <a:moveTo>
                  <a:pt x="102356" y="121231"/>
                </a:moveTo>
                <a:cubicBezTo>
                  <a:pt x="101162" y="123317"/>
                  <a:pt x="99969" y="125477"/>
                  <a:pt x="98850" y="127711"/>
                </a:cubicBezTo>
                <a:cubicBezTo>
                  <a:pt x="84227" y="156240"/>
                  <a:pt x="76842" y="186631"/>
                  <a:pt x="76842" y="217990"/>
                </a:cubicBezTo>
                <a:cubicBezTo>
                  <a:pt x="76842" y="249275"/>
                  <a:pt x="84227" y="279666"/>
                  <a:pt x="98850" y="308194"/>
                </a:cubicBezTo>
                <a:cubicBezTo>
                  <a:pt x="112726" y="335308"/>
                  <a:pt x="132496" y="359516"/>
                  <a:pt x="157488" y="380223"/>
                </a:cubicBezTo>
                <a:cubicBezTo>
                  <a:pt x="207845" y="421787"/>
                  <a:pt x="274317" y="444729"/>
                  <a:pt x="344668" y="444729"/>
                </a:cubicBezTo>
                <a:cubicBezTo>
                  <a:pt x="353173" y="444729"/>
                  <a:pt x="361752" y="444357"/>
                  <a:pt x="370257" y="443687"/>
                </a:cubicBezTo>
                <a:cubicBezTo>
                  <a:pt x="332209" y="465288"/>
                  <a:pt x="286254" y="477876"/>
                  <a:pt x="236717" y="477876"/>
                </a:cubicBezTo>
                <a:cubicBezTo>
                  <a:pt x="223736" y="477876"/>
                  <a:pt x="210755" y="477057"/>
                  <a:pt x="198072" y="475344"/>
                </a:cubicBezTo>
                <a:cubicBezTo>
                  <a:pt x="160397" y="499478"/>
                  <a:pt x="110637" y="528155"/>
                  <a:pt x="82437" y="531284"/>
                </a:cubicBezTo>
                <a:cubicBezTo>
                  <a:pt x="82138" y="531358"/>
                  <a:pt x="81840" y="531358"/>
                  <a:pt x="81542" y="531358"/>
                </a:cubicBezTo>
                <a:cubicBezTo>
                  <a:pt x="78930" y="531358"/>
                  <a:pt x="76469" y="530017"/>
                  <a:pt x="75051" y="527857"/>
                </a:cubicBezTo>
                <a:cubicBezTo>
                  <a:pt x="73410" y="525399"/>
                  <a:pt x="73335" y="522271"/>
                  <a:pt x="74753" y="519738"/>
                </a:cubicBezTo>
                <a:cubicBezTo>
                  <a:pt x="75051" y="519291"/>
                  <a:pt x="99223" y="476014"/>
                  <a:pt x="88778" y="435046"/>
                </a:cubicBezTo>
                <a:cubicBezTo>
                  <a:pt x="32303" y="397653"/>
                  <a:pt x="0" y="342160"/>
                  <a:pt x="0" y="282198"/>
                </a:cubicBezTo>
                <a:cubicBezTo>
                  <a:pt x="0" y="215532"/>
                  <a:pt x="40584" y="156538"/>
                  <a:pt x="102356" y="121231"/>
                </a:cubicBezTo>
                <a:close/>
                <a:moveTo>
                  <a:pt x="356424" y="0"/>
                </a:moveTo>
                <a:cubicBezTo>
                  <a:pt x="495540" y="0"/>
                  <a:pt x="608697" y="94747"/>
                  <a:pt x="608697" y="211244"/>
                </a:cubicBezTo>
                <a:cubicBezTo>
                  <a:pt x="608697" y="274408"/>
                  <a:pt x="575802" y="333178"/>
                  <a:pt x="518290" y="373401"/>
                </a:cubicBezTo>
                <a:cubicBezTo>
                  <a:pt x="512845" y="406324"/>
                  <a:pt x="531717" y="440811"/>
                  <a:pt x="531941" y="441109"/>
                </a:cubicBezTo>
                <a:cubicBezTo>
                  <a:pt x="536267" y="448781"/>
                  <a:pt x="535969" y="458092"/>
                  <a:pt x="531120" y="465391"/>
                </a:cubicBezTo>
                <a:cubicBezTo>
                  <a:pt x="526794" y="472021"/>
                  <a:pt x="519484" y="475894"/>
                  <a:pt x="511577" y="475894"/>
                </a:cubicBezTo>
                <a:cubicBezTo>
                  <a:pt x="510756" y="475894"/>
                  <a:pt x="509936" y="475894"/>
                  <a:pt x="509041" y="475745"/>
                </a:cubicBezTo>
                <a:cubicBezTo>
                  <a:pt x="484574" y="473064"/>
                  <a:pt x="444966" y="454442"/>
                  <a:pt x="391408" y="420476"/>
                </a:cubicBezTo>
                <a:cubicBezTo>
                  <a:pt x="379920" y="421817"/>
                  <a:pt x="368135" y="422487"/>
                  <a:pt x="356424" y="422487"/>
                </a:cubicBezTo>
                <a:cubicBezTo>
                  <a:pt x="217382" y="422487"/>
                  <a:pt x="104225" y="327741"/>
                  <a:pt x="104225" y="211244"/>
                </a:cubicBezTo>
                <a:cubicBezTo>
                  <a:pt x="104225" y="94747"/>
                  <a:pt x="217382" y="0"/>
                  <a:pt x="35642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46" name="平行四边形 45">
            <a:extLst>
              <a:ext uri="{FF2B5EF4-FFF2-40B4-BE49-F238E27FC236}">
                <a16:creationId xmlns:a16="http://schemas.microsoft.com/office/drawing/2014/main" id="{066EA246-0E4D-2E3C-0443-E4D2C63A09E5}"/>
              </a:ext>
            </a:extLst>
          </p:cNvPr>
          <p:cNvSpPr/>
          <p:nvPr/>
        </p:nvSpPr>
        <p:spPr>
          <a:xfrm>
            <a:off x="7959183" y="4905487"/>
            <a:ext cx="2219994" cy="430888"/>
          </a:xfrm>
          <a:prstGeom prst="parallelogram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A537C53-F746-9FAD-8BFB-82F867572A65}"/>
              </a:ext>
            </a:extLst>
          </p:cNvPr>
          <p:cNvSpPr txBox="1"/>
          <p:nvPr/>
        </p:nvSpPr>
        <p:spPr>
          <a:xfrm>
            <a:off x="8460821" y="4970941"/>
            <a:ext cx="1870976" cy="3470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zh-CN" altLang="en-US" sz="2400" b="1" dirty="0">
                <a:effectLst/>
                <a:latin typeface="Consolas" panose="020B0609020204030204" pitchFamily="49" charset="0"/>
              </a:rPr>
              <a:t>固态驱动器</a:t>
            </a:r>
            <a:endParaRPr lang="zh-CN" altLang="en-US" sz="24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48" name="iconfont-11180-4674648">
            <a:extLst>
              <a:ext uri="{FF2B5EF4-FFF2-40B4-BE49-F238E27FC236}">
                <a16:creationId xmlns:a16="http://schemas.microsoft.com/office/drawing/2014/main" id="{E6CC6A25-F9C2-49B7-A496-92DF5CA290FC}"/>
              </a:ext>
            </a:extLst>
          </p:cNvPr>
          <p:cNvSpPr>
            <a:spLocks noChangeAspect="1"/>
          </p:cNvSpPr>
          <p:nvPr/>
        </p:nvSpPr>
        <p:spPr bwMode="auto">
          <a:xfrm>
            <a:off x="8137712" y="4925573"/>
            <a:ext cx="323109" cy="323109"/>
          </a:xfrm>
          <a:custGeom>
            <a:avLst/>
            <a:gdLst>
              <a:gd name="T0" fmla="*/ 6903 w 13303"/>
              <a:gd name="T1" fmla="*/ 13303 h 13303"/>
              <a:gd name="T2" fmla="*/ 990 w 13303"/>
              <a:gd name="T3" fmla="*/ 9352 h 13303"/>
              <a:gd name="T4" fmla="*/ 2378 w 13303"/>
              <a:gd name="T5" fmla="*/ 2378 h 13303"/>
              <a:gd name="T6" fmla="*/ 9352 w 13303"/>
              <a:gd name="T7" fmla="*/ 990 h 13303"/>
              <a:gd name="T8" fmla="*/ 13303 w 13303"/>
              <a:gd name="T9" fmla="*/ 6903 h 13303"/>
              <a:gd name="T10" fmla="*/ 11428 w 13303"/>
              <a:gd name="T11" fmla="*/ 11428 h 13303"/>
              <a:gd name="T12" fmla="*/ 6903 w 13303"/>
              <a:gd name="T13" fmla="*/ 13303 h 13303"/>
              <a:gd name="T14" fmla="*/ 10243 w 13303"/>
              <a:gd name="T15" fmla="*/ 4852 h 13303"/>
              <a:gd name="T16" fmla="*/ 9597 w 13303"/>
              <a:gd name="T17" fmla="*/ 4852 h 13303"/>
              <a:gd name="T18" fmla="*/ 6041 w 13303"/>
              <a:gd name="T19" fmla="*/ 8405 h 13303"/>
              <a:gd name="T20" fmla="*/ 4209 w 13303"/>
              <a:gd name="T21" fmla="*/ 6574 h 13303"/>
              <a:gd name="T22" fmla="*/ 3572 w 13303"/>
              <a:gd name="T23" fmla="*/ 6583 h 13303"/>
              <a:gd name="T24" fmla="*/ 3563 w 13303"/>
              <a:gd name="T25" fmla="*/ 7220 h 13303"/>
              <a:gd name="T26" fmla="*/ 5718 w 13303"/>
              <a:gd name="T27" fmla="*/ 9378 h 13303"/>
              <a:gd name="T28" fmla="*/ 6364 w 13303"/>
              <a:gd name="T29" fmla="*/ 9378 h 13303"/>
              <a:gd name="T30" fmla="*/ 10243 w 13303"/>
              <a:gd name="T31" fmla="*/ 5498 h 13303"/>
              <a:gd name="T32" fmla="*/ 10243 w 13303"/>
              <a:gd name="T33" fmla="*/ 4852 h 133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3303" h="13303">
                <a:moveTo>
                  <a:pt x="6903" y="13303"/>
                </a:moveTo>
                <a:cubicBezTo>
                  <a:pt x="4314" y="13303"/>
                  <a:pt x="1981" y="11744"/>
                  <a:pt x="990" y="9352"/>
                </a:cubicBezTo>
                <a:cubicBezTo>
                  <a:pt x="0" y="6961"/>
                  <a:pt x="547" y="4208"/>
                  <a:pt x="2378" y="2378"/>
                </a:cubicBezTo>
                <a:cubicBezTo>
                  <a:pt x="4208" y="547"/>
                  <a:pt x="6961" y="0"/>
                  <a:pt x="9352" y="990"/>
                </a:cubicBezTo>
                <a:cubicBezTo>
                  <a:pt x="11744" y="1981"/>
                  <a:pt x="13303" y="4314"/>
                  <a:pt x="13303" y="6903"/>
                </a:cubicBezTo>
                <a:cubicBezTo>
                  <a:pt x="13303" y="8600"/>
                  <a:pt x="12629" y="10228"/>
                  <a:pt x="11428" y="11428"/>
                </a:cubicBezTo>
                <a:cubicBezTo>
                  <a:pt x="10228" y="12629"/>
                  <a:pt x="8600" y="13303"/>
                  <a:pt x="6903" y="13303"/>
                </a:cubicBezTo>
                <a:close/>
                <a:moveTo>
                  <a:pt x="10243" y="4852"/>
                </a:moveTo>
                <a:cubicBezTo>
                  <a:pt x="10065" y="4672"/>
                  <a:pt x="9775" y="4672"/>
                  <a:pt x="9597" y="4852"/>
                </a:cubicBezTo>
                <a:lnTo>
                  <a:pt x="6041" y="8405"/>
                </a:lnTo>
                <a:lnTo>
                  <a:pt x="4209" y="6574"/>
                </a:lnTo>
                <a:cubicBezTo>
                  <a:pt x="4029" y="6404"/>
                  <a:pt x="3747" y="6408"/>
                  <a:pt x="3572" y="6583"/>
                </a:cubicBezTo>
                <a:cubicBezTo>
                  <a:pt x="3397" y="6758"/>
                  <a:pt x="3393" y="7040"/>
                  <a:pt x="3563" y="7220"/>
                </a:cubicBezTo>
                <a:lnTo>
                  <a:pt x="5718" y="9378"/>
                </a:lnTo>
                <a:cubicBezTo>
                  <a:pt x="5897" y="9554"/>
                  <a:pt x="6185" y="9554"/>
                  <a:pt x="6364" y="9378"/>
                </a:cubicBezTo>
                <a:lnTo>
                  <a:pt x="10243" y="5498"/>
                </a:lnTo>
                <a:cubicBezTo>
                  <a:pt x="10421" y="5320"/>
                  <a:pt x="10421" y="5030"/>
                  <a:pt x="10243" y="4852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25BA945-ECF0-DEAE-E9E7-A19E81CDB73D}"/>
              </a:ext>
            </a:extLst>
          </p:cNvPr>
          <p:cNvSpPr txBox="1"/>
          <p:nvPr/>
        </p:nvSpPr>
        <p:spPr>
          <a:xfrm>
            <a:off x="7959183" y="1783117"/>
            <a:ext cx="210100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0" dirty="0">
                <a:effectLst/>
                <a:latin typeface="+mn-ea"/>
              </a:rPr>
              <a:t>以其</a:t>
            </a:r>
            <a:r>
              <a:rPr lang="zh-CN" altLang="en-US" b="1" dirty="0">
                <a:effectLst/>
                <a:latin typeface="+mn-ea"/>
              </a:rPr>
              <a:t>极高的读写性能</a:t>
            </a:r>
            <a:r>
              <a:rPr lang="zh-CN" altLang="en-US" b="0" dirty="0">
                <a:effectLst/>
                <a:latin typeface="+mn-ea"/>
              </a:rPr>
              <a:t>（尤其是随机</a:t>
            </a:r>
            <a:r>
              <a:rPr lang="en-US" altLang="zh-CN" b="0" dirty="0">
                <a:effectLst/>
                <a:latin typeface="+mn-ea"/>
              </a:rPr>
              <a:t>I/O</a:t>
            </a:r>
            <a:r>
              <a:rPr lang="zh-CN" altLang="en-US" b="0" dirty="0">
                <a:effectLst/>
                <a:latin typeface="+mn-ea"/>
              </a:rPr>
              <a:t>）、</a:t>
            </a:r>
            <a:r>
              <a:rPr lang="zh-CN" altLang="en-US" b="1" dirty="0">
                <a:effectLst/>
                <a:latin typeface="+mn-ea"/>
              </a:rPr>
              <a:t>低延迟</a:t>
            </a:r>
            <a:r>
              <a:rPr lang="zh-CN" altLang="en-US" b="0" dirty="0">
                <a:effectLst/>
                <a:latin typeface="+mn-ea"/>
              </a:rPr>
              <a:t>和</a:t>
            </a:r>
            <a:r>
              <a:rPr lang="zh-CN" altLang="en-US" b="1" dirty="0">
                <a:effectLst/>
                <a:latin typeface="+mn-ea"/>
              </a:rPr>
              <a:t>低功耗</a:t>
            </a:r>
            <a:r>
              <a:rPr lang="zh-CN" altLang="en-US" b="0" dirty="0">
                <a:effectLst/>
                <a:latin typeface="+mn-ea"/>
              </a:rPr>
              <a:t>特性，在高频交易和对响应时间敏感的应用中表现出色。成本相对较高是其主要考虑因素</a:t>
            </a:r>
          </a:p>
        </p:txBody>
      </p:sp>
    </p:spTree>
    <p:extLst>
      <p:ext uri="{BB962C8B-B14F-4D97-AF65-F5344CB8AC3E}">
        <p14:creationId xmlns:p14="http://schemas.microsoft.com/office/powerpoint/2010/main" val="12473625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3380E-DD16-F80D-3284-805A1AA12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CC44C95B-DB5B-7615-D39C-32966B792F86}"/>
              </a:ext>
            </a:extLst>
          </p:cNvPr>
          <p:cNvGrpSpPr/>
          <p:nvPr/>
        </p:nvGrpSpPr>
        <p:grpSpPr>
          <a:xfrm>
            <a:off x="587375" y="621626"/>
            <a:ext cx="648001" cy="430887"/>
            <a:chOff x="514384" y="883622"/>
            <a:chExt cx="648001" cy="430887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211A0361-54C2-8208-5431-A9CAA5BF8A41}"/>
                </a:ext>
              </a:extLst>
            </p:cNvPr>
            <p:cNvSpPr txBox="1"/>
            <p:nvPr/>
          </p:nvSpPr>
          <p:spPr>
            <a:xfrm>
              <a:off x="514384" y="883622"/>
              <a:ext cx="53732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200" b="1" dirty="0">
                  <a:solidFill>
                    <a:prstClr val="black"/>
                  </a:solidFill>
                  <a:latin typeface="Tw Cen MT Condensed Extra Bold" panose="020B0803020202020204" pitchFamily="34" charset="0"/>
                  <a:ea typeface="等线" panose="02010600030101010101" pitchFamily="2" charset="-122"/>
                </a:rPr>
                <a:t>2.2</a:t>
              </a:r>
              <a:endPara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C5D6F00D-9DCB-A13E-A7A4-1552226590B9}"/>
                </a:ext>
              </a:extLst>
            </p:cNvPr>
            <p:cNvSpPr txBox="1"/>
            <p:nvPr/>
          </p:nvSpPr>
          <p:spPr>
            <a:xfrm>
              <a:off x="977654" y="914399"/>
              <a:ext cx="1847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endParaRPr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D9EE3DA7-21BA-5E19-7A70-79ECBE70BEEB}"/>
              </a:ext>
            </a:extLst>
          </p:cNvPr>
          <p:cNvSpPr/>
          <p:nvPr/>
        </p:nvSpPr>
        <p:spPr>
          <a:xfrm>
            <a:off x="10945503" y="441325"/>
            <a:ext cx="659122" cy="659122"/>
          </a:xfrm>
          <a:prstGeom prst="rect">
            <a:avLst/>
          </a:prstGeom>
          <a:blipFill dpi="0" rotWithShape="1">
            <a:blip r:embed="rId2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E6161601-5808-BB64-6788-018B3398DEF7}"/>
              </a:ext>
            </a:extLst>
          </p:cNvPr>
          <p:cNvCxnSpPr/>
          <p:nvPr/>
        </p:nvCxnSpPr>
        <p:spPr>
          <a:xfrm>
            <a:off x="648833" y="490652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78FA0640-E4EC-49CD-4BD1-08A1D9ED466E}"/>
              </a:ext>
            </a:extLst>
          </p:cNvPr>
          <p:cNvSpPr txBox="1"/>
          <p:nvPr/>
        </p:nvSpPr>
        <p:spPr>
          <a:xfrm>
            <a:off x="542925" y="5786978"/>
            <a:ext cx="1321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CASE STUDY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RESEARCH.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9860B23A-27B2-64B0-55FC-F1D94C624F53}"/>
              </a:ext>
            </a:extLst>
          </p:cNvPr>
          <p:cNvCxnSpPr/>
          <p:nvPr/>
        </p:nvCxnSpPr>
        <p:spPr>
          <a:xfrm>
            <a:off x="648833" y="6391831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平行四边形 31">
            <a:extLst>
              <a:ext uri="{FF2B5EF4-FFF2-40B4-BE49-F238E27FC236}">
                <a16:creationId xmlns:a16="http://schemas.microsoft.com/office/drawing/2014/main" id="{94F2266F-7857-E471-304F-7BEB9C8D8C22}"/>
              </a:ext>
            </a:extLst>
          </p:cNvPr>
          <p:cNvSpPr/>
          <p:nvPr/>
        </p:nvSpPr>
        <p:spPr>
          <a:xfrm>
            <a:off x="742916" y="1419382"/>
            <a:ext cx="3272903" cy="3916098"/>
          </a:xfrm>
          <a:prstGeom prst="parallelogram">
            <a:avLst>
              <a:gd name="adj" fmla="val 8479"/>
            </a:avLst>
          </a:prstGeom>
          <a:noFill/>
          <a:ln w="317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5" name="平行四边形 34">
            <a:extLst>
              <a:ext uri="{FF2B5EF4-FFF2-40B4-BE49-F238E27FC236}">
                <a16:creationId xmlns:a16="http://schemas.microsoft.com/office/drawing/2014/main" id="{075E6424-7288-C4B7-D2A5-FABFBABB77B7}"/>
              </a:ext>
            </a:extLst>
          </p:cNvPr>
          <p:cNvSpPr/>
          <p:nvPr/>
        </p:nvSpPr>
        <p:spPr>
          <a:xfrm>
            <a:off x="4459548" y="1419382"/>
            <a:ext cx="3272903" cy="3916098"/>
          </a:xfrm>
          <a:prstGeom prst="parallelogram">
            <a:avLst>
              <a:gd name="adj" fmla="val 8479"/>
            </a:avLst>
          </a:prstGeom>
          <a:noFill/>
          <a:ln w="317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6" name="平行四边形 35">
            <a:extLst>
              <a:ext uri="{FF2B5EF4-FFF2-40B4-BE49-F238E27FC236}">
                <a16:creationId xmlns:a16="http://schemas.microsoft.com/office/drawing/2014/main" id="{4667CA4F-A1AA-FD2A-E8AA-6E4723615874}"/>
              </a:ext>
            </a:extLst>
          </p:cNvPr>
          <p:cNvSpPr/>
          <p:nvPr/>
        </p:nvSpPr>
        <p:spPr>
          <a:xfrm>
            <a:off x="8176180" y="1419381"/>
            <a:ext cx="3272903" cy="3916097"/>
          </a:xfrm>
          <a:prstGeom prst="parallelogram">
            <a:avLst>
              <a:gd name="adj" fmla="val 8479"/>
            </a:avLst>
          </a:prstGeom>
          <a:noFill/>
          <a:ln w="317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968D0F0-C89B-AA30-A37D-BB89F59527E0}"/>
              </a:ext>
            </a:extLst>
          </p:cNvPr>
          <p:cNvSpPr txBox="1"/>
          <p:nvPr/>
        </p:nvSpPr>
        <p:spPr>
          <a:xfrm>
            <a:off x="1774073" y="1735612"/>
            <a:ext cx="1210588" cy="3334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800"/>
              </a:lnSpc>
            </a:pPr>
            <a:r>
              <a:rPr lang="zh-CN" altLang="en-US" sz="2000" b="1" dirty="0">
                <a:effectLst/>
                <a:latin typeface="Consolas" panose="020B0609020204030204" pitchFamily="49" charset="0"/>
              </a:rPr>
              <a:t>备份数据</a:t>
            </a:r>
            <a:endParaRPr lang="zh-CN" altLang="en-US" sz="20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DE90F22-C710-4A1D-220E-90875CAC8F0B}"/>
              </a:ext>
            </a:extLst>
          </p:cNvPr>
          <p:cNvSpPr txBox="1"/>
          <p:nvPr/>
        </p:nvSpPr>
        <p:spPr>
          <a:xfrm>
            <a:off x="5164993" y="1634458"/>
            <a:ext cx="19800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2000" b="1" dirty="0">
                <a:effectLst/>
                <a:latin typeface="Consolas" panose="020B0609020204030204" pitchFamily="49" charset="0"/>
              </a:rPr>
              <a:t>用户和商品数据</a:t>
            </a:r>
            <a:endParaRPr lang="zh-CN" altLang="en-US" sz="2000" b="0" dirty="0"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w Cen MT Condensed Extra Bold" panose="020B0803020202020204" pitchFamily="34" charset="0"/>
              <a:ea typeface="碳纤维正中黑简体" panose="02010601030101010101" pitchFamily="2" charset="-122"/>
              <a:cs typeface="+mn-cs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A10AA58-4109-97AF-E297-555C4DC85B5F}"/>
              </a:ext>
            </a:extLst>
          </p:cNvPr>
          <p:cNvSpPr txBox="1"/>
          <p:nvPr/>
        </p:nvSpPr>
        <p:spPr>
          <a:xfrm>
            <a:off x="4647633" y="2055793"/>
            <a:ext cx="2896732" cy="3261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latin typeface="Consolas" panose="020B0609020204030204" pitchFamily="49" charset="0"/>
              </a:rPr>
              <a:t>这部分数据是主体数据，进行交易和用户浏览商品等等功能都依赖这部分的数据。</a:t>
            </a:r>
          </a:p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latin typeface="Consolas" panose="020B0609020204030204" pitchFamily="49" charset="0"/>
              </a:rPr>
              <a:t>由于这部分数据比较大，同时需要进行大量的随机读写，因此使用</a:t>
            </a:r>
            <a:r>
              <a:rPr lang="zh-CN" altLang="en-US" sz="1600" b="1" dirty="0">
                <a:latin typeface="Consolas" panose="020B0609020204030204" pitchFamily="49" charset="0"/>
              </a:rPr>
              <a:t>磁盘驱动器</a:t>
            </a:r>
            <a:r>
              <a:rPr lang="zh-CN" altLang="en-US" sz="1600" dirty="0">
                <a:latin typeface="Consolas" panose="020B0609020204030204" pitchFamily="49" charset="0"/>
              </a:rPr>
              <a:t>是最佳选择。同时在内存和磁盘之间加入</a:t>
            </a:r>
            <a:r>
              <a:rPr lang="zh-CN" altLang="en-US" sz="1600" b="1" dirty="0">
                <a:latin typeface="Consolas" panose="020B0609020204030204" pitchFamily="49" charset="0"/>
              </a:rPr>
              <a:t>闪存</a:t>
            </a:r>
            <a:r>
              <a:rPr lang="zh-CN" altLang="en-US" sz="1600" dirty="0">
                <a:latin typeface="Consolas" panose="020B0609020204030204" pitchFamily="49" charset="0"/>
              </a:rPr>
              <a:t>，能够提供一个类似于缓存的效果，提高读写效率，应对高访问量的情况。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F46ED467-C41B-E0DC-0DD5-ECAC57145001}"/>
              </a:ext>
            </a:extLst>
          </p:cNvPr>
          <p:cNvSpPr txBox="1"/>
          <p:nvPr/>
        </p:nvSpPr>
        <p:spPr>
          <a:xfrm>
            <a:off x="8449201" y="2130565"/>
            <a:ext cx="2896732" cy="2976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1600" dirty="0">
                <a:latin typeface="Consolas" panose="020B0609020204030204" pitchFamily="49" charset="0"/>
              </a:rPr>
              <a:t>日志数据每日增长量巨大（</a:t>
            </a:r>
            <a:r>
              <a:rPr lang="en-US" altLang="zh-CN" sz="1600" dirty="0">
                <a:latin typeface="Consolas" panose="020B0609020204030204" pitchFamily="49" charset="0"/>
              </a:rPr>
              <a:t>1TB</a:t>
            </a:r>
            <a:r>
              <a:rPr lang="zh-CN" altLang="en-US" sz="1600" dirty="0">
                <a:latin typeface="Consolas" panose="020B0609020204030204" pitchFamily="49" charset="0"/>
              </a:rPr>
              <a:t>），且生成频率高，写入操作密集，</a:t>
            </a:r>
            <a:r>
              <a:rPr lang="zh-CN" altLang="en-US" sz="1600" b="1" dirty="0">
                <a:latin typeface="Consolas" panose="020B0609020204030204" pitchFamily="49" charset="0"/>
              </a:rPr>
              <a:t>磁盘驱动器</a:t>
            </a:r>
            <a:r>
              <a:rPr lang="zh-CN" altLang="en-US" sz="1600" dirty="0">
                <a:latin typeface="Consolas" panose="020B0609020204030204" pitchFamily="49" charset="0"/>
              </a:rPr>
              <a:t>是存储日志数据的最佳选择。考虑到日志数据的巨大容量和相对较低的访问价值，使用</a:t>
            </a:r>
            <a:r>
              <a:rPr lang="en-US" altLang="zh-CN" sz="1600" dirty="0">
                <a:latin typeface="Consolas" panose="020B0609020204030204" pitchFamily="49" charset="0"/>
              </a:rPr>
              <a:t>HDD</a:t>
            </a:r>
            <a:r>
              <a:rPr lang="zh-CN" altLang="en-US" sz="1600" dirty="0">
                <a:latin typeface="Consolas" panose="020B0609020204030204" pitchFamily="49" charset="0"/>
              </a:rPr>
              <a:t>可以提供足够的写入带宽和经济的大容量存储。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宋刻本秀楷简体" panose="02000000000000000000" pitchFamily="2" charset="-122"/>
              <a:ea typeface="方正宋刻本秀楷简体" panose="02000000000000000000" pitchFamily="2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3EFBA15-CF49-6806-0689-B8B1EBC824D4}"/>
              </a:ext>
            </a:extLst>
          </p:cNvPr>
          <p:cNvSpPr txBox="1"/>
          <p:nvPr/>
        </p:nvSpPr>
        <p:spPr>
          <a:xfrm>
            <a:off x="1124702" y="609812"/>
            <a:ext cx="25074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智能化分层存储策略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3E269A2-C6D6-10B3-A654-80CE0589AC56}"/>
              </a:ext>
            </a:extLst>
          </p:cNvPr>
          <p:cNvSpPr txBox="1"/>
          <p:nvPr/>
        </p:nvSpPr>
        <p:spPr>
          <a:xfrm>
            <a:off x="1050645" y="2210079"/>
            <a:ext cx="2896732" cy="2270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0" dirty="0">
                <a:effectLst/>
                <a:latin typeface="Consolas" panose="020B0609020204030204" pitchFamily="49" charset="0"/>
              </a:rPr>
              <a:t>备份数据的核心需求是长期、低成本、安全地保存，且访问频率极低。因此，选择</a:t>
            </a:r>
            <a:r>
              <a:rPr lang="zh-CN" altLang="en-US" sz="1600" b="1" dirty="0">
                <a:effectLst/>
                <a:latin typeface="Consolas" panose="020B0609020204030204" pitchFamily="49" charset="0"/>
              </a:rPr>
              <a:t>磁带</a:t>
            </a:r>
            <a:r>
              <a:rPr lang="zh-CN" altLang="en-US" sz="1600" b="0" dirty="0">
                <a:effectLst/>
                <a:latin typeface="Consolas" panose="020B0609020204030204" pitchFamily="49" charset="0"/>
              </a:rPr>
              <a:t>进行备份数据存储，能够以最低的成本满足海量备份数据的存储需求，是性价比最高的方案。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B867AC4-1F30-1A49-998F-B4DB7CE50D40}"/>
              </a:ext>
            </a:extLst>
          </p:cNvPr>
          <p:cNvSpPr txBox="1"/>
          <p:nvPr/>
        </p:nvSpPr>
        <p:spPr>
          <a:xfrm>
            <a:off x="9292273" y="1634458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2000" b="1" dirty="0">
                <a:effectLst/>
                <a:latin typeface="Consolas" panose="020B0609020204030204" pitchFamily="49" charset="0"/>
              </a:rPr>
              <a:t>日志数据</a:t>
            </a:r>
            <a:endParaRPr lang="zh-CN" altLang="en-US" sz="2000" b="0" dirty="0"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w Cen MT Condensed Extra Bold" panose="020B0803020202020204" pitchFamily="34" charset="0"/>
              <a:ea typeface="碳纤维正中黑简体" panose="02010601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36522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4B5C8-E204-748B-2ADE-3BCC69B65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3">
            <a:extLst>
              <a:ext uri="{FF2B5EF4-FFF2-40B4-BE49-F238E27FC236}">
                <a16:creationId xmlns:a16="http://schemas.microsoft.com/office/drawing/2014/main" id="{FE9816FD-CA27-4A17-4F54-06930F7216BE}"/>
              </a:ext>
            </a:extLst>
          </p:cNvPr>
          <p:cNvSpPr/>
          <p:nvPr/>
        </p:nvSpPr>
        <p:spPr>
          <a:xfrm>
            <a:off x="5178649" y="2371724"/>
            <a:ext cx="1953935" cy="2114550"/>
          </a:xfrm>
          <a:prstGeom prst="parallelogram">
            <a:avLst>
              <a:gd name="adj" fmla="val 14746"/>
            </a:avLst>
          </a:prstGeom>
          <a:solidFill>
            <a:srgbClr val="0B88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3" name="平行四边形 22">
            <a:extLst>
              <a:ext uri="{FF2B5EF4-FFF2-40B4-BE49-F238E27FC236}">
                <a16:creationId xmlns:a16="http://schemas.microsoft.com/office/drawing/2014/main" id="{D8C36F98-4F07-314A-50CB-36F88F5C5739}"/>
              </a:ext>
            </a:extLst>
          </p:cNvPr>
          <p:cNvSpPr/>
          <p:nvPr/>
        </p:nvSpPr>
        <p:spPr>
          <a:xfrm>
            <a:off x="525701" y="2371724"/>
            <a:ext cx="1953935" cy="2132431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4" name="平行四边形 23">
            <a:extLst>
              <a:ext uri="{FF2B5EF4-FFF2-40B4-BE49-F238E27FC236}">
                <a16:creationId xmlns:a16="http://schemas.microsoft.com/office/drawing/2014/main" id="{2618E6AD-CF55-1C91-8D1C-41273FBA806E}"/>
              </a:ext>
            </a:extLst>
          </p:cNvPr>
          <p:cNvSpPr/>
          <p:nvPr/>
        </p:nvSpPr>
        <p:spPr>
          <a:xfrm>
            <a:off x="2852175" y="2389605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6" name="平行四边形 25">
            <a:extLst>
              <a:ext uri="{FF2B5EF4-FFF2-40B4-BE49-F238E27FC236}">
                <a16:creationId xmlns:a16="http://schemas.microsoft.com/office/drawing/2014/main" id="{469C19B7-60D7-F9A8-F68A-274739147816}"/>
              </a:ext>
            </a:extLst>
          </p:cNvPr>
          <p:cNvSpPr/>
          <p:nvPr/>
        </p:nvSpPr>
        <p:spPr>
          <a:xfrm>
            <a:off x="7480783" y="2371724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7" name="平行四边形 26">
            <a:extLst>
              <a:ext uri="{FF2B5EF4-FFF2-40B4-BE49-F238E27FC236}">
                <a16:creationId xmlns:a16="http://schemas.microsoft.com/office/drawing/2014/main" id="{E02ABEE8-DBE0-EC8E-90CC-7AE6AF60CF52}"/>
              </a:ext>
            </a:extLst>
          </p:cNvPr>
          <p:cNvSpPr/>
          <p:nvPr/>
        </p:nvSpPr>
        <p:spPr>
          <a:xfrm>
            <a:off x="9782917" y="2398728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9F8B5EC-2FA1-76BB-0FCE-DA9875395752}"/>
              </a:ext>
            </a:extLst>
          </p:cNvPr>
          <p:cNvSpPr txBox="1"/>
          <p:nvPr/>
        </p:nvSpPr>
        <p:spPr>
          <a:xfrm>
            <a:off x="1301081" y="2486686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anose="02010600030101010101" pitchFamily="2" charset="-122"/>
                <a:cs typeface="+mn-cs"/>
              </a:rPr>
              <a:t>01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11A25BE-58B8-76FA-CEF2-76CFC3E16856}"/>
              </a:ext>
            </a:extLst>
          </p:cNvPr>
          <p:cNvSpPr txBox="1"/>
          <p:nvPr/>
        </p:nvSpPr>
        <p:spPr>
          <a:xfrm>
            <a:off x="742685" y="3254908"/>
            <a:ext cx="15199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i="1" spc="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存储需求分析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81A1BA3-9683-9334-20D2-6DBFC0264758}"/>
              </a:ext>
            </a:extLst>
          </p:cNvPr>
          <p:cNvSpPr txBox="1"/>
          <p:nvPr/>
        </p:nvSpPr>
        <p:spPr>
          <a:xfrm>
            <a:off x="3590188" y="2486685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anose="02010600030101010101" pitchFamily="2" charset="-122"/>
                <a:cs typeface="+mn-cs"/>
              </a:rPr>
              <a:t>02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F82B782-2936-DD7C-C04C-1DA9DE2C6AEE}"/>
              </a:ext>
            </a:extLst>
          </p:cNvPr>
          <p:cNvSpPr txBox="1"/>
          <p:nvPr/>
        </p:nvSpPr>
        <p:spPr>
          <a:xfrm>
            <a:off x="3014210" y="3249519"/>
            <a:ext cx="15199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i="1" spc="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存储媒介选择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98C72C5-BBC7-A39F-D162-6957F9B7A18F}"/>
              </a:ext>
            </a:extLst>
          </p:cNvPr>
          <p:cNvSpPr txBox="1"/>
          <p:nvPr/>
        </p:nvSpPr>
        <p:spPr>
          <a:xfrm>
            <a:off x="5908537" y="2486685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anose="02010600030101010101" pitchFamily="2" charset="-122"/>
                <a:cs typeface="+mn-cs"/>
              </a:rPr>
              <a:t>03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 Condensed Extra Bold" panose="020B08030202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92899A6-6FB6-998B-BFE1-240689EAD7CA}"/>
              </a:ext>
            </a:extLst>
          </p:cNvPr>
          <p:cNvSpPr txBox="1"/>
          <p:nvPr/>
        </p:nvSpPr>
        <p:spPr>
          <a:xfrm>
            <a:off x="5327910" y="3260736"/>
            <a:ext cx="15199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i="1" spc="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RAID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i="1" spc="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级别选择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0CC5B87-71B7-1AA3-B635-0A610E2708D0}"/>
              </a:ext>
            </a:extLst>
          </p:cNvPr>
          <p:cNvSpPr txBox="1"/>
          <p:nvPr/>
        </p:nvSpPr>
        <p:spPr>
          <a:xfrm>
            <a:off x="8161363" y="2486685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anose="02010600030101010101" pitchFamily="2" charset="-122"/>
                <a:cs typeface="+mn-cs"/>
              </a:rPr>
              <a:t>04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DB9198B-4CE2-2A03-8F18-FF1FB7119178}"/>
              </a:ext>
            </a:extLst>
          </p:cNvPr>
          <p:cNvSpPr txBox="1"/>
          <p:nvPr/>
        </p:nvSpPr>
        <p:spPr>
          <a:xfrm>
            <a:off x="10468141" y="2513689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anose="02010600030101010101" pitchFamily="2" charset="-122"/>
                <a:cs typeface="+mn-cs"/>
              </a:rPr>
              <a:t>05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A481DCDB-84D7-72AE-446D-0894CA7979C6}"/>
              </a:ext>
            </a:extLst>
          </p:cNvPr>
          <p:cNvSpPr txBox="1"/>
          <p:nvPr/>
        </p:nvSpPr>
        <p:spPr>
          <a:xfrm>
            <a:off x="10852496" y="5811559"/>
            <a:ext cx="7521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目录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B6938C7-C8AF-9CDA-4AEB-93EA5716FC8F}"/>
              </a:ext>
            </a:extLst>
          </p:cNvPr>
          <p:cNvSpPr txBox="1"/>
          <p:nvPr/>
        </p:nvSpPr>
        <p:spPr>
          <a:xfrm>
            <a:off x="9626198" y="6088558"/>
            <a:ext cx="19784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anose="02010600030101010101" pitchFamily="2" charset="-122"/>
                <a:cs typeface="+mn-cs"/>
              </a:rPr>
              <a:t>CONTENTS</a:t>
            </a:r>
            <a:endParaRPr kumimoji="0" lang="zh-CN" altLang="en-US" sz="36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C5EECDA-8552-AC36-8312-7C8A197FD4F4}"/>
              </a:ext>
            </a:extLst>
          </p:cNvPr>
          <p:cNvSpPr txBox="1"/>
          <p:nvPr/>
        </p:nvSpPr>
        <p:spPr>
          <a:xfrm>
            <a:off x="600716" y="652403"/>
            <a:ext cx="1217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整体框架</a:t>
            </a: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5C6BA23B-EC6C-88F0-2ACA-A59F413B3F26}"/>
              </a:ext>
            </a:extLst>
          </p:cNvPr>
          <p:cNvCxnSpPr/>
          <p:nvPr/>
        </p:nvCxnSpPr>
        <p:spPr>
          <a:xfrm>
            <a:off x="648833" y="490652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4AB242BA-7194-DEF4-6788-D1EBD3EBA0DA}"/>
              </a:ext>
            </a:extLst>
          </p:cNvPr>
          <p:cNvSpPr txBox="1"/>
          <p:nvPr/>
        </p:nvSpPr>
        <p:spPr>
          <a:xfrm>
            <a:off x="542925" y="5786978"/>
            <a:ext cx="1321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CASE STUDY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RESEARCH.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0762EB8A-EDFD-6180-7A7F-EC50D6604184}"/>
              </a:ext>
            </a:extLst>
          </p:cNvPr>
          <p:cNvCxnSpPr/>
          <p:nvPr/>
        </p:nvCxnSpPr>
        <p:spPr>
          <a:xfrm>
            <a:off x="648833" y="6391831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A433211C-CBFE-BF59-C35B-12C2E10897EB}"/>
              </a:ext>
            </a:extLst>
          </p:cNvPr>
          <p:cNvSpPr/>
          <p:nvPr/>
        </p:nvSpPr>
        <p:spPr>
          <a:xfrm>
            <a:off x="10945503" y="441325"/>
            <a:ext cx="659122" cy="659122"/>
          </a:xfrm>
          <a:prstGeom prst="rect">
            <a:avLst/>
          </a:prstGeom>
          <a:blipFill dpi="0" rotWithShape="1">
            <a:blip r:embed="rId2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58D16C0-2E2E-3483-1F62-6E18B885D3D8}"/>
              </a:ext>
            </a:extLst>
          </p:cNvPr>
          <p:cNvSpPr txBox="1"/>
          <p:nvPr/>
        </p:nvSpPr>
        <p:spPr>
          <a:xfrm>
            <a:off x="7657822" y="3260736"/>
            <a:ext cx="15199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i="1" spc="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网络存储架构设计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14E712F-406F-EFAE-0EEC-2BE8E9118929}"/>
              </a:ext>
            </a:extLst>
          </p:cNvPr>
          <p:cNvSpPr txBox="1"/>
          <p:nvPr/>
        </p:nvSpPr>
        <p:spPr>
          <a:xfrm>
            <a:off x="9929347" y="3249519"/>
            <a:ext cx="15199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i="1" spc="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备份策略设计</a:t>
            </a:r>
          </a:p>
        </p:txBody>
      </p:sp>
    </p:spTree>
    <p:extLst>
      <p:ext uri="{BB962C8B-B14F-4D97-AF65-F5344CB8AC3E}">
        <p14:creationId xmlns:p14="http://schemas.microsoft.com/office/powerpoint/2010/main" val="12782689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47AD9-E852-C7C0-D14C-329FA0810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A001FDB-0C95-F736-3E3D-682F84CBA10D}"/>
              </a:ext>
            </a:extLst>
          </p:cNvPr>
          <p:cNvSpPr txBox="1"/>
          <p:nvPr/>
        </p:nvSpPr>
        <p:spPr>
          <a:xfrm>
            <a:off x="587375" y="621626"/>
            <a:ext cx="53732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Tw Cen MT Condensed Extra Bold" panose="020B0803020202020204" pitchFamily="34" charset="0"/>
                <a:ea typeface="等线" panose="02010600030101010101" pitchFamily="2" charset="-122"/>
              </a:rPr>
              <a:t>3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anose="02010600030101010101" pitchFamily="2" charset="-122"/>
                <a:cs typeface="+mn-cs"/>
              </a:rPr>
              <a:t>.1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Condensed Extra Bold" panose="020B08030202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904B00-F6A1-8CFE-A4A4-E530845D533C}"/>
              </a:ext>
            </a:extLst>
          </p:cNvPr>
          <p:cNvSpPr/>
          <p:nvPr/>
        </p:nvSpPr>
        <p:spPr>
          <a:xfrm>
            <a:off x="10945503" y="441325"/>
            <a:ext cx="659122" cy="659122"/>
          </a:xfrm>
          <a:prstGeom prst="rect">
            <a:avLst/>
          </a:prstGeom>
          <a:blipFill dpi="0" rotWithShape="1">
            <a:blip r:embed="rId2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2D057E1-5801-1167-5614-8AD0BF04801F}"/>
              </a:ext>
            </a:extLst>
          </p:cNvPr>
          <p:cNvCxnSpPr/>
          <p:nvPr/>
        </p:nvCxnSpPr>
        <p:spPr>
          <a:xfrm>
            <a:off x="648833" y="490652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981D2019-3015-EE61-7133-CAEC3F1B6EE4}"/>
              </a:ext>
            </a:extLst>
          </p:cNvPr>
          <p:cNvSpPr txBox="1"/>
          <p:nvPr/>
        </p:nvSpPr>
        <p:spPr>
          <a:xfrm>
            <a:off x="542925" y="5786978"/>
            <a:ext cx="1321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CASE STUDY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RESEARCH.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489C9DFF-530C-7220-268C-964EE8C31E17}"/>
              </a:ext>
            </a:extLst>
          </p:cNvPr>
          <p:cNvCxnSpPr/>
          <p:nvPr/>
        </p:nvCxnSpPr>
        <p:spPr>
          <a:xfrm>
            <a:off x="648833" y="6391831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5590A94C-3BA5-D277-B2B7-7AE2A8CB52E4}"/>
              </a:ext>
            </a:extLst>
          </p:cNvPr>
          <p:cNvGrpSpPr/>
          <p:nvPr/>
        </p:nvGrpSpPr>
        <p:grpSpPr>
          <a:xfrm>
            <a:off x="1089905" y="1302615"/>
            <a:ext cx="6038862" cy="1212510"/>
            <a:chOff x="5474326" y="1122027"/>
            <a:chExt cx="6038862" cy="1212510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0EC5E936-5C75-A815-9D15-57281B7D1FD7}"/>
                </a:ext>
              </a:extLst>
            </p:cNvPr>
            <p:cNvSpPr txBox="1"/>
            <p:nvPr/>
          </p:nvSpPr>
          <p:spPr>
            <a:xfrm>
              <a:off x="6959235" y="1367132"/>
              <a:ext cx="30908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2C4EF76A-568E-1E10-DC22-BD5D54F6F710}"/>
                </a:ext>
              </a:extLst>
            </p:cNvPr>
            <p:cNvSpPr txBox="1"/>
            <p:nvPr/>
          </p:nvSpPr>
          <p:spPr>
            <a:xfrm>
              <a:off x="5560841" y="1503540"/>
              <a:ext cx="595234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0" dirty="0">
                  <a:effectLst/>
                  <a:latin typeface="Consolas" panose="020B0609020204030204" pitchFamily="49" charset="0"/>
                </a:rPr>
                <a:t>数据被分成块，每个数据块先被复制到另一个磁盘上（镜像），然后这些镜像对（逻辑上的一个单元）再以条带化的方式分布到多个磁盘组上。</a:t>
              </a:r>
            </a:p>
          </p:txBody>
        </p:sp>
        <p:sp>
          <p:nvSpPr>
            <p:cNvPr id="22" name="iconfont-11180-4674648">
              <a:extLst>
                <a:ext uri="{FF2B5EF4-FFF2-40B4-BE49-F238E27FC236}">
                  <a16:creationId xmlns:a16="http://schemas.microsoft.com/office/drawing/2014/main" id="{74F6C30C-3BCC-6C45-E4EC-1D52B21D463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74326" y="1122027"/>
              <a:ext cx="249971" cy="249971"/>
            </a:xfrm>
            <a:custGeom>
              <a:avLst/>
              <a:gdLst>
                <a:gd name="T0" fmla="*/ 6903 w 13303"/>
                <a:gd name="T1" fmla="*/ 13303 h 13303"/>
                <a:gd name="T2" fmla="*/ 990 w 13303"/>
                <a:gd name="T3" fmla="*/ 9352 h 13303"/>
                <a:gd name="T4" fmla="*/ 2378 w 13303"/>
                <a:gd name="T5" fmla="*/ 2378 h 13303"/>
                <a:gd name="T6" fmla="*/ 9352 w 13303"/>
                <a:gd name="T7" fmla="*/ 990 h 13303"/>
                <a:gd name="T8" fmla="*/ 13303 w 13303"/>
                <a:gd name="T9" fmla="*/ 6903 h 13303"/>
                <a:gd name="T10" fmla="*/ 11428 w 13303"/>
                <a:gd name="T11" fmla="*/ 11428 h 13303"/>
                <a:gd name="T12" fmla="*/ 6903 w 13303"/>
                <a:gd name="T13" fmla="*/ 13303 h 13303"/>
                <a:gd name="T14" fmla="*/ 10243 w 13303"/>
                <a:gd name="T15" fmla="*/ 4852 h 13303"/>
                <a:gd name="T16" fmla="*/ 9597 w 13303"/>
                <a:gd name="T17" fmla="*/ 4852 h 13303"/>
                <a:gd name="T18" fmla="*/ 6041 w 13303"/>
                <a:gd name="T19" fmla="*/ 8405 h 13303"/>
                <a:gd name="T20" fmla="*/ 4209 w 13303"/>
                <a:gd name="T21" fmla="*/ 6574 h 13303"/>
                <a:gd name="T22" fmla="*/ 3572 w 13303"/>
                <a:gd name="T23" fmla="*/ 6583 h 13303"/>
                <a:gd name="T24" fmla="*/ 3563 w 13303"/>
                <a:gd name="T25" fmla="*/ 7220 h 13303"/>
                <a:gd name="T26" fmla="*/ 5718 w 13303"/>
                <a:gd name="T27" fmla="*/ 9378 h 13303"/>
                <a:gd name="T28" fmla="*/ 6364 w 13303"/>
                <a:gd name="T29" fmla="*/ 9378 h 13303"/>
                <a:gd name="T30" fmla="*/ 10243 w 13303"/>
                <a:gd name="T31" fmla="*/ 5498 h 13303"/>
                <a:gd name="T32" fmla="*/ 10243 w 13303"/>
                <a:gd name="T33" fmla="*/ 4852 h 13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303" h="13303">
                  <a:moveTo>
                    <a:pt x="6903" y="13303"/>
                  </a:moveTo>
                  <a:cubicBezTo>
                    <a:pt x="4314" y="13303"/>
                    <a:pt x="1981" y="11744"/>
                    <a:pt x="990" y="9352"/>
                  </a:cubicBezTo>
                  <a:cubicBezTo>
                    <a:pt x="0" y="6961"/>
                    <a:pt x="547" y="4208"/>
                    <a:pt x="2378" y="2378"/>
                  </a:cubicBezTo>
                  <a:cubicBezTo>
                    <a:pt x="4208" y="547"/>
                    <a:pt x="6961" y="0"/>
                    <a:pt x="9352" y="990"/>
                  </a:cubicBezTo>
                  <a:cubicBezTo>
                    <a:pt x="11744" y="1981"/>
                    <a:pt x="13303" y="4314"/>
                    <a:pt x="13303" y="6903"/>
                  </a:cubicBezTo>
                  <a:cubicBezTo>
                    <a:pt x="13303" y="8600"/>
                    <a:pt x="12629" y="10228"/>
                    <a:pt x="11428" y="11428"/>
                  </a:cubicBezTo>
                  <a:cubicBezTo>
                    <a:pt x="10228" y="12629"/>
                    <a:pt x="8600" y="13303"/>
                    <a:pt x="6903" y="13303"/>
                  </a:cubicBezTo>
                  <a:close/>
                  <a:moveTo>
                    <a:pt x="10243" y="4852"/>
                  </a:moveTo>
                  <a:cubicBezTo>
                    <a:pt x="10065" y="4672"/>
                    <a:pt x="9775" y="4672"/>
                    <a:pt x="9597" y="4852"/>
                  </a:cubicBezTo>
                  <a:lnTo>
                    <a:pt x="6041" y="8405"/>
                  </a:lnTo>
                  <a:lnTo>
                    <a:pt x="4209" y="6574"/>
                  </a:lnTo>
                  <a:cubicBezTo>
                    <a:pt x="4029" y="6404"/>
                    <a:pt x="3747" y="6408"/>
                    <a:pt x="3572" y="6583"/>
                  </a:cubicBezTo>
                  <a:cubicBezTo>
                    <a:pt x="3397" y="6758"/>
                    <a:pt x="3393" y="7040"/>
                    <a:pt x="3563" y="7220"/>
                  </a:cubicBezTo>
                  <a:lnTo>
                    <a:pt x="5718" y="9378"/>
                  </a:lnTo>
                  <a:cubicBezTo>
                    <a:pt x="5897" y="9554"/>
                    <a:pt x="6185" y="9554"/>
                    <a:pt x="6364" y="9378"/>
                  </a:cubicBezTo>
                  <a:lnTo>
                    <a:pt x="10243" y="5498"/>
                  </a:lnTo>
                  <a:cubicBezTo>
                    <a:pt x="10421" y="5320"/>
                    <a:pt x="10421" y="5030"/>
                    <a:pt x="10243" y="485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</p:sp>
      </p:grpSp>
      <p:sp>
        <p:nvSpPr>
          <p:cNvPr id="23" name="iconfont-10585-5147501">
            <a:extLst>
              <a:ext uri="{FF2B5EF4-FFF2-40B4-BE49-F238E27FC236}">
                <a16:creationId xmlns:a16="http://schemas.microsoft.com/office/drawing/2014/main" id="{C9968E4B-AFF9-A31A-570C-830D4426D37E}"/>
              </a:ext>
            </a:extLst>
          </p:cNvPr>
          <p:cNvSpPr>
            <a:spLocks noChangeAspect="1"/>
          </p:cNvSpPr>
          <p:nvPr/>
        </p:nvSpPr>
        <p:spPr bwMode="auto">
          <a:xfrm>
            <a:off x="1089902" y="2599678"/>
            <a:ext cx="331155" cy="250605"/>
          </a:xfrm>
          <a:custGeom>
            <a:avLst/>
            <a:gdLst>
              <a:gd name="T0" fmla="*/ 8851 w 12288"/>
              <a:gd name="T1" fmla="*/ 2190 h 9507"/>
              <a:gd name="T2" fmla="*/ 5095 w 12288"/>
              <a:gd name="T3" fmla="*/ 299 h 9507"/>
              <a:gd name="T4" fmla="*/ 2323 w 12288"/>
              <a:gd name="T5" fmla="*/ 3463 h 9507"/>
              <a:gd name="T6" fmla="*/ 0 w 12288"/>
              <a:gd name="T7" fmla="*/ 6419 h 9507"/>
              <a:gd name="T8" fmla="*/ 3072 w 12288"/>
              <a:gd name="T9" fmla="*/ 9507 h 9507"/>
              <a:gd name="T10" fmla="*/ 8832 w 12288"/>
              <a:gd name="T11" fmla="*/ 9507 h 9507"/>
              <a:gd name="T12" fmla="*/ 12288 w 12288"/>
              <a:gd name="T13" fmla="*/ 5839 h 9507"/>
              <a:gd name="T14" fmla="*/ 8851 w 12288"/>
              <a:gd name="T15" fmla="*/ 2190 h 9507"/>
              <a:gd name="T16" fmla="*/ 7857 w 12288"/>
              <a:gd name="T17" fmla="*/ 5994 h 9507"/>
              <a:gd name="T18" fmla="*/ 7455 w 12288"/>
              <a:gd name="T19" fmla="*/ 5994 h 9507"/>
              <a:gd name="T20" fmla="*/ 7253 w 12288"/>
              <a:gd name="T21" fmla="*/ 6186 h 9507"/>
              <a:gd name="T22" fmla="*/ 7248 w 12288"/>
              <a:gd name="T23" fmla="*/ 8151 h 9507"/>
              <a:gd name="T24" fmla="*/ 6845 w 12288"/>
              <a:gd name="T25" fmla="*/ 8535 h 9507"/>
              <a:gd name="T26" fmla="*/ 5441 w 12288"/>
              <a:gd name="T27" fmla="*/ 8535 h 9507"/>
              <a:gd name="T28" fmla="*/ 5039 w 12288"/>
              <a:gd name="T29" fmla="*/ 8151 h 9507"/>
              <a:gd name="T30" fmla="*/ 5034 w 12288"/>
              <a:gd name="T31" fmla="*/ 6186 h 9507"/>
              <a:gd name="T32" fmla="*/ 4832 w 12288"/>
              <a:gd name="T33" fmla="*/ 5994 h 9507"/>
              <a:gd name="T34" fmla="*/ 4429 w 12288"/>
              <a:gd name="T35" fmla="*/ 5994 h 9507"/>
              <a:gd name="T36" fmla="*/ 4026 w 12288"/>
              <a:gd name="T37" fmla="*/ 5610 h 9507"/>
              <a:gd name="T38" fmla="*/ 4104 w 12288"/>
              <a:gd name="T39" fmla="*/ 5380 h 9507"/>
              <a:gd name="T40" fmla="*/ 5784 w 12288"/>
              <a:gd name="T41" fmla="*/ 3442 h 9507"/>
              <a:gd name="T42" fmla="*/ 6499 w 12288"/>
              <a:gd name="T43" fmla="*/ 3442 h 9507"/>
              <a:gd name="T44" fmla="*/ 8180 w 12288"/>
              <a:gd name="T45" fmla="*/ 5380 h 9507"/>
              <a:gd name="T46" fmla="*/ 8259 w 12288"/>
              <a:gd name="T47" fmla="*/ 5610 h 9507"/>
              <a:gd name="T48" fmla="*/ 7857 w 12288"/>
              <a:gd name="T49" fmla="*/ 5994 h 95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2288" h="9507">
                <a:moveTo>
                  <a:pt x="8851" y="2190"/>
                </a:moveTo>
                <a:cubicBezTo>
                  <a:pt x="8176" y="777"/>
                  <a:pt x="6631" y="0"/>
                  <a:pt x="5095" y="299"/>
                </a:cubicBezTo>
                <a:cubicBezTo>
                  <a:pt x="3558" y="599"/>
                  <a:pt x="2418" y="1900"/>
                  <a:pt x="2323" y="3463"/>
                </a:cubicBezTo>
                <a:cubicBezTo>
                  <a:pt x="979" y="3847"/>
                  <a:pt x="0" y="5028"/>
                  <a:pt x="0" y="6419"/>
                </a:cubicBezTo>
                <a:cubicBezTo>
                  <a:pt x="0" y="8061"/>
                  <a:pt x="1363" y="9410"/>
                  <a:pt x="3072" y="9507"/>
                </a:cubicBezTo>
                <a:lnTo>
                  <a:pt x="8832" y="9507"/>
                </a:lnTo>
                <a:cubicBezTo>
                  <a:pt x="10732" y="9507"/>
                  <a:pt x="12288" y="7865"/>
                  <a:pt x="12288" y="5839"/>
                </a:cubicBezTo>
                <a:cubicBezTo>
                  <a:pt x="12287" y="3889"/>
                  <a:pt x="10770" y="2288"/>
                  <a:pt x="8851" y="2190"/>
                </a:cubicBezTo>
                <a:close/>
                <a:moveTo>
                  <a:pt x="7857" y="5994"/>
                </a:moveTo>
                <a:lnTo>
                  <a:pt x="7455" y="5994"/>
                </a:lnTo>
                <a:cubicBezTo>
                  <a:pt x="7347" y="5992"/>
                  <a:pt x="7257" y="6077"/>
                  <a:pt x="7253" y="6186"/>
                </a:cubicBezTo>
                <a:lnTo>
                  <a:pt x="7248" y="8151"/>
                </a:lnTo>
                <a:cubicBezTo>
                  <a:pt x="7243" y="8368"/>
                  <a:pt x="7062" y="8541"/>
                  <a:pt x="6845" y="8535"/>
                </a:cubicBezTo>
                <a:lnTo>
                  <a:pt x="5441" y="8535"/>
                </a:lnTo>
                <a:cubicBezTo>
                  <a:pt x="5223" y="8541"/>
                  <a:pt x="5043" y="8368"/>
                  <a:pt x="5039" y="8151"/>
                </a:cubicBezTo>
                <a:lnTo>
                  <a:pt x="5034" y="6186"/>
                </a:lnTo>
                <a:cubicBezTo>
                  <a:pt x="5031" y="6077"/>
                  <a:pt x="4940" y="5991"/>
                  <a:pt x="4832" y="5994"/>
                </a:cubicBezTo>
                <a:lnTo>
                  <a:pt x="4429" y="5994"/>
                </a:lnTo>
                <a:cubicBezTo>
                  <a:pt x="4212" y="5998"/>
                  <a:pt x="4032" y="5827"/>
                  <a:pt x="4026" y="5610"/>
                </a:cubicBezTo>
                <a:cubicBezTo>
                  <a:pt x="4025" y="5527"/>
                  <a:pt x="4053" y="5446"/>
                  <a:pt x="4104" y="5380"/>
                </a:cubicBezTo>
                <a:lnTo>
                  <a:pt x="5784" y="3442"/>
                </a:lnTo>
                <a:cubicBezTo>
                  <a:pt x="5986" y="3254"/>
                  <a:pt x="6298" y="3254"/>
                  <a:pt x="6499" y="3442"/>
                </a:cubicBezTo>
                <a:lnTo>
                  <a:pt x="8180" y="5380"/>
                </a:lnTo>
                <a:cubicBezTo>
                  <a:pt x="8231" y="5446"/>
                  <a:pt x="8259" y="5526"/>
                  <a:pt x="8259" y="5610"/>
                </a:cubicBezTo>
                <a:cubicBezTo>
                  <a:pt x="8254" y="5827"/>
                  <a:pt x="8074" y="5999"/>
                  <a:pt x="7857" y="599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2555228-0CE0-24CB-7AC1-505C8B7571F8}"/>
              </a:ext>
            </a:extLst>
          </p:cNvPr>
          <p:cNvSpPr txBox="1"/>
          <p:nvPr/>
        </p:nvSpPr>
        <p:spPr>
          <a:xfrm>
            <a:off x="1124702" y="621626"/>
            <a:ext cx="47195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sz="20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RAID </a:t>
            </a:r>
            <a:r>
              <a:rPr lang="zh-CN" altLang="en-US" sz="20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级别的选择：</a:t>
            </a:r>
            <a:r>
              <a:rPr lang="en-US" altLang="zh-CN" sz="20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RAID 10 (RAID 1+0)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AB1E036-AECC-8199-92C6-D5AA706C10A2}"/>
              </a:ext>
            </a:extLst>
          </p:cNvPr>
          <p:cNvSpPr txBox="1"/>
          <p:nvPr/>
        </p:nvSpPr>
        <p:spPr>
          <a:xfrm>
            <a:off x="1413813" y="1242335"/>
            <a:ext cx="13422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工作原理</a:t>
            </a: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9AAF50CD-3F7C-0FF0-8B66-29B26A9611DC}"/>
              </a:ext>
            </a:extLst>
          </p:cNvPr>
          <p:cNvGrpSpPr/>
          <p:nvPr/>
        </p:nvGrpSpPr>
        <p:grpSpPr>
          <a:xfrm>
            <a:off x="1176418" y="2850283"/>
            <a:ext cx="6085515" cy="1382903"/>
            <a:chOff x="5560842" y="1367132"/>
            <a:chExt cx="5952348" cy="1382903"/>
          </a:xfrm>
        </p:grpSpPr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9A34E43E-C92E-28B2-50DA-7202D3AF13ED}"/>
                </a:ext>
              </a:extLst>
            </p:cNvPr>
            <p:cNvSpPr txBox="1"/>
            <p:nvPr/>
          </p:nvSpPr>
          <p:spPr>
            <a:xfrm>
              <a:off x="6959235" y="1367132"/>
              <a:ext cx="30908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63BDA9E2-99B4-EA1E-D455-C97DBE5B161C}"/>
                </a:ext>
              </a:extLst>
            </p:cNvPr>
            <p:cNvSpPr txBox="1"/>
            <p:nvPr/>
          </p:nvSpPr>
          <p:spPr>
            <a:xfrm>
              <a:off x="5560842" y="1503540"/>
              <a:ext cx="5952348" cy="12464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800"/>
                </a:lnSpc>
              </a:pPr>
              <a:r>
                <a:rPr lang="zh-CN" altLang="en-US" sz="1600" dirty="0">
                  <a:latin typeface="Consolas" panose="020B0609020204030204" pitchFamily="49" charset="0"/>
                </a:rPr>
                <a:t>它同时拥有</a:t>
              </a:r>
              <a:r>
                <a:rPr lang="en-US" altLang="zh-CN" sz="1600" dirty="0">
                  <a:latin typeface="Consolas" panose="020B0609020204030204" pitchFamily="49" charset="0"/>
                </a:rPr>
                <a:t>RAID 0</a:t>
              </a:r>
              <a:r>
                <a:rPr lang="zh-CN" altLang="en-US" sz="1600" dirty="0">
                  <a:latin typeface="Consolas" panose="020B0609020204030204" pitchFamily="49" charset="0"/>
                </a:rPr>
                <a:t>的卓越读写速度（因为</a:t>
              </a:r>
              <a:r>
                <a:rPr lang="en-US" altLang="zh-CN" sz="1600" dirty="0">
                  <a:latin typeface="Consolas" panose="020B0609020204030204" pitchFamily="49" charset="0"/>
                </a:rPr>
                <a:t>I/O</a:t>
              </a:r>
              <a:r>
                <a:rPr lang="zh-CN" altLang="en-US" sz="1600" dirty="0">
                  <a:latin typeface="Consolas" panose="020B0609020204030204" pitchFamily="49" charset="0"/>
                </a:rPr>
                <a:t>请求可以并行分发到多个条带化的镜像对）和</a:t>
              </a:r>
              <a:r>
                <a:rPr lang="en-US" altLang="zh-CN" sz="1600" dirty="0">
                  <a:latin typeface="Consolas" panose="020B0609020204030204" pitchFamily="49" charset="0"/>
                </a:rPr>
                <a:t>RAID 1</a:t>
              </a:r>
              <a:r>
                <a:rPr lang="zh-CN" altLang="en-US" sz="1600" dirty="0">
                  <a:latin typeface="Consolas" panose="020B0609020204030204" pitchFamily="49" charset="0"/>
                </a:rPr>
                <a:t>的极高数据可靠性（每个数据块都有一个完整的副本。相比</a:t>
              </a:r>
              <a:r>
                <a:rPr lang="en-US" altLang="zh-CN" sz="1600" dirty="0">
                  <a:latin typeface="Consolas" panose="020B0609020204030204" pitchFamily="49" charset="0"/>
                </a:rPr>
                <a:t>RAID 5</a:t>
              </a:r>
              <a:r>
                <a:rPr lang="zh-CN" altLang="en-US" sz="1600" dirty="0">
                  <a:latin typeface="Consolas" panose="020B0609020204030204" pitchFamily="49" charset="0"/>
                </a:rPr>
                <a:t>，</a:t>
              </a:r>
              <a:r>
                <a:rPr lang="en-US" altLang="zh-CN" sz="1600" dirty="0">
                  <a:latin typeface="Consolas" panose="020B0609020204030204" pitchFamily="49" charset="0"/>
                </a:rPr>
                <a:t>RAID 10</a:t>
              </a:r>
              <a:r>
                <a:rPr lang="zh-CN" altLang="en-US" sz="1600" dirty="0">
                  <a:latin typeface="Consolas" panose="020B0609020204030204" pitchFamily="49" charset="0"/>
                </a:rPr>
                <a:t>在写入密集型和随机写入负载下通常表现更佳，且在磁盘故障后的重建性能也更好，这对需要快速恢复的电商业务至关重要。</a:t>
              </a:r>
            </a:p>
          </p:txBody>
        </p:sp>
      </p:grpSp>
      <p:sp>
        <p:nvSpPr>
          <p:cNvPr id="36" name="文本框 35">
            <a:extLst>
              <a:ext uri="{FF2B5EF4-FFF2-40B4-BE49-F238E27FC236}">
                <a16:creationId xmlns:a16="http://schemas.microsoft.com/office/drawing/2014/main" id="{AF38DEC5-301E-3BBF-7541-2D7A066FB859}"/>
              </a:ext>
            </a:extLst>
          </p:cNvPr>
          <p:cNvSpPr txBox="1"/>
          <p:nvPr/>
        </p:nvSpPr>
        <p:spPr>
          <a:xfrm>
            <a:off x="1469943" y="2558336"/>
            <a:ext cx="13722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优势</a:t>
            </a: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34982DF9-8065-2DE2-FE31-78812CB1CB64}"/>
              </a:ext>
            </a:extLst>
          </p:cNvPr>
          <p:cNvGrpSpPr/>
          <p:nvPr/>
        </p:nvGrpSpPr>
        <p:grpSpPr>
          <a:xfrm>
            <a:off x="1176417" y="4634147"/>
            <a:ext cx="6085515" cy="921238"/>
            <a:chOff x="5560841" y="1367132"/>
            <a:chExt cx="6085515" cy="921238"/>
          </a:xfrm>
        </p:grpSpPr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3312C6A2-EE3D-EC48-677C-5117AE3C4CCF}"/>
                </a:ext>
              </a:extLst>
            </p:cNvPr>
            <p:cNvSpPr txBox="1"/>
            <p:nvPr/>
          </p:nvSpPr>
          <p:spPr>
            <a:xfrm>
              <a:off x="6959235" y="1367132"/>
              <a:ext cx="30908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70E3C35E-C5F3-F7FB-DF23-70DC78C26321}"/>
                </a:ext>
              </a:extLst>
            </p:cNvPr>
            <p:cNvSpPr txBox="1"/>
            <p:nvPr/>
          </p:nvSpPr>
          <p:spPr>
            <a:xfrm>
              <a:off x="5560841" y="1503540"/>
              <a:ext cx="6085515" cy="784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800"/>
                </a:lnSpc>
              </a:pPr>
              <a:r>
                <a:rPr lang="zh-CN" altLang="en-US" sz="1600" dirty="0">
                  <a:latin typeface="Consolas" panose="020B0609020204030204" pitchFamily="49" charset="0"/>
                </a:rPr>
                <a:t>主要的缺点是成本较高，因为其磁盘利用率仅为</a:t>
              </a:r>
              <a:r>
                <a:rPr lang="en-US" altLang="zh-CN" sz="1600" dirty="0">
                  <a:latin typeface="Consolas" panose="020B0609020204030204" pitchFamily="49" charset="0"/>
                </a:rPr>
                <a:t>50%</a:t>
              </a:r>
              <a:r>
                <a:rPr lang="zh-CN" altLang="en-US" sz="1600" dirty="0">
                  <a:latin typeface="Consolas" panose="020B0609020204030204" pitchFamily="49" charset="0"/>
                </a:rPr>
                <a:t>（一半磁盘用于镜像。此外，</a:t>
              </a:r>
              <a:r>
                <a:rPr lang="en-US" altLang="zh-CN" sz="1600" dirty="0">
                  <a:latin typeface="Consolas" panose="020B0609020204030204" pitchFamily="49" charset="0"/>
                </a:rPr>
                <a:t>CPU</a:t>
              </a:r>
              <a:r>
                <a:rPr lang="zh-CN" altLang="en-US" sz="1600" dirty="0">
                  <a:latin typeface="Consolas" panose="020B0609020204030204" pitchFamily="49" charset="0"/>
                </a:rPr>
                <a:t>占用率也相对较高。尽管如此，对于淘宝核心业务数据的保护和性能保障而言，这种投入是必要且值得的。</a:t>
              </a:r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C2777479-F9E2-E50D-94CD-BF06E4207054}"/>
              </a:ext>
            </a:extLst>
          </p:cNvPr>
          <p:cNvSpPr txBox="1"/>
          <p:nvPr/>
        </p:nvSpPr>
        <p:spPr>
          <a:xfrm>
            <a:off x="1413810" y="4328762"/>
            <a:ext cx="13422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权衡</a:t>
            </a:r>
          </a:p>
        </p:txBody>
      </p:sp>
      <p:sp>
        <p:nvSpPr>
          <p:cNvPr id="42" name="live-chat_72439">
            <a:extLst>
              <a:ext uri="{FF2B5EF4-FFF2-40B4-BE49-F238E27FC236}">
                <a16:creationId xmlns:a16="http://schemas.microsoft.com/office/drawing/2014/main" id="{E4C4EB9C-24FA-8F64-4076-63C0A5F481A0}"/>
              </a:ext>
            </a:extLst>
          </p:cNvPr>
          <p:cNvSpPr>
            <a:spLocks noChangeAspect="1"/>
          </p:cNvSpPr>
          <p:nvPr/>
        </p:nvSpPr>
        <p:spPr bwMode="auto">
          <a:xfrm>
            <a:off x="1089902" y="4404431"/>
            <a:ext cx="297257" cy="259489"/>
          </a:xfrm>
          <a:custGeom>
            <a:avLst/>
            <a:gdLst>
              <a:gd name="connsiteX0" fmla="*/ 424975 w 608697"/>
              <a:gd name="connsiteY0" fmla="*/ 168488 h 531358"/>
              <a:gd name="connsiteX1" fmla="*/ 387604 w 608697"/>
              <a:gd name="connsiteY1" fmla="*/ 205806 h 531358"/>
              <a:gd name="connsiteX2" fmla="*/ 424975 w 608697"/>
              <a:gd name="connsiteY2" fmla="*/ 243124 h 531358"/>
              <a:gd name="connsiteX3" fmla="*/ 462346 w 608697"/>
              <a:gd name="connsiteY3" fmla="*/ 205806 h 531358"/>
              <a:gd name="connsiteX4" fmla="*/ 424975 w 608697"/>
              <a:gd name="connsiteY4" fmla="*/ 168488 h 531358"/>
              <a:gd name="connsiteX5" fmla="*/ 287947 w 608697"/>
              <a:gd name="connsiteY5" fmla="*/ 168488 h 531358"/>
              <a:gd name="connsiteX6" fmla="*/ 250576 w 608697"/>
              <a:gd name="connsiteY6" fmla="*/ 205806 h 531358"/>
              <a:gd name="connsiteX7" fmla="*/ 287947 w 608697"/>
              <a:gd name="connsiteY7" fmla="*/ 243124 h 531358"/>
              <a:gd name="connsiteX8" fmla="*/ 325318 w 608697"/>
              <a:gd name="connsiteY8" fmla="*/ 205806 h 531358"/>
              <a:gd name="connsiteX9" fmla="*/ 287947 w 608697"/>
              <a:gd name="connsiteY9" fmla="*/ 168488 h 531358"/>
              <a:gd name="connsiteX10" fmla="*/ 102356 w 608697"/>
              <a:gd name="connsiteY10" fmla="*/ 121231 h 531358"/>
              <a:gd name="connsiteX11" fmla="*/ 98850 w 608697"/>
              <a:gd name="connsiteY11" fmla="*/ 127711 h 531358"/>
              <a:gd name="connsiteX12" fmla="*/ 76842 w 608697"/>
              <a:gd name="connsiteY12" fmla="*/ 217990 h 531358"/>
              <a:gd name="connsiteX13" fmla="*/ 98850 w 608697"/>
              <a:gd name="connsiteY13" fmla="*/ 308194 h 531358"/>
              <a:gd name="connsiteX14" fmla="*/ 157488 w 608697"/>
              <a:gd name="connsiteY14" fmla="*/ 380223 h 531358"/>
              <a:gd name="connsiteX15" fmla="*/ 344668 w 608697"/>
              <a:gd name="connsiteY15" fmla="*/ 444729 h 531358"/>
              <a:gd name="connsiteX16" fmla="*/ 370257 w 608697"/>
              <a:gd name="connsiteY16" fmla="*/ 443687 h 531358"/>
              <a:gd name="connsiteX17" fmla="*/ 236717 w 608697"/>
              <a:gd name="connsiteY17" fmla="*/ 477876 h 531358"/>
              <a:gd name="connsiteX18" fmla="*/ 198072 w 608697"/>
              <a:gd name="connsiteY18" fmla="*/ 475344 h 531358"/>
              <a:gd name="connsiteX19" fmla="*/ 82437 w 608697"/>
              <a:gd name="connsiteY19" fmla="*/ 531284 h 531358"/>
              <a:gd name="connsiteX20" fmla="*/ 81542 w 608697"/>
              <a:gd name="connsiteY20" fmla="*/ 531358 h 531358"/>
              <a:gd name="connsiteX21" fmla="*/ 75051 w 608697"/>
              <a:gd name="connsiteY21" fmla="*/ 527857 h 531358"/>
              <a:gd name="connsiteX22" fmla="*/ 74753 w 608697"/>
              <a:gd name="connsiteY22" fmla="*/ 519738 h 531358"/>
              <a:gd name="connsiteX23" fmla="*/ 88778 w 608697"/>
              <a:gd name="connsiteY23" fmla="*/ 435046 h 531358"/>
              <a:gd name="connsiteX24" fmla="*/ 0 w 608697"/>
              <a:gd name="connsiteY24" fmla="*/ 282198 h 531358"/>
              <a:gd name="connsiteX25" fmla="*/ 102356 w 608697"/>
              <a:gd name="connsiteY25" fmla="*/ 121231 h 531358"/>
              <a:gd name="connsiteX26" fmla="*/ 356424 w 608697"/>
              <a:gd name="connsiteY26" fmla="*/ 0 h 531358"/>
              <a:gd name="connsiteX27" fmla="*/ 608697 w 608697"/>
              <a:gd name="connsiteY27" fmla="*/ 211244 h 531358"/>
              <a:gd name="connsiteX28" fmla="*/ 518290 w 608697"/>
              <a:gd name="connsiteY28" fmla="*/ 373401 h 531358"/>
              <a:gd name="connsiteX29" fmla="*/ 531941 w 608697"/>
              <a:gd name="connsiteY29" fmla="*/ 441109 h 531358"/>
              <a:gd name="connsiteX30" fmla="*/ 531120 w 608697"/>
              <a:gd name="connsiteY30" fmla="*/ 465391 h 531358"/>
              <a:gd name="connsiteX31" fmla="*/ 511577 w 608697"/>
              <a:gd name="connsiteY31" fmla="*/ 475894 h 531358"/>
              <a:gd name="connsiteX32" fmla="*/ 509041 w 608697"/>
              <a:gd name="connsiteY32" fmla="*/ 475745 h 531358"/>
              <a:gd name="connsiteX33" fmla="*/ 391408 w 608697"/>
              <a:gd name="connsiteY33" fmla="*/ 420476 h 531358"/>
              <a:gd name="connsiteX34" fmla="*/ 356424 w 608697"/>
              <a:gd name="connsiteY34" fmla="*/ 422487 h 531358"/>
              <a:gd name="connsiteX35" fmla="*/ 104225 w 608697"/>
              <a:gd name="connsiteY35" fmla="*/ 211244 h 531358"/>
              <a:gd name="connsiteX36" fmla="*/ 356424 w 608697"/>
              <a:gd name="connsiteY36" fmla="*/ 0 h 531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608697" h="531358">
                <a:moveTo>
                  <a:pt x="424975" y="168488"/>
                </a:moveTo>
                <a:cubicBezTo>
                  <a:pt x="404312" y="168488"/>
                  <a:pt x="387604" y="185248"/>
                  <a:pt x="387604" y="205806"/>
                </a:cubicBezTo>
                <a:cubicBezTo>
                  <a:pt x="387604" y="226439"/>
                  <a:pt x="404312" y="243124"/>
                  <a:pt x="424975" y="243124"/>
                </a:cubicBezTo>
                <a:cubicBezTo>
                  <a:pt x="445562" y="243124"/>
                  <a:pt x="462346" y="226439"/>
                  <a:pt x="462346" y="205806"/>
                </a:cubicBezTo>
                <a:cubicBezTo>
                  <a:pt x="462346" y="185248"/>
                  <a:pt x="445637" y="168488"/>
                  <a:pt x="424975" y="168488"/>
                </a:cubicBezTo>
                <a:close/>
                <a:moveTo>
                  <a:pt x="287947" y="168488"/>
                </a:moveTo>
                <a:cubicBezTo>
                  <a:pt x="267285" y="168488"/>
                  <a:pt x="250576" y="185248"/>
                  <a:pt x="250576" y="205806"/>
                </a:cubicBezTo>
                <a:cubicBezTo>
                  <a:pt x="250576" y="226439"/>
                  <a:pt x="267285" y="243124"/>
                  <a:pt x="287947" y="243124"/>
                </a:cubicBezTo>
                <a:cubicBezTo>
                  <a:pt x="308610" y="243124"/>
                  <a:pt x="325318" y="226439"/>
                  <a:pt x="325318" y="205806"/>
                </a:cubicBezTo>
                <a:cubicBezTo>
                  <a:pt x="325318" y="185248"/>
                  <a:pt x="308610" y="168488"/>
                  <a:pt x="287947" y="168488"/>
                </a:cubicBezTo>
                <a:close/>
                <a:moveTo>
                  <a:pt x="102356" y="121231"/>
                </a:moveTo>
                <a:cubicBezTo>
                  <a:pt x="101162" y="123317"/>
                  <a:pt x="99969" y="125477"/>
                  <a:pt x="98850" y="127711"/>
                </a:cubicBezTo>
                <a:cubicBezTo>
                  <a:pt x="84227" y="156240"/>
                  <a:pt x="76842" y="186631"/>
                  <a:pt x="76842" y="217990"/>
                </a:cubicBezTo>
                <a:cubicBezTo>
                  <a:pt x="76842" y="249275"/>
                  <a:pt x="84227" y="279666"/>
                  <a:pt x="98850" y="308194"/>
                </a:cubicBezTo>
                <a:cubicBezTo>
                  <a:pt x="112726" y="335308"/>
                  <a:pt x="132496" y="359516"/>
                  <a:pt x="157488" y="380223"/>
                </a:cubicBezTo>
                <a:cubicBezTo>
                  <a:pt x="207845" y="421787"/>
                  <a:pt x="274317" y="444729"/>
                  <a:pt x="344668" y="444729"/>
                </a:cubicBezTo>
                <a:cubicBezTo>
                  <a:pt x="353173" y="444729"/>
                  <a:pt x="361752" y="444357"/>
                  <a:pt x="370257" y="443687"/>
                </a:cubicBezTo>
                <a:cubicBezTo>
                  <a:pt x="332209" y="465288"/>
                  <a:pt x="286254" y="477876"/>
                  <a:pt x="236717" y="477876"/>
                </a:cubicBezTo>
                <a:cubicBezTo>
                  <a:pt x="223736" y="477876"/>
                  <a:pt x="210755" y="477057"/>
                  <a:pt x="198072" y="475344"/>
                </a:cubicBezTo>
                <a:cubicBezTo>
                  <a:pt x="160397" y="499478"/>
                  <a:pt x="110637" y="528155"/>
                  <a:pt x="82437" y="531284"/>
                </a:cubicBezTo>
                <a:cubicBezTo>
                  <a:pt x="82138" y="531358"/>
                  <a:pt x="81840" y="531358"/>
                  <a:pt x="81542" y="531358"/>
                </a:cubicBezTo>
                <a:cubicBezTo>
                  <a:pt x="78930" y="531358"/>
                  <a:pt x="76469" y="530017"/>
                  <a:pt x="75051" y="527857"/>
                </a:cubicBezTo>
                <a:cubicBezTo>
                  <a:pt x="73410" y="525399"/>
                  <a:pt x="73335" y="522271"/>
                  <a:pt x="74753" y="519738"/>
                </a:cubicBezTo>
                <a:cubicBezTo>
                  <a:pt x="75051" y="519291"/>
                  <a:pt x="99223" y="476014"/>
                  <a:pt x="88778" y="435046"/>
                </a:cubicBezTo>
                <a:cubicBezTo>
                  <a:pt x="32303" y="397653"/>
                  <a:pt x="0" y="342160"/>
                  <a:pt x="0" y="282198"/>
                </a:cubicBezTo>
                <a:cubicBezTo>
                  <a:pt x="0" y="215532"/>
                  <a:pt x="40584" y="156538"/>
                  <a:pt x="102356" y="121231"/>
                </a:cubicBezTo>
                <a:close/>
                <a:moveTo>
                  <a:pt x="356424" y="0"/>
                </a:moveTo>
                <a:cubicBezTo>
                  <a:pt x="495540" y="0"/>
                  <a:pt x="608697" y="94747"/>
                  <a:pt x="608697" y="211244"/>
                </a:cubicBezTo>
                <a:cubicBezTo>
                  <a:pt x="608697" y="274408"/>
                  <a:pt x="575802" y="333178"/>
                  <a:pt x="518290" y="373401"/>
                </a:cubicBezTo>
                <a:cubicBezTo>
                  <a:pt x="512845" y="406324"/>
                  <a:pt x="531717" y="440811"/>
                  <a:pt x="531941" y="441109"/>
                </a:cubicBezTo>
                <a:cubicBezTo>
                  <a:pt x="536267" y="448781"/>
                  <a:pt x="535969" y="458092"/>
                  <a:pt x="531120" y="465391"/>
                </a:cubicBezTo>
                <a:cubicBezTo>
                  <a:pt x="526794" y="472021"/>
                  <a:pt x="519484" y="475894"/>
                  <a:pt x="511577" y="475894"/>
                </a:cubicBezTo>
                <a:cubicBezTo>
                  <a:pt x="510756" y="475894"/>
                  <a:pt x="509936" y="475894"/>
                  <a:pt x="509041" y="475745"/>
                </a:cubicBezTo>
                <a:cubicBezTo>
                  <a:pt x="484574" y="473064"/>
                  <a:pt x="444966" y="454442"/>
                  <a:pt x="391408" y="420476"/>
                </a:cubicBezTo>
                <a:cubicBezTo>
                  <a:pt x="379920" y="421817"/>
                  <a:pt x="368135" y="422487"/>
                  <a:pt x="356424" y="422487"/>
                </a:cubicBezTo>
                <a:cubicBezTo>
                  <a:pt x="217382" y="422487"/>
                  <a:pt x="104225" y="327741"/>
                  <a:pt x="104225" y="211244"/>
                </a:cubicBezTo>
                <a:cubicBezTo>
                  <a:pt x="104225" y="94747"/>
                  <a:pt x="217382" y="0"/>
                  <a:pt x="35642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pic>
        <p:nvPicPr>
          <p:cNvPr id="43" name="图片 -2147482624">
            <a:extLst>
              <a:ext uri="{FF2B5EF4-FFF2-40B4-BE49-F238E27FC236}">
                <a16:creationId xmlns:a16="http://schemas.microsoft.com/office/drawing/2014/main" id="{56204E04-B99C-FB42-4253-A28A646C32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0948" y="1906211"/>
            <a:ext cx="3292475" cy="3127375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27125466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5DFD8-FE7B-3D75-8208-14CF1D973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84F914D-7EF0-64F1-4016-EFC818F6F51B}"/>
              </a:ext>
            </a:extLst>
          </p:cNvPr>
          <p:cNvSpPr txBox="1"/>
          <p:nvPr/>
        </p:nvSpPr>
        <p:spPr>
          <a:xfrm>
            <a:off x="587375" y="621626"/>
            <a:ext cx="53732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Tw Cen MT Condensed Extra Bold" panose="020B0803020202020204" pitchFamily="34" charset="0"/>
                <a:ea typeface="等线" panose="02010600030101010101" pitchFamily="2" charset="-122"/>
              </a:rPr>
              <a:t>3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anose="02010600030101010101" pitchFamily="2" charset="-122"/>
                <a:cs typeface="+mn-cs"/>
              </a:rPr>
              <a:t>.2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Condensed Extra Bold" panose="020B08030202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EF70759-B893-C6F3-565C-E41192FC2718}"/>
              </a:ext>
            </a:extLst>
          </p:cNvPr>
          <p:cNvSpPr/>
          <p:nvPr/>
        </p:nvSpPr>
        <p:spPr>
          <a:xfrm>
            <a:off x="10945503" y="441325"/>
            <a:ext cx="659122" cy="659122"/>
          </a:xfrm>
          <a:prstGeom prst="rect">
            <a:avLst/>
          </a:prstGeom>
          <a:blipFill dpi="0" rotWithShape="1">
            <a:blip r:embed="rId2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2E254716-CEF6-455B-AF4C-A5D27590C977}"/>
              </a:ext>
            </a:extLst>
          </p:cNvPr>
          <p:cNvCxnSpPr/>
          <p:nvPr/>
        </p:nvCxnSpPr>
        <p:spPr>
          <a:xfrm>
            <a:off x="648833" y="490652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B7B69497-B2E6-D6D1-FF2B-A04809E2BF44}"/>
              </a:ext>
            </a:extLst>
          </p:cNvPr>
          <p:cNvSpPr txBox="1"/>
          <p:nvPr/>
        </p:nvSpPr>
        <p:spPr>
          <a:xfrm>
            <a:off x="542925" y="5786978"/>
            <a:ext cx="1321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CASE STUDY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RESEARCH.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3C5A916A-1A2C-E993-A936-FCCA4A97CD70}"/>
              </a:ext>
            </a:extLst>
          </p:cNvPr>
          <p:cNvCxnSpPr/>
          <p:nvPr/>
        </p:nvCxnSpPr>
        <p:spPr>
          <a:xfrm>
            <a:off x="648833" y="6391831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73C6BB8F-9FE1-42BA-C407-74AAA3C0C796}"/>
              </a:ext>
            </a:extLst>
          </p:cNvPr>
          <p:cNvGrpSpPr/>
          <p:nvPr/>
        </p:nvGrpSpPr>
        <p:grpSpPr>
          <a:xfrm>
            <a:off x="1089905" y="1302615"/>
            <a:ext cx="7849909" cy="1166343"/>
            <a:chOff x="5474326" y="1122027"/>
            <a:chExt cx="7849909" cy="1166343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BC82451E-7DDE-D036-929D-93DDCCCE6592}"/>
                </a:ext>
              </a:extLst>
            </p:cNvPr>
            <p:cNvSpPr txBox="1"/>
            <p:nvPr/>
          </p:nvSpPr>
          <p:spPr>
            <a:xfrm>
              <a:off x="6959235" y="1367132"/>
              <a:ext cx="30908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0A92C76-0B19-C922-8416-731AA12BE325}"/>
                </a:ext>
              </a:extLst>
            </p:cNvPr>
            <p:cNvSpPr txBox="1"/>
            <p:nvPr/>
          </p:nvSpPr>
          <p:spPr>
            <a:xfrm>
              <a:off x="5560841" y="1503540"/>
              <a:ext cx="7763394" cy="784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800"/>
                </a:lnSpc>
              </a:pPr>
              <a:r>
                <a:rPr lang="zh-CN" altLang="en-US" sz="1600" b="0" dirty="0">
                  <a:effectLst/>
                  <a:latin typeface="Consolas" panose="020B0609020204030204" pitchFamily="49" charset="0"/>
                </a:rPr>
                <a:t>每个数据块都有完整的镜像副本，并且这些副本分布在不同的物理磁盘上。这意味着即使某个磁盘组中的一个磁盘发生故障，数据仍然可以从其镜像磁盘上获得，系统可以继续无中断运行。这直接满足了“高可靠性存储、数据冗余机制”的需求。</a:t>
              </a:r>
            </a:p>
          </p:txBody>
        </p:sp>
        <p:sp>
          <p:nvSpPr>
            <p:cNvPr id="22" name="iconfont-11180-4674648">
              <a:extLst>
                <a:ext uri="{FF2B5EF4-FFF2-40B4-BE49-F238E27FC236}">
                  <a16:creationId xmlns:a16="http://schemas.microsoft.com/office/drawing/2014/main" id="{434A6690-8A2B-10EF-A1AC-34E6AA52E11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74326" y="1122027"/>
              <a:ext cx="249971" cy="249971"/>
            </a:xfrm>
            <a:custGeom>
              <a:avLst/>
              <a:gdLst>
                <a:gd name="T0" fmla="*/ 6903 w 13303"/>
                <a:gd name="T1" fmla="*/ 13303 h 13303"/>
                <a:gd name="T2" fmla="*/ 990 w 13303"/>
                <a:gd name="T3" fmla="*/ 9352 h 13303"/>
                <a:gd name="T4" fmla="*/ 2378 w 13303"/>
                <a:gd name="T5" fmla="*/ 2378 h 13303"/>
                <a:gd name="T6" fmla="*/ 9352 w 13303"/>
                <a:gd name="T7" fmla="*/ 990 h 13303"/>
                <a:gd name="T8" fmla="*/ 13303 w 13303"/>
                <a:gd name="T9" fmla="*/ 6903 h 13303"/>
                <a:gd name="T10" fmla="*/ 11428 w 13303"/>
                <a:gd name="T11" fmla="*/ 11428 h 13303"/>
                <a:gd name="T12" fmla="*/ 6903 w 13303"/>
                <a:gd name="T13" fmla="*/ 13303 h 13303"/>
                <a:gd name="T14" fmla="*/ 10243 w 13303"/>
                <a:gd name="T15" fmla="*/ 4852 h 13303"/>
                <a:gd name="T16" fmla="*/ 9597 w 13303"/>
                <a:gd name="T17" fmla="*/ 4852 h 13303"/>
                <a:gd name="T18" fmla="*/ 6041 w 13303"/>
                <a:gd name="T19" fmla="*/ 8405 h 13303"/>
                <a:gd name="T20" fmla="*/ 4209 w 13303"/>
                <a:gd name="T21" fmla="*/ 6574 h 13303"/>
                <a:gd name="T22" fmla="*/ 3572 w 13303"/>
                <a:gd name="T23" fmla="*/ 6583 h 13303"/>
                <a:gd name="T24" fmla="*/ 3563 w 13303"/>
                <a:gd name="T25" fmla="*/ 7220 h 13303"/>
                <a:gd name="T26" fmla="*/ 5718 w 13303"/>
                <a:gd name="T27" fmla="*/ 9378 h 13303"/>
                <a:gd name="T28" fmla="*/ 6364 w 13303"/>
                <a:gd name="T29" fmla="*/ 9378 h 13303"/>
                <a:gd name="T30" fmla="*/ 10243 w 13303"/>
                <a:gd name="T31" fmla="*/ 5498 h 13303"/>
                <a:gd name="T32" fmla="*/ 10243 w 13303"/>
                <a:gd name="T33" fmla="*/ 4852 h 13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303" h="13303">
                  <a:moveTo>
                    <a:pt x="6903" y="13303"/>
                  </a:moveTo>
                  <a:cubicBezTo>
                    <a:pt x="4314" y="13303"/>
                    <a:pt x="1981" y="11744"/>
                    <a:pt x="990" y="9352"/>
                  </a:cubicBezTo>
                  <a:cubicBezTo>
                    <a:pt x="0" y="6961"/>
                    <a:pt x="547" y="4208"/>
                    <a:pt x="2378" y="2378"/>
                  </a:cubicBezTo>
                  <a:cubicBezTo>
                    <a:pt x="4208" y="547"/>
                    <a:pt x="6961" y="0"/>
                    <a:pt x="9352" y="990"/>
                  </a:cubicBezTo>
                  <a:cubicBezTo>
                    <a:pt x="11744" y="1981"/>
                    <a:pt x="13303" y="4314"/>
                    <a:pt x="13303" y="6903"/>
                  </a:cubicBezTo>
                  <a:cubicBezTo>
                    <a:pt x="13303" y="8600"/>
                    <a:pt x="12629" y="10228"/>
                    <a:pt x="11428" y="11428"/>
                  </a:cubicBezTo>
                  <a:cubicBezTo>
                    <a:pt x="10228" y="12629"/>
                    <a:pt x="8600" y="13303"/>
                    <a:pt x="6903" y="13303"/>
                  </a:cubicBezTo>
                  <a:close/>
                  <a:moveTo>
                    <a:pt x="10243" y="4852"/>
                  </a:moveTo>
                  <a:cubicBezTo>
                    <a:pt x="10065" y="4672"/>
                    <a:pt x="9775" y="4672"/>
                    <a:pt x="9597" y="4852"/>
                  </a:cubicBezTo>
                  <a:lnTo>
                    <a:pt x="6041" y="8405"/>
                  </a:lnTo>
                  <a:lnTo>
                    <a:pt x="4209" y="6574"/>
                  </a:lnTo>
                  <a:cubicBezTo>
                    <a:pt x="4029" y="6404"/>
                    <a:pt x="3747" y="6408"/>
                    <a:pt x="3572" y="6583"/>
                  </a:cubicBezTo>
                  <a:cubicBezTo>
                    <a:pt x="3397" y="6758"/>
                    <a:pt x="3393" y="7040"/>
                    <a:pt x="3563" y="7220"/>
                  </a:cubicBezTo>
                  <a:lnTo>
                    <a:pt x="5718" y="9378"/>
                  </a:lnTo>
                  <a:cubicBezTo>
                    <a:pt x="5897" y="9554"/>
                    <a:pt x="6185" y="9554"/>
                    <a:pt x="6364" y="9378"/>
                  </a:cubicBezTo>
                  <a:lnTo>
                    <a:pt x="10243" y="5498"/>
                  </a:lnTo>
                  <a:cubicBezTo>
                    <a:pt x="10421" y="5320"/>
                    <a:pt x="10421" y="5030"/>
                    <a:pt x="10243" y="485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</p:sp>
      </p:grpSp>
      <p:sp>
        <p:nvSpPr>
          <p:cNvPr id="23" name="iconfont-10585-5147501">
            <a:extLst>
              <a:ext uri="{FF2B5EF4-FFF2-40B4-BE49-F238E27FC236}">
                <a16:creationId xmlns:a16="http://schemas.microsoft.com/office/drawing/2014/main" id="{AC516601-CDBF-53F6-68AF-97D17E40104E}"/>
              </a:ext>
            </a:extLst>
          </p:cNvPr>
          <p:cNvSpPr>
            <a:spLocks noChangeAspect="1"/>
          </p:cNvSpPr>
          <p:nvPr/>
        </p:nvSpPr>
        <p:spPr bwMode="auto">
          <a:xfrm>
            <a:off x="1089902" y="2599678"/>
            <a:ext cx="331155" cy="250605"/>
          </a:xfrm>
          <a:custGeom>
            <a:avLst/>
            <a:gdLst>
              <a:gd name="T0" fmla="*/ 8851 w 12288"/>
              <a:gd name="T1" fmla="*/ 2190 h 9507"/>
              <a:gd name="T2" fmla="*/ 5095 w 12288"/>
              <a:gd name="T3" fmla="*/ 299 h 9507"/>
              <a:gd name="T4" fmla="*/ 2323 w 12288"/>
              <a:gd name="T5" fmla="*/ 3463 h 9507"/>
              <a:gd name="T6" fmla="*/ 0 w 12288"/>
              <a:gd name="T7" fmla="*/ 6419 h 9507"/>
              <a:gd name="T8" fmla="*/ 3072 w 12288"/>
              <a:gd name="T9" fmla="*/ 9507 h 9507"/>
              <a:gd name="T10" fmla="*/ 8832 w 12288"/>
              <a:gd name="T11" fmla="*/ 9507 h 9507"/>
              <a:gd name="T12" fmla="*/ 12288 w 12288"/>
              <a:gd name="T13" fmla="*/ 5839 h 9507"/>
              <a:gd name="T14" fmla="*/ 8851 w 12288"/>
              <a:gd name="T15" fmla="*/ 2190 h 9507"/>
              <a:gd name="T16" fmla="*/ 7857 w 12288"/>
              <a:gd name="T17" fmla="*/ 5994 h 9507"/>
              <a:gd name="T18" fmla="*/ 7455 w 12288"/>
              <a:gd name="T19" fmla="*/ 5994 h 9507"/>
              <a:gd name="T20" fmla="*/ 7253 w 12288"/>
              <a:gd name="T21" fmla="*/ 6186 h 9507"/>
              <a:gd name="T22" fmla="*/ 7248 w 12288"/>
              <a:gd name="T23" fmla="*/ 8151 h 9507"/>
              <a:gd name="T24" fmla="*/ 6845 w 12288"/>
              <a:gd name="T25" fmla="*/ 8535 h 9507"/>
              <a:gd name="T26" fmla="*/ 5441 w 12288"/>
              <a:gd name="T27" fmla="*/ 8535 h 9507"/>
              <a:gd name="T28" fmla="*/ 5039 w 12288"/>
              <a:gd name="T29" fmla="*/ 8151 h 9507"/>
              <a:gd name="T30" fmla="*/ 5034 w 12288"/>
              <a:gd name="T31" fmla="*/ 6186 h 9507"/>
              <a:gd name="T32" fmla="*/ 4832 w 12288"/>
              <a:gd name="T33" fmla="*/ 5994 h 9507"/>
              <a:gd name="T34" fmla="*/ 4429 w 12288"/>
              <a:gd name="T35" fmla="*/ 5994 h 9507"/>
              <a:gd name="T36" fmla="*/ 4026 w 12288"/>
              <a:gd name="T37" fmla="*/ 5610 h 9507"/>
              <a:gd name="T38" fmla="*/ 4104 w 12288"/>
              <a:gd name="T39" fmla="*/ 5380 h 9507"/>
              <a:gd name="T40" fmla="*/ 5784 w 12288"/>
              <a:gd name="T41" fmla="*/ 3442 h 9507"/>
              <a:gd name="T42" fmla="*/ 6499 w 12288"/>
              <a:gd name="T43" fmla="*/ 3442 h 9507"/>
              <a:gd name="T44" fmla="*/ 8180 w 12288"/>
              <a:gd name="T45" fmla="*/ 5380 h 9507"/>
              <a:gd name="T46" fmla="*/ 8259 w 12288"/>
              <a:gd name="T47" fmla="*/ 5610 h 9507"/>
              <a:gd name="T48" fmla="*/ 7857 w 12288"/>
              <a:gd name="T49" fmla="*/ 5994 h 95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2288" h="9507">
                <a:moveTo>
                  <a:pt x="8851" y="2190"/>
                </a:moveTo>
                <a:cubicBezTo>
                  <a:pt x="8176" y="777"/>
                  <a:pt x="6631" y="0"/>
                  <a:pt x="5095" y="299"/>
                </a:cubicBezTo>
                <a:cubicBezTo>
                  <a:pt x="3558" y="599"/>
                  <a:pt x="2418" y="1900"/>
                  <a:pt x="2323" y="3463"/>
                </a:cubicBezTo>
                <a:cubicBezTo>
                  <a:pt x="979" y="3847"/>
                  <a:pt x="0" y="5028"/>
                  <a:pt x="0" y="6419"/>
                </a:cubicBezTo>
                <a:cubicBezTo>
                  <a:pt x="0" y="8061"/>
                  <a:pt x="1363" y="9410"/>
                  <a:pt x="3072" y="9507"/>
                </a:cubicBezTo>
                <a:lnTo>
                  <a:pt x="8832" y="9507"/>
                </a:lnTo>
                <a:cubicBezTo>
                  <a:pt x="10732" y="9507"/>
                  <a:pt x="12288" y="7865"/>
                  <a:pt x="12288" y="5839"/>
                </a:cubicBezTo>
                <a:cubicBezTo>
                  <a:pt x="12287" y="3889"/>
                  <a:pt x="10770" y="2288"/>
                  <a:pt x="8851" y="2190"/>
                </a:cubicBezTo>
                <a:close/>
                <a:moveTo>
                  <a:pt x="7857" y="5994"/>
                </a:moveTo>
                <a:lnTo>
                  <a:pt x="7455" y="5994"/>
                </a:lnTo>
                <a:cubicBezTo>
                  <a:pt x="7347" y="5992"/>
                  <a:pt x="7257" y="6077"/>
                  <a:pt x="7253" y="6186"/>
                </a:cubicBezTo>
                <a:lnTo>
                  <a:pt x="7248" y="8151"/>
                </a:lnTo>
                <a:cubicBezTo>
                  <a:pt x="7243" y="8368"/>
                  <a:pt x="7062" y="8541"/>
                  <a:pt x="6845" y="8535"/>
                </a:cubicBezTo>
                <a:lnTo>
                  <a:pt x="5441" y="8535"/>
                </a:lnTo>
                <a:cubicBezTo>
                  <a:pt x="5223" y="8541"/>
                  <a:pt x="5043" y="8368"/>
                  <a:pt x="5039" y="8151"/>
                </a:cubicBezTo>
                <a:lnTo>
                  <a:pt x="5034" y="6186"/>
                </a:lnTo>
                <a:cubicBezTo>
                  <a:pt x="5031" y="6077"/>
                  <a:pt x="4940" y="5991"/>
                  <a:pt x="4832" y="5994"/>
                </a:cubicBezTo>
                <a:lnTo>
                  <a:pt x="4429" y="5994"/>
                </a:lnTo>
                <a:cubicBezTo>
                  <a:pt x="4212" y="5998"/>
                  <a:pt x="4032" y="5827"/>
                  <a:pt x="4026" y="5610"/>
                </a:cubicBezTo>
                <a:cubicBezTo>
                  <a:pt x="4025" y="5527"/>
                  <a:pt x="4053" y="5446"/>
                  <a:pt x="4104" y="5380"/>
                </a:cubicBezTo>
                <a:lnTo>
                  <a:pt x="5784" y="3442"/>
                </a:lnTo>
                <a:cubicBezTo>
                  <a:pt x="5986" y="3254"/>
                  <a:pt x="6298" y="3254"/>
                  <a:pt x="6499" y="3442"/>
                </a:cubicBezTo>
                <a:lnTo>
                  <a:pt x="8180" y="5380"/>
                </a:lnTo>
                <a:cubicBezTo>
                  <a:pt x="8231" y="5446"/>
                  <a:pt x="8259" y="5526"/>
                  <a:pt x="8259" y="5610"/>
                </a:cubicBezTo>
                <a:cubicBezTo>
                  <a:pt x="8254" y="5827"/>
                  <a:pt x="8074" y="5999"/>
                  <a:pt x="7857" y="599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EA2F241-7325-02DA-A2E1-F259689586AD}"/>
              </a:ext>
            </a:extLst>
          </p:cNvPr>
          <p:cNvSpPr txBox="1"/>
          <p:nvPr/>
        </p:nvSpPr>
        <p:spPr>
          <a:xfrm>
            <a:off x="1124702" y="621626"/>
            <a:ext cx="23839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20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选择</a:t>
            </a:r>
            <a:r>
              <a:rPr lang="en-US" altLang="zh-CN" sz="20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RAID 10</a:t>
            </a:r>
            <a:r>
              <a:rPr lang="zh-CN" altLang="en-US" sz="20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的原因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831C950-C9F7-009E-D3F6-05F45F6F4D56}"/>
              </a:ext>
            </a:extLst>
          </p:cNvPr>
          <p:cNvSpPr txBox="1"/>
          <p:nvPr/>
        </p:nvSpPr>
        <p:spPr>
          <a:xfrm>
            <a:off x="1387159" y="1275867"/>
            <a:ext cx="2989511" cy="326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zh-CN" altLang="en-US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卓越的数据冗余与容错</a:t>
            </a:r>
            <a:endParaRPr lang="zh-CN" altLang="en-US" b="0" dirty="0"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6900829-3165-EFEE-6707-61E9E1CAD103}"/>
              </a:ext>
            </a:extLst>
          </p:cNvPr>
          <p:cNvGrpSpPr/>
          <p:nvPr/>
        </p:nvGrpSpPr>
        <p:grpSpPr>
          <a:xfrm>
            <a:off x="1176418" y="2850283"/>
            <a:ext cx="8011970" cy="690406"/>
            <a:chOff x="5560842" y="1367132"/>
            <a:chExt cx="7836647" cy="690406"/>
          </a:xfrm>
        </p:grpSpPr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51E5F72B-E71A-FE5D-7BA5-1336F7FA4793}"/>
                </a:ext>
              </a:extLst>
            </p:cNvPr>
            <p:cNvSpPr txBox="1"/>
            <p:nvPr/>
          </p:nvSpPr>
          <p:spPr>
            <a:xfrm>
              <a:off x="6959235" y="1367132"/>
              <a:ext cx="30908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7A4AA6C3-D6B5-6348-CFC8-C3A06145D4D6}"/>
                </a:ext>
              </a:extLst>
            </p:cNvPr>
            <p:cNvSpPr txBox="1"/>
            <p:nvPr/>
          </p:nvSpPr>
          <p:spPr>
            <a:xfrm>
              <a:off x="5560842" y="1503540"/>
              <a:ext cx="783664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800"/>
                </a:lnSpc>
              </a:pPr>
              <a:r>
                <a:rPr lang="zh-CN" altLang="en-US" sz="1600" dirty="0">
                  <a:latin typeface="Consolas" panose="020B0609020204030204" pitchFamily="49" charset="0"/>
                </a:rPr>
                <a:t>数据条带化跨越多个镜像对，使得读写操作可以并行处理，显著提高了</a:t>
              </a:r>
              <a:r>
                <a:rPr lang="en-US" altLang="zh-CN" sz="1600" dirty="0">
                  <a:latin typeface="Consolas" panose="020B0609020204030204" pitchFamily="49" charset="0"/>
                </a:rPr>
                <a:t>I/O</a:t>
              </a:r>
              <a:r>
                <a:rPr lang="zh-CN" altLang="en-US" sz="1600" dirty="0">
                  <a:latin typeface="Consolas" panose="020B0609020204030204" pitchFamily="49" charset="0"/>
                </a:rPr>
                <a:t>吞吐量和响应速度。这对于处理淘宝每日</a:t>
              </a:r>
              <a:r>
                <a:rPr lang="en-US" altLang="zh-CN" sz="1600" dirty="0">
                  <a:latin typeface="Consolas" panose="020B0609020204030204" pitchFamily="49" charset="0"/>
                </a:rPr>
                <a:t>60</a:t>
              </a:r>
              <a:r>
                <a:rPr lang="zh-CN" altLang="en-US" sz="1600" dirty="0">
                  <a:latin typeface="Consolas" panose="020B0609020204030204" pitchFamily="49" charset="0"/>
                </a:rPr>
                <a:t>亿次的交易数据请求和超</a:t>
              </a:r>
              <a:r>
                <a:rPr lang="en-US" altLang="zh-CN" sz="1600" dirty="0">
                  <a:latin typeface="Consolas" panose="020B0609020204030204" pitchFamily="49" charset="0"/>
                </a:rPr>
                <a:t>30G/S</a:t>
              </a:r>
              <a:r>
                <a:rPr lang="zh-CN" altLang="en-US" sz="1600" dirty="0">
                  <a:latin typeface="Consolas" panose="020B0609020204030204" pitchFamily="49" charset="0"/>
                </a:rPr>
                <a:t>的高峰流量至关重要。</a:t>
              </a:r>
            </a:p>
          </p:txBody>
        </p:sp>
      </p:grpSp>
      <p:sp>
        <p:nvSpPr>
          <p:cNvPr id="36" name="文本框 35">
            <a:extLst>
              <a:ext uri="{FF2B5EF4-FFF2-40B4-BE49-F238E27FC236}">
                <a16:creationId xmlns:a16="http://schemas.microsoft.com/office/drawing/2014/main" id="{35ACFAFC-BD03-A7D7-E6D7-6CA3C9F32A76}"/>
              </a:ext>
            </a:extLst>
          </p:cNvPr>
          <p:cNvSpPr txBox="1"/>
          <p:nvPr/>
        </p:nvSpPr>
        <p:spPr>
          <a:xfrm>
            <a:off x="1441908" y="2571173"/>
            <a:ext cx="2294189" cy="326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优化的读写性能</a:t>
            </a: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ED642E39-29A5-13FB-75E3-E33991E4D127}"/>
              </a:ext>
            </a:extLst>
          </p:cNvPr>
          <p:cNvGrpSpPr/>
          <p:nvPr/>
        </p:nvGrpSpPr>
        <p:grpSpPr>
          <a:xfrm>
            <a:off x="1124702" y="4007718"/>
            <a:ext cx="7699702" cy="1382903"/>
            <a:chOff x="5560841" y="1367132"/>
            <a:chExt cx="6085515" cy="1382903"/>
          </a:xfrm>
        </p:grpSpPr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7EAA114B-6BBB-143B-0D4E-5CEA88BA8431}"/>
                </a:ext>
              </a:extLst>
            </p:cNvPr>
            <p:cNvSpPr txBox="1"/>
            <p:nvPr/>
          </p:nvSpPr>
          <p:spPr>
            <a:xfrm>
              <a:off x="6959235" y="1367132"/>
              <a:ext cx="30908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FAAC536C-7F87-40A5-5D4E-BB3592929CD1}"/>
                </a:ext>
              </a:extLst>
            </p:cNvPr>
            <p:cNvSpPr txBox="1"/>
            <p:nvPr/>
          </p:nvSpPr>
          <p:spPr>
            <a:xfrm>
              <a:off x="5560841" y="1503540"/>
              <a:ext cx="6085515" cy="12464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800"/>
                </a:lnSpc>
                <a:buNone/>
              </a:pPr>
              <a:r>
                <a:rPr lang="zh-CN" altLang="en-US" sz="1600" dirty="0">
                  <a:latin typeface="Consolas" panose="020B0609020204030204" pitchFamily="49" charset="0"/>
                </a:rPr>
                <a:t>当一个故障磁盘被替换后，数据只需从其对应的镜像盘复制过来即可完成重建，这个过程相比</a:t>
              </a:r>
              <a:r>
                <a:rPr lang="en-US" altLang="zh-CN" sz="1600" dirty="0">
                  <a:latin typeface="Consolas" panose="020B0609020204030204" pitchFamily="49" charset="0"/>
                </a:rPr>
                <a:t>RAID 5</a:t>
              </a:r>
              <a:r>
                <a:rPr lang="zh-CN" altLang="en-US" sz="1600" dirty="0">
                  <a:latin typeface="Consolas" panose="020B0609020204030204" pitchFamily="49" charset="0"/>
                </a:rPr>
                <a:t>等需要奇偶校验计算的</a:t>
              </a:r>
              <a:r>
                <a:rPr lang="en-US" altLang="zh-CN" sz="1600" dirty="0">
                  <a:latin typeface="Consolas" panose="020B0609020204030204" pitchFamily="49" charset="0"/>
                </a:rPr>
                <a:t>RAID</a:t>
              </a:r>
              <a:r>
                <a:rPr lang="zh-CN" altLang="en-US" sz="1600" dirty="0">
                  <a:latin typeface="Consolas" panose="020B0609020204030204" pitchFamily="49" charset="0"/>
                </a:rPr>
                <a:t>级别要快得多，从而缩短了系统处于降级状态的时间。</a:t>
              </a:r>
            </a:p>
            <a:p>
              <a:pPr>
                <a:lnSpc>
                  <a:spcPts val="1800"/>
                </a:lnSpc>
              </a:pPr>
              <a:br>
                <a:rPr lang="zh-CN" altLang="en-US" sz="16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endParaRPr lang="zh-CN" alt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FB9AF6AA-24A2-D42D-2DDF-11EABCF1A2C4}"/>
              </a:ext>
            </a:extLst>
          </p:cNvPr>
          <p:cNvSpPr txBox="1"/>
          <p:nvPr/>
        </p:nvSpPr>
        <p:spPr>
          <a:xfrm>
            <a:off x="1439711" y="3820961"/>
            <a:ext cx="175396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快速故障恢复</a:t>
            </a:r>
          </a:p>
        </p:txBody>
      </p:sp>
      <p:sp>
        <p:nvSpPr>
          <p:cNvPr id="42" name="live-chat_72439">
            <a:extLst>
              <a:ext uri="{FF2B5EF4-FFF2-40B4-BE49-F238E27FC236}">
                <a16:creationId xmlns:a16="http://schemas.microsoft.com/office/drawing/2014/main" id="{84458D0D-CB3F-5FF6-7587-8B4434BC3D42}"/>
              </a:ext>
            </a:extLst>
          </p:cNvPr>
          <p:cNvSpPr>
            <a:spLocks noChangeAspect="1"/>
          </p:cNvSpPr>
          <p:nvPr/>
        </p:nvSpPr>
        <p:spPr bwMode="auto">
          <a:xfrm>
            <a:off x="1137243" y="3846293"/>
            <a:ext cx="297257" cy="259489"/>
          </a:xfrm>
          <a:custGeom>
            <a:avLst/>
            <a:gdLst>
              <a:gd name="connsiteX0" fmla="*/ 424975 w 608697"/>
              <a:gd name="connsiteY0" fmla="*/ 168488 h 531358"/>
              <a:gd name="connsiteX1" fmla="*/ 387604 w 608697"/>
              <a:gd name="connsiteY1" fmla="*/ 205806 h 531358"/>
              <a:gd name="connsiteX2" fmla="*/ 424975 w 608697"/>
              <a:gd name="connsiteY2" fmla="*/ 243124 h 531358"/>
              <a:gd name="connsiteX3" fmla="*/ 462346 w 608697"/>
              <a:gd name="connsiteY3" fmla="*/ 205806 h 531358"/>
              <a:gd name="connsiteX4" fmla="*/ 424975 w 608697"/>
              <a:gd name="connsiteY4" fmla="*/ 168488 h 531358"/>
              <a:gd name="connsiteX5" fmla="*/ 287947 w 608697"/>
              <a:gd name="connsiteY5" fmla="*/ 168488 h 531358"/>
              <a:gd name="connsiteX6" fmla="*/ 250576 w 608697"/>
              <a:gd name="connsiteY6" fmla="*/ 205806 h 531358"/>
              <a:gd name="connsiteX7" fmla="*/ 287947 w 608697"/>
              <a:gd name="connsiteY7" fmla="*/ 243124 h 531358"/>
              <a:gd name="connsiteX8" fmla="*/ 325318 w 608697"/>
              <a:gd name="connsiteY8" fmla="*/ 205806 h 531358"/>
              <a:gd name="connsiteX9" fmla="*/ 287947 w 608697"/>
              <a:gd name="connsiteY9" fmla="*/ 168488 h 531358"/>
              <a:gd name="connsiteX10" fmla="*/ 102356 w 608697"/>
              <a:gd name="connsiteY10" fmla="*/ 121231 h 531358"/>
              <a:gd name="connsiteX11" fmla="*/ 98850 w 608697"/>
              <a:gd name="connsiteY11" fmla="*/ 127711 h 531358"/>
              <a:gd name="connsiteX12" fmla="*/ 76842 w 608697"/>
              <a:gd name="connsiteY12" fmla="*/ 217990 h 531358"/>
              <a:gd name="connsiteX13" fmla="*/ 98850 w 608697"/>
              <a:gd name="connsiteY13" fmla="*/ 308194 h 531358"/>
              <a:gd name="connsiteX14" fmla="*/ 157488 w 608697"/>
              <a:gd name="connsiteY14" fmla="*/ 380223 h 531358"/>
              <a:gd name="connsiteX15" fmla="*/ 344668 w 608697"/>
              <a:gd name="connsiteY15" fmla="*/ 444729 h 531358"/>
              <a:gd name="connsiteX16" fmla="*/ 370257 w 608697"/>
              <a:gd name="connsiteY16" fmla="*/ 443687 h 531358"/>
              <a:gd name="connsiteX17" fmla="*/ 236717 w 608697"/>
              <a:gd name="connsiteY17" fmla="*/ 477876 h 531358"/>
              <a:gd name="connsiteX18" fmla="*/ 198072 w 608697"/>
              <a:gd name="connsiteY18" fmla="*/ 475344 h 531358"/>
              <a:gd name="connsiteX19" fmla="*/ 82437 w 608697"/>
              <a:gd name="connsiteY19" fmla="*/ 531284 h 531358"/>
              <a:gd name="connsiteX20" fmla="*/ 81542 w 608697"/>
              <a:gd name="connsiteY20" fmla="*/ 531358 h 531358"/>
              <a:gd name="connsiteX21" fmla="*/ 75051 w 608697"/>
              <a:gd name="connsiteY21" fmla="*/ 527857 h 531358"/>
              <a:gd name="connsiteX22" fmla="*/ 74753 w 608697"/>
              <a:gd name="connsiteY22" fmla="*/ 519738 h 531358"/>
              <a:gd name="connsiteX23" fmla="*/ 88778 w 608697"/>
              <a:gd name="connsiteY23" fmla="*/ 435046 h 531358"/>
              <a:gd name="connsiteX24" fmla="*/ 0 w 608697"/>
              <a:gd name="connsiteY24" fmla="*/ 282198 h 531358"/>
              <a:gd name="connsiteX25" fmla="*/ 102356 w 608697"/>
              <a:gd name="connsiteY25" fmla="*/ 121231 h 531358"/>
              <a:gd name="connsiteX26" fmla="*/ 356424 w 608697"/>
              <a:gd name="connsiteY26" fmla="*/ 0 h 531358"/>
              <a:gd name="connsiteX27" fmla="*/ 608697 w 608697"/>
              <a:gd name="connsiteY27" fmla="*/ 211244 h 531358"/>
              <a:gd name="connsiteX28" fmla="*/ 518290 w 608697"/>
              <a:gd name="connsiteY28" fmla="*/ 373401 h 531358"/>
              <a:gd name="connsiteX29" fmla="*/ 531941 w 608697"/>
              <a:gd name="connsiteY29" fmla="*/ 441109 h 531358"/>
              <a:gd name="connsiteX30" fmla="*/ 531120 w 608697"/>
              <a:gd name="connsiteY30" fmla="*/ 465391 h 531358"/>
              <a:gd name="connsiteX31" fmla="*/ 511577 w 608697"/>
              <a:gd name="connsiteY31" fmla="*/ 475894 h 531358"/>
              <a:gd name="connsiteX32" fmla="*/ 509041 w 608697"/>
              <a:gd name="connsiteY32" fmla="*/ 475745 h 531358"/>
              <a:gd name="connsiteX33" fmla="*/ 391408 w 608697"/>
              <a:gd name="connsiteY33" fmla="*/ 420476 h 531358"/>
              <a:gd name="connsiteX34" fmla="*/ 356424 w 608697"/>
              <a:gd name="connsiteY34" fmla="*/ 422487 h 531358"/>
              <a:gd name="connsiteX35" fmla="*/ 104225 w 608697"/>
              <a:gd name="connsiteY35" fmla="*/ 211244 h 531358"/>
              <a:gd name="connsiteX36" fmla="*/ 356424 w 608697"/>
              <a:gd name="connsiteY36" fmla="*/ 0 h 531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608697" h="531358">
                <a:moveTo>
                  <a:pt x="424975" y="168488"/>
                </a:moveTo>
                <a:cubicBezTo>
                  <a:pt x="404312" y="168488"/>
                  <a:pt x="387604" y="185248"/>
                  <a:pt x="387604" y="205806"/>
                </a:cubicBezTo>
                <a:cubicBezTo>
                  <a:pt x="387604" y="226439"/>
                  <a:pt x="404312" y="243124"/>
                  <a:pt x="424975" y="243124"/>
                </a:cubicBezTo>
                <a:cubicBezTo>
                  <a:pt x="445562" y="243124"/>
                  <a:pt x="462346" y="226439"/>
                  <a:pt x="462346" y="205806"/>
                </a:cubicBezTo>
                <a:cubicBezTo>
                  <a:pt x="462346" y="185248"/>
                  <a:pt x="445637" y="168488"/>
                  <a:pt x="424975" y="168488"/>
                </a:cubicBezTo>
                <a:close/>
                <a:moveTo>
                  <a:pt x="287947" y="168488"/>
                </a:moveTo>
                <a:cubicBezTo>
                  <a:pt x="267285" y="168488"/>
                  <a:pt x="250576" y="185248"/>
                  <a:pt x="250576" y="205806"/>
                </a:cubicBezTo>
                <a:cubicBezTo>
                  <a:pt x="250576" y="226439"/>
                  <a:pt x="267285" y="243124"/>
                  <a:pt x="287947" y="243124"/>
                </a:cubicBezTo>
                <a:cubicBezTo>
                  <a:pt x="308610" y="243124"/>
                  <a:pt x="325318" y="226439"/>
                  <a:pt x="325318" y="205806"/>
                </a:cubicBezTo>
                <a:cubicBezTo>
                  <a:pt x="325318" y="185248"/>
                  <a:pt x="308610" y="168488"/>
                  <a:pt x="287947" y="168488"/>
                </a:cubicBezTo>
                <a:close/>
                <a:moveTo>
                  <a:pt x="102356" y="121231"/>
                </a:moveTo>
                <a:cubicBezTo>
                  <a:pt x="101162" y="123317"/>
                  <a:pt x="99969" y="125477"/>
                  <a:pt x="98850" y="127711"/>
                </a:cubicBezTo>
                <a:cubicBezTo>
                  <a:pt x="84227" y="156240"/>
                  <a:pt x="76842" y="186631"/>
                  <a:pt x="76842" y="217990"/>
                </a:cubicBezTo>
                <a:cubicBezTo>
                  <a:pt x="76842" y="249275"/>
                  <a:pt x="84227" y="279666"/>
                  <a:pt x="98850" y="308194"/>
                </a:cubicBezTo>
                <a:cubicBezTo>
                  <a:pt x="112726" y="335308"/>
                  <a:pt x="132496" y="359516"/>
                  <a:pt x="157488" y="380223"/>
                </a:cubicBezTo>
                <a:cubicBezTo>
                  <a:pt x="207845" y="421787"/>
                  <a:pt x="274317" y="444729"/>
                  <a:pt x="344668" y="444729"/>
                </a:cubicBezTo>
                <a:cubicBezTo>
                  <a:pt x="353173" y="444729"/>
                  <a:pt x="361752" y="444357"/>
                  <a:pt x="370257" y="443687"/>
                </a:cubicBezTo>
                <a:cubicBezTo>
                  <a:pt x="332209" y="465288"/>
                  <a:pt x="286254" y="477876"/>
                  <a:pt x="236717" y="477876"/>
                </a:cubicBezTo>
                <a:cubicBezTo>
                  <a:pt x="223736" y="477876"/>
                  <a:pt x="210755" y="477057"/>
                  <a:pt x="198072" y="475344"/>
                </a:cubicBezTo>
                <a:cubicBezTo>
                  <a:pt x="160397" y="499478"/>
                  <a:pt x="110637" y="528155"/>
                  <a:pt x="82437" y="531284"/>
                </a:cubicBezTo>
                <a:cubicBezTo>
                  <a:pt x="82138" y="531358"/>
                  <a:pt x="81840" y="531358"/>
                  <a:pt x="81542" y="531358"/>
                </a:cubicBezTo>
                <a:cubicBezTo>
                  <a:pt x="78930" y="531358"/>
                  <a:pt x="76469" y="530017"/>
                  <a:pt x="75051" y="527857"/>
                </a:cubicBezTo>
                <a:cubicBezTo>
                  <a:pt x="73410" y="525399"/>
                  <a:pt x="73335" y="522271"/>
                  <a:pt x="74753" y="519738"/>
                </a:cubicBezTo>
                <a:cubicBezTo>
                  <a:pt x="75051" y="519291"/>
                  <a:pt x="99223" y="476014"/>
                  <a:pt x="88778" y="435046"/>
                </a:cubicBezTo>
                <a:cubicBezTo>
                  <a:pt x="32303" y="397653"/>
                  <a:pt x="0" y="342160"/>
                  <a:pt x="0" y="282198"/>
                </a:cubicBezTo>
                <a:cubicBezTo>
                  <a:pt x="0" y="215532"/>
                  <a:pt x="40584" y="156538"/>
                  <a:pt x="102356" y="121231"/>
                </a:cubicBezTo>
                <a:close/>
                <a:moveTo>
                  <a:pt x="356424" y="0"/>
                </a:moveTo>
                <a:cubicBezTo>
                  <a:pt x="495540" y="0"/>
                  <a:pt x="608697" y="94747"/>
                  <a:pt x="608697" y="211244"/>
                </a:cubicBezTo>
                <a:cubicBezTo>
                  <a:pt x="608697" y="274408"/>
                  <a:pt x="575802" y="333178"/>
                  <a:pt x="518290" y="373401"/>
                </a:cubicBezTo>
                <a:cubicBezTo>
                  <a:pt x="512845" y="406324"/>
                  <a:pt x="531717" y="440811"/>
                  <a:pt x="531941" y="441109"/>
                </a:cubicBezTo>
                <a:cubicBezTo>
                  <a:pt x="536267" y="448781"/>
                  <a:pt x="535969" y="458092"/>
                  <a:pt x="531120" y="465391"/>
                </a:cubicBezTo>
                <a:cubicBezTo>
                  <a:pt x="526794" y="472021"/>
                  <a:pt x="519484" y="475894"/>
                  <a:pt x="511577" y="475894"/>
                </a:cubicBezTo>
                <a:cubicBezTo>
                  <a:pt x="510756" y="475894"/>
                  <a:pt x="509936" y="475894"/>
                  <a:pt x="509041" y="475745"/>
                </a:cubicBezTo>
                <a:cubicBezTo>
                  <a:pt x="484574" y="473064"/>
                  <a:pt x="444966" y="454442"/>
                  <a:pt x="391408" y="420476"/>
                </a:cubicBezTo>
                <a:cubicBezTo>
                  <a:pt x="379920" y="421817"/>
                  <a:pt x="368135" y="422487"/>
                  <a:pt x="356424" y="422487"/>
                </a:cubicBezTo>
                <a:cubicBezTo>
                  <a:pt x="217382" y="422487"/>
                  <a:pt x="104225" y="327741"/>
                  <a:pt x="104225" y="211244"/>
                </a:cubicBezTo>
                <a:cubicBezTo>
                  <a:pt x="104225" y="94747"/>
                  <a:pt x="217382" y="0"/>
                  <a:pt x="35642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7636054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E128E-1800-2B19-2037-4C4B619E2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DF7D5BE-3378-580D-E5F3-2416EE4672A7}"/>
              </a:ext>
            </a:extLst>
          </p:cNvPr>
          <p:cNvSpPr txBox="1"/>
          <p:nvPr/>
        </p:nvSpPr>
        <p:spPr>
          <a:xfrm>
            <a:off x="587375" y="621626"/>
            <a:ext cx="53732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Tw Cen MT Condensed Extra Bold" panose="020B0803020202020204" pitchFamily="34" charset="0"/>
                <a:ea typeface="等线" panose="02010600030101010101" pitchFamily="2" charset="-122"/>
              </a:rPr>
              <a:t>3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anose="02010600030101010101" pitchFamily="2" charset="-122"/>
                <a:cs typeface="+mn-cs"/>
              </a:rPr>
              <a:t>.3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Condensed Extra Bold" panose="020B08030202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1C44ABD-2F9E-010E-DFF0-34F2EEACD380}"/>
              </a:ext>
            </a:extLst>
          </p:cNvPr>
          <p:cNvSpPr/>
          <p:nvPr/>
        </p:nvSpPr>
        <p:spPr>
          <a:xfrm>
            <a:off x="10945503" y="441325"/>
            <a:ext cx="659122" cy="659122"/>
          </a:xfrm>
          <a:prstGeom prst="rect">
            <a:avLst/>
          </a:prstGeom>
          <a:blipFill dpi="0" rotWithShape="1">
            <a:blip r:embed="rId2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1ABAA00E-756C-CBCB-1DEF-59B220F63E75}"/>
              </a:ext>
            </a:extLst>
          </p:cNvPr>
          <p:cNvCxnSpPr/>
          <p:nvPr/>
        </p:nvCxnSpPr>
        <p:spPr>
          <a:xfrm>
            <a:off x="648833" y="490652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B4B3F3E7-BAC0-6EC9-E021-A446C0FB5B5D}"/>
              </a:ext>
            </a:extLst>
          </p:cNvPr>
          <p:cNvSpPr txBox="1"/>
          <p:nvPr/>
        </p:nvSpPr>
        <p:spPr>
          <a:xfrm>
            <a:off x="542925" y="5786978"/>
            <a:ext cx="1321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CASE STUDY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RESEARCH.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9BF31E76-7C87-E174-D21A-DA3016B20C1B}"/>
              </a:ext>
            </a:extLst>
          </p:cNvPr>
          <p:cNvCxnSpPr/>
          <p:nvPr/>
        </p:nvCxnSpPr>
        <p:spPr>
          <a:xfrm>
            <a:off x="648833" y="6391831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C70426B0-95DD-D883-D8F4-DDD80CAC5139}"/>
              </a:ext>
            </a:extLst>
          </p:cNvPr>
          <p:cNvGrpSpPr/>
          <p:nvPr/>
        </p:nvGrpSpPr>
        <p:grpSpPr>
          <a:xfrm>
            <a:off x="1352373" y="1590482"/>
            <a:ext cx="7849909" cy="966288"/>
            <a:chOff x="5474326" y="1122027"/>
            <a:chExt cx="7849909" cy="966288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611A70CD-5216-3AB4-F503-5CB570C52311}"/>
                </a:ext>
              </a:extLst>
            </p:cNvPr>
            <p:cNvSpPr txBox="1"/>
            <p:nvPr/>
          </p:nvSpPr>
          <p:spPr>
            <a:xfrm>
              <a:off x="6959235" y="1367132"/>
              <a:ext cx="30908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149249FB-B437-FBB9-3420-198CF1550FF2}"/>
                </a:ext>
              </a:extLst>
            </p:cNvPr>
            <p:cNvSpPr txBox="1"/>
            <p:nvPr/>
          </p:nvSpPr>
          <p:spPr>
            <a:xfrm>
              <a:off x="5560841" y="1503540"/>
              <a:ext cx="776339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0" dirty="0">
                  <a:effectLst/>
                  <a:latin typeface="Consolas" panose="020B0609020204030204" pitchFamily="49" charset="0"/>
                </a:rPr>
                <a:t>选用高转速（如 </a:t>
              </a:r>
              <a:r>
                <a:rPr lang="en-US" altLang="zh-CN" sz="1600" b="0" dirty="0">
                  <a:effectLst/>
                  <a:latin typeface="Consolas" panose="020B0609020204030204" pitchFamily="49" charset="0"/>
                </a:rPr>
                <a:t>10K/15K RPM</a:t>
              </a:r>
              <a:r>
                <a:rPr lang="zh-CN" altLang="en-US" sz="1600" b="0" dirty="0">
                  <a:effectLst/>
                  <a:latin typeface="Consolas" panose="020B0609020204030204" pitchFamily="49" charset="0"/>
                </a:rPr>
                <a:t>）的企业级 </a:t>
              </a:r>
              <a:r>
                <a:rPr lang="en-US" altLang="zh-CN" sz="1600" b="0" dirty="0">
                  <a:effectLst/>
                  <a:latin typeface="Consolas" panose="020B0609020204030204" pitchFamily="49" charset="0"/>
                </a:rPr>
                <a:t>SAS </a:t>
              </a:r>
              <a:r>
                <a:rPr lang="zh-CN" altLang="en-US" sz="1600" b="0" dirty="0">
                  <a:effectLst/>
                  <a:latin typeface="Consolas" panose="020B0609020204030204" pitchFamily="49" charset="0"/>
                </a:rPr>
                <a:t>硬盘或高性能企业级</a:t>
              </a:r>
              <a:r>
                <a:rPr lang="en-US" altLang="zh-CN" sz="1600" b="0" dirty="0">
                  <a:effectLst/>
                  <a:latin typeface="Consolas" panose="020B0609020204030204" pitchFamily="49" charset="0"/>
                </a:rPr>
                <a:t>SATA SSD</a:t>
              </a:r>
              <a:r>
                <a:rPr lang="zh-CN" altLang="en-US" sz="1600" b="0" dirty="0">
                  <a:effectLst/>
                  <a:latin typeface="Consolas" panose="020B0609020204030204" pitchFamily="49" charset="0"/>
                </a:rPr>
                <a:t>，确保单盘性能和可靠性。对于极致性能场景，可考虑全 </a:t>
              </a:r>
              <a:r>
                <a:rPr lang="en-US" altLang="zh-CN" sz="1600" b="0" dirty="0" err="1">
                  <a:effectLst/>
                  <a:latin typeface="Consolas" panose="020B0609020204030204" pitchFamily="49" charset="0"/>
                </a:rPr>
                <a:t>NVMe</a:t>
              </a:r>
              <a:r>
                <a:rPr lang="en-US" altLang="zh-CN" sz="1600" b="0" dirty="0">
                  <a:effectLst/>
                  <a:latin typeface="Consolas" panose="020B0609020204030204" pitchFamily="49" charset="0"/>
                </a:rPr>
                <a:t> SSDRAID 10</a:t>
              </a:r>
              <a:r>
                <a:rPr lang="zh-CN" altLang="en-US" sz="1600" b="0" dirty="0">
                  <a:effectLst/>
                  <a:latin typeface="Consolas" panose="020B0609020204030204" pitchFamily="49" charset="0"/>
                </a:rPr>
                <a:t>。</a:t>
              </a:r>
            </a:p>
          </p:txBody>
        </p:sp>
        <p:sp>
          <p:nvSpPr>
            <p:cNvPr id="22" name="iconfont-11180-4674648">
              <a:extLst>
                <a:ext uri="{FF2B5EF4-FFF2-40B4-BE49-F238E27FC236}">
                  <a16:creationId xmlns:a16="http://schemas.microsoft.com/office/drawing/2014/main" id="{9272FACB-E4E8-1938-70F0-19E72189D26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74326" y="1122027"/>
              <a:ext cx="249971" cy="249971"/>
            </a:xfrm>
            <a:custGeom>
              <a:avLst/>
              <a:gdLst>
                <a:gd name="T0" fmla="*/ 6903 w 13303"/>
                <a:gd name="T1" fmla="*/ 13303 h 13303"/>
                <a:gd name="T2" fmla="*/ 990 w 13303"/>
                <a:gd name="T3" fmla="*/ 9352 h 13303"/>
                <a:gd name="T4" fmla="*/ 2378 w 13303"/>
                <a:gd name="T5" fmla="*/ 2378 h 13303"/>
                <a:gd name="T6" fmla="*/ 9352 w 13303"/>
                <a:gd name="T7" fmla="*/ 990 h 13303"/>
                <a:gd name="T8" fmla="*/ 13303 w 13303"/>
                <a:gd name="T9" fmla="*/ 6903 h 13303"/>
                <a:gd name="T10" fmla="*/ 11428 w 13303"/>
                <a:gd name="T11" fmla="*/ 11428 h 13303"/>
                <a:gd name="T12" fmla="*/ 6903 w 13303"/>
                <a:gd name="T13" fmla="*/ 13303 h 13303"/>
                <a:gd name="T14" fmla="*/ 10243 w 13303"/>
                <a:gd name="T15" fmla="*/ 4852 h 13303"/>
                <a:gd name="T16" fmla="*/ 9597 w 13303"/>
                <a:gd name="T17" fmla="*/ 4852 h 13303"/>
                <a:gd name="T18" fmla="*/ 6041 w 13303"/>
                <a:gd name="T19" fmla="*/ 8405 h 13303"/>
                <a:gd name="T20" fmla="*/ 4209 w 13303"/>
                <a:gd name="T21" fmla="*/ 6574 h 13303"/>
                <a:gd name="T22" fmla="*/ 3572 w 13303"/>
                <a:gd name="T23" fmla="*/ 6583 h 13303"/>
                <a:gd name="T24" fmla="*/ 3563 w 13303"/>
                <a:gd name="T25" fmla="*/ 7220 h 13303"/>
                <a:gd name="T26" fmla="*/ 5718 w 13303"/>
                <a:gd name="T27" fmla="*/ 9378 h 13303"/>
                <a:gd name="T28" fmla="*/ 6364 w 13303"/>
                <a:gd name="T29" fmla="*/ 9378 h 13303"/>
                <a:gd name="T30" fmla="*/ 10243 w 13303"/>
                <a:gd name="T31" fmla="*/ 5498 h 13303"/>
                <a:gd name="T32" fmla="*/ 10243 w 13303"/>
                <a:gd name="T33" fmla="*/ 4852 h 13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303" h="13303">
                  <a:moveTo>
                    <a:pt x="6903" y="13303"/>
                  </a:moveTo>
                  <a:cubicBezTo>
                    <a:pt x="4314" y="13303"/>
                    <a:pt x="1981" y="11744"/>
                    <a:pt x="990" y="9352"/>
                  </a:cubicBezTo>
                  <a:cubicBezTo>
                    <a:pt x="0" y="6961"/>
                    <a:pt x="547" y="4208"/>
                    <a:pt x="2378" y="2378"/>
                  </a:cubicBezTo>
                  <a:cubicBezTo>
                    <a:pt x="4208" y="547"/>
                    <a:pt x="6961" y="0"/>
                    <a:pt x="9352" y="990"/>
                  </a:cubicBezTo>
                  <a:cubicBezTo>
                    <a:pt x="11744" y="1981"/>
                    <a:pt x="13303" y="4314"/>
                    <a:pt x="13303" y="6903"/>
                  </a:cubicBezTo>
                  <a:cubicBezTo>
                    <a:pt x="13303" y="8600"/>
                    <a:pt x="12629" y="10228"/>
                    <a:pt x="11428" y="11428"/>
                  </a:cubicBezTo>
                  <a:cubicBezTo>
                    <a:pt x="10228" y="12629"/>
                    <a:pt x="8600" y="13303"/>
                    <a:pt x="6903" y="13303"/>
                  </a:cubicBezTo>
                  <a:close/>
                  <a:moveTo>
                    <a:pt x="10243" y="4852"/>
                  </a:moveTo>
                  <a:cubicBezTo>
                    <a:pt x="10065" y="4672"/>
                    <a:pt x="9775" y="4672"/>
                    <a:pt x="9597" y="4852"/>
                  </a:cubicBezTo>
                  <a:lnTo>
                    <a:pt x="6041" y="8405"/>
                  </a:lnTo>
                  <a:lnTo>
                    <a:pt x="4209" y="6574"/>
                  </a:lnTo>
                  <a:cubicBezTo>
                    <a:pt x="4029" y="6404"/>
                    <a:pt x="3747" y="6408"/>
                    <a:pt x="3572" y="6583"/>
                  </a:cubicBezTo>
                  <a:cubicBezTo>
                    <a:pt x="3397" y="6758"/>
                    <a:pt x="3393" y="7040"/>
                    <a:pt x="3563" y="7220"/>
                  </a:cubicBezTo>
                  <a:lnTo>
                    <a:pt x="5718" y="9378"/>
                  </a:lnTo>
                  <a:cubicBezTo>
                    <a:pt x="5897" y="9554"/>
                    <a:pt x="6185" y="9554"/>
                    <a:pt x="6364" y="9378"/>
                  </a:cubicBezTo>
                  <a:lnTo>
                    <a:pt x="10243" y="5498"/>
                  </a:lnTo>
                  <a:cubicBezTo>
                    <a:pt x="10421" y="5320"/>
                    <a:pt x="10421" y="5030"/>
                    <a:pt x="10243" y="485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</p:sp>
      </p:grpSp>
      <p:sp>
        <p:nvSpPr>
          <p:cNvPr id="23" name="iconfont-10585-5147501">
            <a:extLst>
              <a:ext uri="{FF2B5EF4-FFF2-40B4-BE49-F238E27FC236}">
                <a16:creationId xmlns:a16="http://schemas.microsoft.com/office/drawing/2014/main" id="{EEC5BBCB-CC30-B03D-0F6D-EEEED34556EC}"/>
              </a:ext>
            </a:extLst>
          </p:cNvPr>
          <p:cNvSpPr>
            <a:spLocks noChangeAspect="1"/>
          </p:cNvSpPr>
          <p:nvPr/>
        </p:nvSpPr>
        <p:spPr bwMode="auto">
          <a:xfrm>
            <a:off x="1352370" y="2887545"/>
            <a:ext cx="331155" cy="250605"/>
          </a:xfrm>
          <a:custGeom>
            <a:avLst/>
            <a:gdLst>
              <a:gd name="T0" fmla="*/ 8851 w 12288"/>
              <a:gd name="T1" fmla="*/ 2190 h 9507"/>
              <a:gd name="T2" fmla="*/ 5095 w 12288"/>
              <a:gd name="T3" fmla="*/ 299 h 9507"/>
              <a:gd name="T4" fmla="*/ 2323 w 12288"/>
              <a:gd name="T5" fmla="*/ 3463 h 9507"/>
              <a:gd name="T6" fmla="*/ 0 w 12288"/>
              <a:gd name="T7" fmla="*/ 6419 h 9507"/>
              <a:gd name="T8" fmla="*/ 3072 w 12288"/>
              <a:gd name="T9" fmla="*/ 9507 h 9507"/>
              <a:gd name="T10" fmla="*/ 8832 w 12288"/>
              <a:gd name="T11" fmla="*/ 9507 h 9507"/>
              <a:gd name="T12" fmla="*/ 12288 w 12288"/>
              <a:gd name="T13" fmla="*/ 5839 h 9507"/>
              <a:gd name="T14" fmla="*/ 8851 w 12288"/>
              <a:gd name="T15" fmla="*/ 2190 h 9507"/>
              <a:gd name="T16" fmla="*/ 7857 w 12288"/>
              <a:gd name="T17" fmla="*/ 5994 h 9507"/>
              <a:gd name="T18" fmla="*/ 7455 w 12288"/>
              <a:gd name="T19" fmla="*/ 5994 h 9507"/>
              <a:gd name="T20" fmla="*/ 7253 w 12288"/>
              <a:gd name="T21" fmla="*/ 6186 h 9507"/>
              <a:gd name="T22" fmla="*/ 7248 w 12288"/>
              <a:gd name="T23" fmla="*/ 8151 h 9507"/>
              <a:gd name="T24" fmla="*/ 6845 w 12288"/>
              <a:gd name="T25" fmla="*/ 8535 h 9507"/>
              <a:gd name="T26" fmla="*/ 5441 w 12288"/>
              <a:gd name="T27" fmla="*/ 8535 h 9507"/>
              <a:gd name="T28" fmla="*/ 5039 w 12288"/>
              <a:gd name="T29" fmla="*/ 8151 h 9507"/>
              <a:gd name="T30" fmla="*/ 5034 w 12288"/>
              <a:gd name="T31" fmla="*/ 6186 h 9507"/>
              <a:gd name="T32" fmla="*/ 4832 w 12288"/>
              <a:gd name="T33" fmla="*/ 5994 h 9507"/>
              <a:gd name="T34" fmla="*/ 4429 w 12288"/>
              <a:gd name="T35" fmla="*/ 5994 h 9507"/>
              <a:gd name="T36" fmla="*/ 4026 w 12288"/>
              <a:gd name="T37" fmla="*/ 5610 h 9507"/>
              <a:gd name="T38" fmla="*/ 4104 w 12288"/>
              <a:gd name="T39" fmla="*/ 5380 h 9507"/>
              <a:gd name="T40" fmla="*/ 5784 w 12288"/>
              <a:gd name="T41" fmla="*/ 3442 h 9507"/>
              <a:gd name="T42" fmla="*/ 6499 w 12288"/>
              <a:gd name="T43" fmla="*/ 3442 h 9507"/>
              <a:gd name="T44" fmla="*/ 8180 w 12288"/>
              <a:gd name="T45" fmla="*/ 5380 h 9507"/>
              <a:gd name="T46" fmla="*/ 8259 w 12288"/>
              <a:gd name="T47" fmla="*/ 5610 h 9507"/>
              <a:gd name="T48" fmla="*/ 7857 w 12288"/>
              <a:gd name="T49" fmla="*/ 5994 h 95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2288" h="9507">
                <a:moveTo>
                  <a:pt x="8851" y="2190"/>
                </a:moveTo>
                <a:cubicBezTo>
                  <a:pt x="8176" y="777"/>
                  <a:pt x="6631" y="0"/>
                  <a:pt x="5095" y="299"/>
                </a:cubicBezTo>
                <a:cubicBezTo>
                  <a:pt x="3558" y="599"/>
                  <a:pt x="2418" y="1900"/>
                  <a:pt x="2323" y="3463"/>
                </a:cubicBezTo>
                <a:cubicBezTo>
                  <a:pt x="979" y="3847"/>
                  <a:pt x="0" y="5028"/>
                  <a:pt x="0" y="6419"/>
                </a:cubicBezTo>
                <a:cubicBezTo>
                  <a:pt x="0" y="8061"/>
                  <a:pt x="1363" y="9410"/>
                  <a:pt x="3072" y="9507"/>
                </a:cubicBezTo>
                <a:lnTo>
                  <a:pt x="8832" y="9507"/>
                </a:lnTo>
                <a:cubicBezTo>
                  <a:pt x="10732" y="9507"/>
                  <a:pt x="12288" y="7865"/>
                  <a:pt x="12288" y="5839"/>
                </a:cubicBezTo>
                <a:cubicBezTo>
                  <a:pt x="12287" y="3889"/>
                  <a:pt x="10770" y="2288"/>
                  <a:pt x="8851" y="2190"/>
                </a:cubicBezTo>
                <a:close/>
                <a:moveTo>
                  <a:pt x="7857" y="5994"/>
                </a:moveTo>
                <a:lnTo>
                  <a:pt x="7455" y="5994"/>
                </a:lnTo>
                <a:cubicBezTo>
                  <a:pt x="7347" y="5992"/>
                  <a:pt x="7257" y="6077"/>
                  <a:pt x="7253" y="6186"/>
                </a:cubicBezTo>
                <a:lnTo>
                  <a:pt x="7248" y="8151"/>
                </a:lnTo>
                <a:cubicBezTo>
                  <a:pt x="7243" y="8368"/>
                  <a:pt x="7062" y="8541"/>
                  <a:pt x="6845" y="8535"/>
                </a:cubicBezTo>
                <a:lnTo>
                  <a:pt x="5441" y="8535"/>
                </a:lnTo>
                <a:cubicBezTo>
                  <a:pt x="5223" y="8541"/>
                  <a:pt x="5043" y="8368"/>
                  <a:pt x="5039" y="8151"/>
                </a:cubicBezTo>
                <a:lnTo>
                  <a:pt x="5034" y="6186"/>
                </a:lnTo>
                <a:cubicBezTo>
                  <a:pt x="5031" y="6077"/>
                  <a:pt x="4940" y="5991"/>
                  <a:pt x="4832" y="5994"/>
                </a:cubicBezTo>
                <a:lnTo>
                  <a:pt x="4429" y="5994"/>
                </a:lnTo>
                <a:cubicBezTo>
                  <a:pt x="4212" y="5998"/>
                  <a:pt x="4032" y="5827"/>
                  <a:pt x="4026" y="5610"/>
                </a:cubicBezTo>
                <a:cubicBezTo>
                  <a:pt x="4025" y="5527"/>
                  <a:pt x="4053" y="5446"/>
                  <a:pt x="4104" y="5380"/>
                </a:cubicBezTo>
                <a:lnTo>
                  <a:pt x="5784" y="3442"/>
                </a:lnTo>
                <a:cubicBezTo>
                  <a:pt x="5986" y="3254"/>
                  <a:pt x="6298" y="3254"/>
                  <a:pt x="6499" y="3442"/>
                </a:cubicBezTo>
                <a:lnTo>
                  <a:pt x="8180" y="5380"/>
                </a:lnTo>
                <a:cubicBezTo>
                  <a:pt x="8231" y="5446"/>
                  <a:pt x="8259" y="5526"/>
                  <a:pt x="8259" y="5610"/>
                </a:cubicBezTo>
                <a:cubicBezTo>
                  <a:pt x="8254" y="5827"/>
                  <a:pt x="8074" y="5999"/>
                  <a:pt x="7857" y="599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1313201-4D7B-BFE3-F784-4ACBA92C8BDA}"/>
              </a:ext>
            </a:extLst>
          </p:cNvPr>
          <p:cNvSpPr txBox="1"/>
          <p:nvPr/>
        </p:nvSpPr>
        <p:spPr>
          <a:xfrm>
            <a:off x="1124702" y="621626"/>
            <a:ext cx="17331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20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部分配置选择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1A2D79C-B7AD-ECC4-5F09-35FED0C0C3EF}"/>
              </a:ext>
            </a:extLst>
          </p:cNvPr>
          <p:cNvSpPr txBox="1"/>
          <p:nvPr/>
        </p:nvSpPr>
        <p:spPr>
          <a:xfrm>
            <a:off x="1649627" y="1563734"/>
            <a:ext cx="2989511" cy="326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zh-CN" altLang="en-US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硬盘选择</a:t>
            </a:r>
            <a:endParaRPr lang="zh-CN" altLang="en-US" b="0" dirty="0"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7A06840D-1D91-67E7-4B6B-E90CA9BBC796}"/>
              </a:ext>
            </a:extLst>
          </p:cNvPr>
          <p:cNvGrpSpPr/>
          <p:nvPr/>
        </p:nvGrpSpPr>
        <p:grpSpPr>
          <a:xfrm>
            <a:off x="1438885" y="3138150"/>
            <a:ext cx="8187715" cy="721183"/>
            <a:chOff x="5560841" y="1367132"/>
            <a:chExt cx="8008546" cy="721183"/>
          </a:xfrm>
        </p:grpSpPr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67C6AB42-9BAF-6816-AAC5-ADB5FC200659}"/>
                </a:ext>
              </a:extLst>
            </p:cNvPr>
            <p:cNvSpPr txBox="1"/>
            <p:nvPr/>
          </p:nvSpPr>
          <p:spPr>
            <a:xfrm>
              <a:off x="6959235" y="1367132"/>
              <a:ext cx="30908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BC4CC572-2E3B-1E84-F42C-9B7DCFA4E374}"/>
                </a:ext>
              </a:extLst>
            </p:cNvPr>
            <p:cNvSpPr txBox="1"/>
            <p:nvPr/>
          </p:nvSpPr>
          <p:spPr>
            <a:xfrm>
              <a:off x="5560841" y="1503540"/>
              <a:ext cx="800854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Consolas" panose="020B0609020204030204" pitchFamily="49" charset="0"/>
                </a:rPr>
                <a:t>采用具备大容量（如 </a:t>
              </a:r>
              <a:r>
                <a:rPr lang="en-US" altLang="zh-CN" sz="1600" dirty="0">
                  <a:latin typeface="Consolas" panose="020B0609020204030204" pitchFamily="49" charset="0"/>
                </a:rPr>
                <a:t>2GB </a:t>
              </a:r>
              <a:r>
                <a:rPr lang="zh-CN" altLang="en-US" sz="1600" dirty="0">
                  <a:latin typeface="Consolas" panose="020B0609020204030204" pitchFamily="49" charset="0"/>
                </a:rPr>
                <a:t>以上）写回缓存（</a:t>
              </a:r>
              <a:r>
                <a:rPr lang="en-US" altLang="zh-CN" sz="1600" dirty="0">
                  <a:latin typeface="Consolas" panose="020B0609020204030204" pitchFamily="49" charset="0"/>
                </a:rPr>
                <a:t>Write-Back Cache</a:t>
              </a:r>
              <a:r>
                <a:rPr lang="zh-CN" altLang="en-US" sz="1600" dirty="0">
                  <a:latin typeface="Consolas" panose="020B0609020204030204" pitchFamily="49" charset="0"/>
                </a:rPr>
                <a:t>）和备用电池单元（</a:t>
              </a:r>
              <a:r>
                <a:rPr lang="en-US" altLang="zh-CN" sz="1600" dirty="0">
                  <a:latin typeface="Consolas" panose="020B0609020204030204" pitchFamily="49" charset="0"/>
                </a:rPr>
                <a:t>BBU</a:t>
              </a:r>
              <a:r>
                <a:rPr lang="zh-CN" altLang="en-US" sz="1600" dirty="0">
                  <a:latin typeface="Consolas" panose="020B0609020204030204" pitchFamily="49" charset="0"/>
                </a:rPr>
                <a:t>）或超级电容保护的专业硬件 </a:t>
              </a:r>
              <a:r>
                <a:rPr lang="en-US" altLang="zh-CN" sz="1600" dirty="0">
                  <a:latin typeface="Consolas" panose="020B0609020204030204" pitchFamily="49" charset="0"/>
                </a:rPr>
                <a:t>RAID </a:t>
              </a:r>
              <a:r>
                <a:rPr lang="zh-CN" altLang="en-US" sz="1600" dirty="0">
                  <a:latin typeface="Consolas" panose="020B0609020204030204" pitchFamily="49" charset="0"/>
                </a:rPr>
                <a:t>控制卡，以提升写入性能并防止掉电数据丢失。</a:t>
              </a:r>
            </a:p>
          </p:txBody>
        </p:sp>
      </p:grpSp>
      <p:sp>
        <p:nvSpPr>
          <p:cNvPr id="36" name="文本框 35">
            <a:extLst>
              <a:ext uri="{FF2B5EF4-FFF2-40B4-BE49-F238E27FC236}">
                <a16:creationId xmlns:a16="http://schemas.microsoft.com/office/drawing/2014/main" id="{00778BCF-051B-1D17-69CE-81F8B29C38B3}"/>
              </a:ext>
            </a:extLst>
          </p:cNvPr>
          <p:cNvSpPr txBox="1"/>
          <p:nvPr/>
        </p:nvSpPr>
        <p:spPr>
          <a:xfrm>
            <a:off x="1704376" y="2859040"/>
            <a:ext cx="2294189" cy="326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RAID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控制器</a:t>
            </a: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80BAF363-E3A1-F3C9-2B74-DAAF1FB3235E}"/>
              </a:ext>
            </a:extLst>
          </p:cNvPr>
          <p:cNvGrpSpPr/>
          <p:nvPr/>
        </p:nvGrpSpPr>
        <p:grpSpPr>
          <a:xfrm>
            <a:off x="1465991" y="4295585"/>
            <a:ext cx="7699702" cy="893093"/>
            <a:chOff x="5623138" y="1367132"/>
            <a:chExt cx="6085515" cy="893093"/>
          </a:xfrm>
        </p:grpSpPr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3B9E2A74-0D64-F7DA-C3AA-4FF68864F7FE}"/>
                </a:ext>
              </a:extLst>
            </p:cNvPr>
            <p:cNvSpPr txBox="1"/>
            <p:nvPr/>
          </p:nvSpPr>
          <p:spPr>
            <a:xfrm>
              <a:off x="6959235" y="1367132"/>
              <a:ext cx="30908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67D48CBE-7787-97DA-30B2-4D0FA7CCAC40}"/>
                </a:ext>
              </a:extLst>
            </p:cNvPr>
            <p:cNvSpPr txBox="1"/>
            <p:nvPr/>
          </p:nvSpPr>
          <p:spPr>
            <a:xfrm>
              <a:off x="5623138" y="1675450"/>
              <a:ext cx="608551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None/>
              </a:pPr>
              <a:r>
                <a:rPr lang="zh-CN" altLang="en-US" sz="1600" dirty="0">
                  <a:latin typeface="Consolas" panose="020B0609020204030204" pitchFamily="49" charset="0"/>
                </a:rPr>
                <a:t>根据主要应用 </a:t>
              </a:r>
              <a:r>
                <a:rPr lang="en-US" altLang="zh-CN" sz="1600" dirty="0">
                  <a:latin typeface="Consolas" panose="020B0609020204030204" pitchFamily="49" charset="0"/>
                </a:rPr>
                <a:t>I/O </a:t>
              </a:r>
              <a:r>
                <a:rPr lang="zh-CN" altLang="en-US" sz="1600" dirty="0">
                  <a:latin typeface="Consolas" panose="020B0609020204030204" pitchFamily="49" charset="0"/>
                </a:rPr>
                <a:t>特性（如数据库通常为较小条带</a:t>
              </a:r>
              <a:r>
                <a:rPr lang="en-US" altLang="zh-CN" sz="1600" dirty="0">
                  <a:latin typeface="Consolas" panose="020B0609020204030204" pitchFamily="49" charset="0"/>
                </a:rPr>
                <a:t>64KB-256KB</a:t>
              </a:r>
              <a:r>
                <a:rPr lang="zh-CN" altLang="en-US" sz="1600" dirty="0">
                  <a:latin typeface="Consolas" panose="020B0609020204030204" pitchFamily="49" charset="0"/>
                </a:rPr>
                <a:t>，视频流等大文件为较大条带）合理配置条带大小，以优化特定负载下的性能。</a:t>
              </a:r>
              <a:endParaRPr lang="zh-CN" alt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6D7AB2FA-A3E8-7A22-5FC7-5B72ABA864F8}"/>
              </a:ext>
            </a:extLst>
          </p:cNvPr>
          <p:cNvSpPr txBox="1"/>
          <p:nvPr/>
        </p:nvSpPr>
        <p:spPr>
          <a:xfrm>
            <a:off x="1702179" y="4108828"/>
            <a:ext cx="175396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条带大小</a:t>
            </a:r>
          </a:p>
        </p:txBody>
      </p:sp>
      <p:sp>
        <p:nvSpPr>
          <p:cNvPr id="42" name="live-chat_72439">
            <a:extLst>
              <a:ext uri="{FF2B5EF4-FFF2-40B4-BE49-F238E27FC236}">
                <a16:creationId xmlns:a16="http://schemas.microsoft.com/office/drawing/2014/main" id="{9F6DE1AD-2B8F-BC5B-862D-E450AA71ECBE}"/>
              </a:ext>
            </a:extLst>
          </p:cNvPr>
          <p:cNvSpPr>
            <a:spLocks noChangeAspect="1"/>
          </p:cNvSpPr>
          <p:nvPr/>
        </p:nvSpPr>
        <p:spPr bwMode="auto">
          <a:xfrm>
            <a:off x="1399711" y="4134160"/>
            <a:ext cx="297257" cy="259489"/>
          </a:xfrm>
          <a:custGeom>
            <a:avLst/>
            <a:gdLst>
              <a:gd name="connsiteX0" fmla="*/ 424975 w 608697"/>
              <a:gd name="connsiteY0" fmla="*/ 168488 h 531358"/>
              <a:gd name="connsiteX1" fmla="*/ 387604 w 608697"/>
              <a:gd name="connsiteY1" fmla="*/ 205806 h 531358"/>
              <a:gd name="connsiteX2" fmla="*/ 424975 w 608697"/>
              <a:gd name="connsiteY2" fmla="*/ 243124 h 531358"/>
              <a:gd name="connsiteX3" fmla="*/ 462346 w 608697"/>
              <a:gd name="connsiteY3" fmla="*/ 205806 h 531358"/>
              <a:gd name="connsiteX4" fmla="*/ 424975 w 608697"/>
              <a:gd name="connsiteY4" fmla="*/ 168488 h 531358"/>
              <a:gd name="connsiteX5" fmla="*/ 287947 w 608697"/>
              <a:gd name="connsiteY5" fmla="*/ 168488 h 531358"/>
              <a:gd name="connsiteX6" fmla="*/ 250576 w 608697"/>
              <a:gd name="connsiteY6" fmla="*/ 205806 h 531358"/>
              <a:gd name="connsiteX7" fmla="*/ 287947 w 608697"/>
              <a:gd name="connsiteY7" fmla="*/ 243124 h 531358"/>
              <a:gd name="connsiteX8" fmla="*/ 325318 w 608697"/>
              <a:gd name="connsiteY8" fmla="*/ 205806 h 531358"/>
              <a:gd name="connsiteX9" fmla="*/ 287947 w 608697"/>
              <a:gd name="connsiteY9" fmla="*/ 168488 h 531358"/>
              <a:gd name="connsiteX10" fmla="*/ 102356 w 608697"/>
              <a:gd name="connsiteY10" fmla="*/ 121231 h 531358"/>
              <a:gd name="connsiteX11" fmla="*/ 98850 w 608697"/>
              <a:gd name="connsiteY11" fmla="*/ 127711 h 531358"/>
              <a:gd name="connsiteX12" fmla="*/ 76842 w 608697"/>
              <a:gd name="connsiteY12" fmla="*/ 217990 h 531358"/>
              <a:gd name="connsiteX13" fmla="*/ 98850 w 608697"/>
              <a:gd name="connsiteY13" fmla="*/ 308194 h 531358"/>
              <a:gd name="connsiteX14" fmla="*/ 157488 w 608697"/>
              <a:gd name="connsiteY14" fmla="*/ 380223 h 531358"/>
              <a:gd name="connsiteX15" fmla="*/ 344668 w 608697"/>
              <a:gd name="connsiteY15" fmla="*/ 444729 h 531358"/>
              <a:gd name="connsiteX16" fmla="*/ 370257 w 608697"/>
              <a:gd name="connsiteY16" fmla="*/ 443687 h 531358"/>
              <a:gd name="connsiteX17" fmla="*/ 236717 w 608697"/>
              <a:gd name="connsiteY17" fmla="*/ 477876 h 531358"/>
              <a:gd name="connsiteX18" fmla="*/ 198072 w 608697"/>
              <a:gd name="connsiteY18" fmla="*/ 475344 h 531358"/>
              <a:gd name="connsiteX19" fmla="*/ 82437 w 608697"/>
              <a:gd name="connsiteY19" fmla="*/ 531284 h 531358"/>
              <a:gd name="connsiteX20" fmla="*/ 81542 w 608697"/>
              <a:gd name="connsiteY20" fmla="*/ 531358 h 531358"/>
              <a:gd name="connsiteX21" fmla="*/ 75051 w 608697"/>
              <a:gd name="connsiteY21" fmla="*/ 527857 h 531358"/>
              <a:gd name="connsiteX22" fmla="*/ 74753 w 608697"/>
              <a:gd name="connsiteY22" fmla="*/ 519738 h 531358"/>
              <a:gd name="connsiteX23" fmla="*/ 88778 w 608697"/>
              <a:gd name="connsiteY23" fmla="*/ 435046 h 531358"/>
              <a:gd name="connsiteX24" fmla="*/ 0 w 608697"/>
              <a:gd name="connsiteY24" fmla="*/ 282198 h 531358"/>
              <a:gd name="connsiteX25" fmla="*/ 102356 w 608697"/>
              <a:gd name="connsiteY25" fmla="*/ 121231 h 531358"/>
              <a:gd name="connsiteX26" fmla="*/ 356424 w 608697"/>
              <a:gd name="connsiteY26" fmla="*/ 0 h 531358"/>
              <a:gd name="connsiteX27" fmla="*/ 608697 w 608697"/>
              <a:gd name="connsiteY27" fmla="*/ 211244 h 531358"/>
              <a:gd name="connsiteX28" fmla="*/ 518290 w 608697"/>
              <a:gd name="connsiteY28" fmla="*/ 373401 h 531358"/>
              <a:gd name="connsiteX29" fmla="*/ 531941 w 608697"/>
              <a:gd name="connsiteY29" fmla="*/ 441109 h 531358"/>
              <a:gd name="connsiteX30" fmla="*/ 531120 w 608697"/>
              <a:gd name="connsiteY30" fmla="*/ 465391 h 531358"/>
              <a:gd name="connsiteX31" fmla="*/ 511577 w 608697"/>
              <a:gd name="connsiteY31" fmla="*/ 475894 h 531358"/>
              <a:gd name="connsiteX32" fmla="*/ 509041 w 608697"/>
              <a:gd name="connsiteY32" fmla="*/ 475745 h 531358"/>
              <a:gd name="connsiteX33" fmla="*/ 391408 w 608697"/>
              <a:gd name="connsiteY33" fmla="*/ 420476 h 531358"/>
              <a:gd name="connsiteX34" fmla="*/ 356424 w 608697"/>
              <a:gd name="connsiteY34" fmla="*/ 422487 h 531358"/>
              <a:gd name="connsiteX35" fmla="*/ 104225 w 608697"/>
              <a:gd name="connsiteY35" fmla="*/ 211244 h 531358"/>
              <a:gd name="connsiteX36" fmla="*/ 356424 w 608697"/>
              <a:gd name="connsiteY36" fmla="*/ 0 h 531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608697" h="531358">
                <a:moveTo>
                  <a:pt x="424975" y="168488"/>
                </a:moveTo>
                <a:cubicBezTo>
                  <a:pt x="404312" y="168488"/>
                  <a:pt x="387604" y="185248"/>
                  <a:pt x="387604" y="205806"/>
                </a:cubicBezTo>
                <a:cubicBezTo>
                  <a:pt x="387604" y="226439"/>
                  <a:pt x="404312" y="243124"/>
                  <a:pt x="424975" y="243124"/>
                </a:cubicBezTo>
                <a:cubicBezTo>
                  <a:pt x="445562" y="243124"/>
                  <a:pt x="462346" y="226439"/>
                  <a:pt x="462346" y="205806"/>
                </a:cubicBezTo>
                <a:cubicBezTo>
                  <a:pt x="462346" y="185248"/>
                  <a:pt x="445637" y="168488"/>
                  <a:pt x="424975" y="168488"/>
                </a:cubicBezTo>
                <a:close/>
                <a:moveTo>
                  <a:pt x="287947" y="168488"/>
                </a:moveTo>
                <a:cubicBezTo>
                  <a:pt x="267285" y="168488"/>
                  <a:pt x="250576" y="185248"/>
                  <a:pt x="250576" y="205806"/>
                </a:cubicBezTo>
                <a:cubicBezTo>
                  <a:pt x="250576" y="226439"/>
                  <a:pt x="267285" y="243124"/>
                  <a:pt x="287947" y="243124"/>
                </a:cubicBezTo>
                <a:cubicBezTo>
                  <a:pt x="308610" y="243124"/>
                  <a:pt x="325318" y="226439"/>
                  <a:pt x="325318" y="205806"/>
                </a:cubicBezTo>
                <a:cubicBezTo>
                  <a:pt x="325318" y="185248"/>
                  <a:pt x="308610" y="168488"/>
                  <a:pt x="287947" y="168488"/>
                </a:cubicBezTo>
                <a:close/>
                <a:moveTo>
                  <a:pt x="102356" y="121231"/>
                </a:moveTo>
                <a:cubicBezTo>
                  <a:pt x="101162" y="123317"/>
                  <a:pt x="99969" y="125477"/>
                  <a:pt x="98850" y="127711"/>
                </a:cubicBezTo>
                <a:cubicBezTo>
                  <a:pt x="84227" y="156240"/>
                  <a:pt x="76842" y="186631"/>
                  <a:pt x="76842" y="217990"/>
                </a:cubicBezTo>
                <a:cubicBezTo>
                  <a:pt x="76842" y="249275"/>
                  <a:pt x="84227" y="279666"/>
                  <a:pt x="98850" y="308194"/>
                </a:cubicBezTo>
                <a:cubicBezTo>
                  <a:pt x="112726" y="335308"/>
                  <a:pt x="132496" y="359516"/>
                  <a:pt x="157488" y="380223"/>
                </a:cubicBezTo>
                <a:cubicBezTo>
                  <a:pt x="207845" y="421787"/>
                  <a:pt x="274317" y="444729"/>
                  <a:pt x="344668" y="444729"/>
                </a:cubicBezTo>
                <a:cubicBezTo>
                  <a:pt x="353173" y="444729"/>
                  <a:pt x="361752" y="444357"/>
                  <a:pt x="370257" y="443687"/>
                </a:cubicBezTo>
                <a:cubicBezTo>
                  <a:pt x="332209" y="465288"/>
                  <a:pt x="286254" y="477876"/>
                  <a:pt x="236717" y="477876"/>
                </a:cubicBezTo>
                <a:cubicBezTo>
                  <a:pt x="223736" y="477876"/>
                  <a:pt x="210755" y="477057"/>
                  <a:pt x="198072" y="475344"/>
                </a:cubicBezTo>
                <a:cubicBezTo>
                  <a:pt x="160397" y="499478"/>
                  <a:pt x="110637" y="528155"/>
                  <a:pt x="82437" y="531284"/>
                </a:cubicBezTo>
                <a:cubicBezTo>
                  <a:pt x="82138" y="531358"/>
                  <a:pt x="81840" y="531358"/>
                  <a:pt x="81542" y="531358"/>
                </a:cubicBezTo>
                <a:cubicBezTo>
                  <a:pt x="78930" y="531358"/>
                  <a:pt x="76469" y="530017"/>
                  <a:pt x="75051" y="527857"/>
                </a:cubicBezTo>
                <a:cubicBezTo>
                  <a:pt x="73410" y="525399"/>
                  <a:pt x="73335" y="522271"/>
                  <a:pt x="74753" y="519738"/>
                </a:cubicBezTo>
                <a:cubicBezTo>
                  <a:pt x="75051" y="519291"/>
                  <a:pt x="99223" y="476014"/>
                  <a:pt x="88778" y="435046"/>
                </a:cubicBezTo>
                <a:cubicBezTo>
                  <a:pt x="32303" y="397653"/>
                  <a:pt x="0" y="342160"/>
                  <a:pt x="0" y="282198"/>
                </a:cubicBezTo>
                <a:cubicBezTo>
                  <a:pt x="0" y="215532"/>
                  <a:pt x="40584" y="156538"/>
                  <a:pt x="102356" y="121231"/>
                </a:cubicBezTo>
                <a:close/>
                <a:moveTo>
                  <a:pt x="356424" y="0"/>
                </a:moveTo>
                <a:cubicBezTo>
                  <a:pt x="495540" y="0"/>
                  <a:pt x="608697" y="94747"/>
                  <a:pt x="608697" y="211244"/>
                </a:cubicBezTo>
                <a:cubicBezTo>
                  <a:pt x="608697" y="274408"/>
                  <a:pt x="575802" y="333178"/>
                  <a:pt x="518290" y="373401"/>
                </a:cubicBezTo>
                <a:cubicBezTo>
                  <a:pt x="512845" y="406324"/>
                  <a:pt x="531717" y="440811"/>
                  <a:pt x="531941" y="441109"/>
                </a:cubicBezTo>
                <a:cubicBezTo>
                  <a:pt x="536267" y="448781"/>
                  <a:pt x="535969" y="458092"/>
                  <a:pt x="531120" y="465391"/>
                </a:cubicBezTo>
                <a:cubicBezTo>
                  <a:pt x="526794" y="472021"/>
                  <a:pt x="519484" y="475894"/>
                  <a:pt x="511577" y="475894"/>
                </a:cubicBezTo>
                <a:cubicBezTo>
                  <a:pt x="510756" y="475894"/>
                  <a:pt x="509936" y="475894"/>
                  <a:pt x="509041" y="475745"/>
                </a:cubicBezTo>
                <a:cubicBezTo>
                  <a:pt x="484574" y="473064"/>
                  <a:pt x="444966" y="454442"/>
                  <a:pt x="391408" y="420476"/>
                </a:cubicBezTo>
                <a:cubicBezTo>
                  <a:pt x="379920" y="421817"/>
                  <a:pt x="368135" y="422487"/>
                  <a:pt x="356424" y="422487"/>
                </a:cubicBezTo>
                <a:cubicBezTo>
                  <a:pt x="217382" y="422487"/>
                  <a:pt x="104225" y="327741"/>
                  <a:pt x="104225" y="211244"/>
                </a:cubicBezTo>
                <a:cubicBezTo>
                  <a:pt x="104225" y="94747"/>
                  <a:pt x="217382" y="0"/>
                  <a:pt x="35642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4295475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2E864-29B2-0B8B-E430-FF0F052DE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3">
            <a:extLst>
              <a:ext uri="{FF2B5EF4-FFF2-40B4-BE49-F238E27FC236}">
                <a16:creationId xmlns:a16="http://schemas.microsoft.com/office/drawing/2014/main" id="{9C73BEC1-C0EB-C66F-3549-1F75E933841B}"/>
              </a:ext>
            </a:extLst>
          </p:cNvPr>
          <p:cNvSpPr/>
          <p:nvPr/>
        </p:nvSpPr>
        <p:spPr>
          <a:xfrm>
            <a:off x="7480783" y="2371724"/>
            <a:ext cx="1953935" cy="2114550"/>
          </a:xfrm>
          <a:prstGeom prst="parallelogram">
            <a:avLst>
              <a:gd name="adj" fmla="val 14746"/>
            </a:avLst>
          </a:prstGeom>
          <a:solidFill>
            <a:srgbClr val="0B88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3" name="平行四边形 22">
            <a:extLst>
              <a:ext uri="{FF2B5EF4-FFF2-40B4-BE49-F238E27FC236}">
                <a16:creationId xmlns:a16="http://schemas.microsoft.com/office/drawing/2014/main" id="{FE031207-F92E-3DE9-7E24-D98F2E69A344}"/>
              </a:ext>
            </a:extLst>
          </p:cNvPr>
          <p:cNvSpPr/>
          <p:nvPr/>
        </p:nvSpPr>
        <p:spPr>
          <a:xfrm>
            <a:off x="525701" y="2371724"/>
            <a:ext cx="1953935" cy="2132431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4" name="平行四边形 23">
            <a:extLst>
              <a:ext uri="{FF2B5EF4-FFF2-40B4-BE49-F238E27FC236}">
                <a16:creationId xmlns:a16="http://schemas.microsoft.com/office/drawing/2014/main" id="{8AA1A6B9-5B9F-81F6-7464-75C2EFA40CBE}"/>
              </a:ext>
            </a:extLst>
          </p:cNvPr>
          <p:cNvSpPr/>
          <p:nvPr/>
        </p:nvSpPr>
        <p:spPr>
          <a:xfrm>
            <a:off x="2852175" y="2389605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5" name="平行四边形 24">
            <a:extLst>
              <a:ext uri="{FF2B5EF4-FFF2-40B4-BE49-F238E27FC236}">
                <a16:creationId xmlns:a16="http://schemas.microsoft.com/office/drawing/2014/main" id="{6FCC58EC-712E-A6C2-C4A5-54D5DBAFCE52}"/>
              </a:ext>
            </a:extLst>
          </p:cNvPr>
          <p:cNvSpPr/>
          <p:nvPr/>
        </p:nvSpPr>
        <p:spPr>
          <a:xfrm>
            <a:off x="5178649" y="2371724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7" name="平行四边形 26">
            <a:extLst>
              <a:ext uri="{FF2B5EF4-FFF2-40B4-BE49-F238E27FC236}">
                <a16:creationId xmlns:a16="http://schemas.microsoft.com/office/drawing/2014/main" id="{237B7899-84B5-4F9F-C674-CA0D25516D35}"/>
              </a:ext>
            </a:extLst>
          </p:cNvPr>
          <p:cNvSpPr/>
          <p:nvPr/>
        </p:nvSpPr>
        <p:spPr>
          <a:xfrm>
            <a:off x="9782917" y="2398728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1DE8D49-2589-E2A1-858A-4BD2CC696421}"/>
              </a:ext>
            </a:extLst>
          </p:cNvPr>
          <p:cNvSpPr txBox="1"/>
          <p:nvPr/>
        </p:nvSpPr>
        <p:spPr>
          <a:xfrm>
            <a:off x="1301081" y="2486686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anose="02010600030101010101" pitchFamily="2" charset="-122"/>
                <a:cs typeface="+mn-cs"/>
              </a:rPr>
              <a:t>01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0103DEC-0FBC-4880-ADB4-1D984D189413}"/>
              </a:ext>
            </a:extLst>
          </p:cNvPr>
          <p:cNvSpPr txBox="1"/>
          <p:nvPr/>
        </p:nvSpPr>
        <p:spPr>
          <a:xfrm>
            <a:off x="742685" y="3254908"/>
            <a:ext cx="15199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i="1" spc="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存储需求分析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3758676-1881-549B-2D22-5C6CC5360169}"/>
              </a:ext>
            </a:extLst>
          </p:cNvPr>
          <p:cNvSpPr txBox="1"/>
          <p:nvPr/>
        </p:nvSpPr>
        <p:spPr>
          <a:xfrm>
            <a:off x="3590188" y="2486685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anose="02010600030101010101" pitchFamily="2" charset="-122"/>
                <a:cs typeface="+mn-cs"/>
              </a:rPr>
              <a:t>02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B00D1CB-8A05-AB38-8001-F37589A5D390}"/>
              </a:ext>
            </a:extLst>
          </p:cNvPr>
          <p:cNvSpPr txBox="1"/>
          <p:nvPr/>
        </p:nvSpPr>
        <p:spPr>
          <a:xfrm>
            <a:off x="3014210" y="3249519"/>
            <a:ext cx="15199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i="1" spc="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存储媒介选择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64A8326-F091-F8F9-B8E6-76BC2ADED235}"/>
              </a:ext>
            </a:extLst>
          </p:cNvPr>
          <p:cNvSpPr txBox="1"/>
          <p:nvPr/>
        </p:nvSpPr>
        <p:spPr>
          <a:xfrm>
            <a:off x="5908537" y="2486685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anose="02010600030101010101" pitchFamily="2" charset="-122"/>
                <a:cs typeface="+mn-cs"/>
              </a:rPr>
              <a:t>03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83BFDB2-30B2-EC7D-C889-A4478885C81C}"/>
              </a:ext>
            </a:extLst>
          </p:cNvPr>
          <p:cNvSpPr txBox="1"/>
          <p:nvPr/>
        </p:nvSpPr>
        <p:spPr>
          <a:xfrm>
            <a:off x="5327910" y="3260736"/>
            <a:ext cx="15199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i="1" spc="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RAID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i="1" spc="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级别选择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F872DEB-0AA1-5928-4323-5E3FC15865D4}"/>
              </a:ext>
            </a:extLst>
          </p:cNvPr>
          <p:cNvSpPr txBox="1"/>
          <p:nvPr/>
        </p:nvSpPr>
        <p:spPr>
          <a:xfrm>
            <a:off x="8161363" y="2486685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anose="02010600030101010101" pitchFamily="2" charset="-122"/>
                <a:cs typeface="+mn-cs"/>
              </a:rPr>
              <a:t>04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 Condensed Extra Bold" panose="020B08030202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527BA76-5383-EBEE-17C5-5E4401918C8D}"/>
              </a:ext>
            </a:extLst>
          </p:cNvPr>
          <p:cNvSpPr txBox="1"/>
          <p:nvPr/>
        </p:nvSpPr>
        <p:spPr>
          <a:xfrm>
            <a:off x="10468141" y="2513689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anose="02010600030101010101" pitchFamily="2" charset="-122"/>
                <a:cs typeface="+mn-cs"/>
              </a:rPr>
              <a:t>05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12C68E0-8359-9000-98D7-9A32610A0AEC}"/>
              </a:ext>
            </a:extLst>
          </p:cNvPr>
          <p:cNvSpPr txBox="1"/>
          <p:nvPr/>
        </p:nvSpPr>
        <p:spPr>
          <a:xfrm>
            <a:off x="10852496" y="5811559"/>
            <a:ext cx="7521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目录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D3493B6D-C91C-CD3F-FEB0-D89223F582E4}"/>
              </a:ext>
            </a:extLst>
          </p:cNvPr>
          <p:cNvSpPr txBox="1"/>
          <p:nvPr/>
        </p:nvSpPr>
        <p:spPr>
          <a:xfrm>
            <a:off x="9626198" y="6088558"/>
            <a:ext cx="19784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anose="02010600030101010101" pitchFamily="2" charset="-122"/>
                <a:cs typeface="+mn-cs"/>
              </a:rPr>
              <a:t>CONTENTS</a:t>
            </a:r>
            <a:endParaRPr kumimoji="0" lang="zh-CN" altLang="en-US" sz="36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62CF9932-4997-7331-6D02-FEEAAA72DCD8}"/>
              </a:ext>
            </a:extLst>
          </p:cNvPr>
          <p:cNvSpPr txBox="1"/>
          <p:nvPr/>
        </p:nvSpPr>
        <p:spPr>
          <a:xfrm>
            <a:off x="600716" y="652403"/>
            <a:ext cx="1217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整体框架</a:t>
            </a: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C74E5CEC-5791-00EB-E563-7922F17A96F1}"/>
              </a:ext>
            </a:extLst>
          </p:cNvPr>
          <p:cNvCxnSpPr/>
          <p:nvPr/>
        </p:nvCxnSpPr>
        <p:spPr>
          <a:xfrm>
            <a:off x="648833" y="490652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211F8F8B-2D2B-288D-0E30-3ABC1AB7B179}"/>
              </a:ext>
            </a:extLst>
          </p:cNvPr>
          <p:cNvSpPr txBox="1"/>
          <p:nvPr/>
        </p:nvSpPr>
        <p:spPr>
          <a:xfrm>
            <a:off x="542925" y="5786978"/>
            <a:ext cx="1321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CASE STUDY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RESEARCH.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372FA2B1-F0C7-AD86-4795-669762D84FEF}"/>
              </a:ext>
            </a:extLst>
          </p:cNvPr>
          <p:cNvCxnSpPr/>
          <p:nvPr/>
        </p:nvCxnSpPr>
        <p:spPr>
          <a:xfrm>
            <a:off x="648833" y="6391831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607C19B3-AD78-B1AA-891E-20B78FA4460C}"/>
              </a:ext>
            </a:extLst>
          </p:cNvPr>
          <p:cNvSpPr/>
          <p:nvPr/>
        </p:nvSpPr>
        <p:spPr>
          <a:xfrm>
            <a:off x="10945503" y="441325"/>
            <a:ext cx="659122" cy="659122"/>
          </a:xfrm>
          <a:prstGeom prst="rect">
            <a:avLst/>
          </a:prstGeom>
          <a:blipFill dpi="0" rotWithShape="1">
            <a:blip r:embed="rId2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406A649-0C22-6896-6B34-88E63FB8C5AE}"/>
              </a:ext>
            </a:extLst>
          </p:cNvPr>
          <p:cNvSpPr txBox="1"/>
          <p:nvPr/>
        </p:nvSpPr>
        <p:spPr>
          <a:xfrm>
            <a:off x="7657822" y="3260736"/>
            <a:ext cx="15199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i="1" spc="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网络存储架构设计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FDB2E9B-8E83-47EF-A7C2-8766E39F9201}"/>
              </a:ext>
            </a:extLst>
          </p:cNvPr>
          <p:cNvSpPr txBox="1"/>
          <p:nvPr/>
        </p:nvSpPr>
        <p:spPr>
          <a:xfrm>
            <a:off x="9929347" y="3249519"/>
            <a:ext cx="15199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i="1" spc="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备份策略设计</a:t>
            </a:r>
          </a:p>
        </p:txBody>
      </p:sp>
    </p:spTree>
    <p:extLst>
      <p:ext uri="{BB962C8B-B14F-4D97-AF65-F5344CB8AC3E}">
        <p14:creationId xmlns:p14="http://schemas.microsoft.com/office/powerpoint/2010/main" val="10291865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C7E50-4222-9BC8-2CEC-BD5897C90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D43D24CE-6E4A-14A0-B289-DBE5825527FC}"/>
              </a:ext>
            </a:extLst>
          </p:cNvPr>
          <p:cNvGrpSpPr/>
          <p:nvPr/>
        </p:nvGrpSpPr>
        <p:grpSpPr>
          <a:xfrm>
            <a:off x="587375" y="609812"/>
            <a:ext cx="2786661" cy="442701"/>
            <a:chOff x="514384" y="871808"/>
            <a:chExt cx="2786661" cy="442701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9331898B-9A87-0101-9F5F-FECEA285374B}"/>
                </a:ext>
              </a:extLst>
            </p:cNvPr>
            <p:cNvSpPr txBox="1"/>
            <p:nvPr/>
          </p:nvSpPr>
          <p:spPr>
            <a:xfrm>
              <a:off x="514384" y="883622"/>
              <a:ext cx="53732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200" b="1" dirty="0">
                  <a:solidFill>
                    <a:prstClr val="black"/>
                  </a:solidFill>
                  <a:latin typeface="Tw Cen MT Condensed Extra Bold" panose="020B0803020202020204" pitchFamily="34" charset="0"/>
                  <a:ea typeface="等线" panose="02010600030101010101" pitchFamily="2" charset="-122"/>
                </a:rPr>
                <a:t>4</a:t>
              </a:r>
              <a:r>
                <a:rPr kumimoji="0" lang="en-US" altLang="zh-CN" sz="2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 Condensed Extra Bold" panose="020B0803020202020204" pitchFamily="34" charset="0"/>
                  <a:ea typeface="等线" panose="02010600030101010101" pitchFamily="2" charset="-122"/>
                  <a:cs typeface="+mn-cs"/>
                </a:rPr>
                <a:t>.1</a:t>
              </a:r>
              <a:endPara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17AEA983-DCA9-0AA6-F831-33633E103F54}"/>
                </a:ext>
              </a:extLst>
            </p:cNvPr>
            <p:cNvSpPr txBox="1"/>
            <p:nvPr/>
          </p:nvSpPr>
          <p:spPr>
            <a:xfrm>
              <a:off x="1051711" y="871808"/>
              <a:ext cx="2249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网络存储架构概述</a:t>
              </a:r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6492C2DE-3210-2881-6F6D-DD12F8F03DCD}"/>
              </a:ext>
            </a:extLst>
          </p:cNvPr>
          <p:cNvSpPr/>
          <p:nvPr/>
        </p:nvSpPr>
        <p:spPr>
          <a:xfrm>
            <a:off x="10945503" y="441325"/>
            <a:ext cx="659122" cy="659122"/>
          </a:xfrm>
          <a:prstGeom prst="rect">
            <a:avLst/>
          </a:prstGeom>
          <a:blipFill dpi="0" rotWithShape="1">
            <a:blip r:embed="rId2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9819385-35B9-BD02-8B59-5F3854486D7A}"/>
              </a:ext>
            </a:extLst>
          </p:cNvPr>
          <p:cNvCxnSpPr/>
          <p:nvPr/>
        </p:nvCxnSpPr>
        <p:spPr>
          <a:xfrm>
            <a:off x="648833" y="490652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AC401895-BE1A-77FF-470D-C68D484F6FB3}"/>
              </a:ext>
            </a:extLst>
          </p:cNvPr>
          <p:cNvSpPr txBox="1"/>
          <p:nvPr/>
        </p:nvSpPr>
        <p:spPr>
          <a:xfrm>
            <a:off x="542925" y="5786978"/>
            <a:ext cx="1321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CASE STUDY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RESEARCH.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F4D6A833-892A-1DD9-8581-E9547C613A26}"/>
              </a:ext>
            </a:extLst>
          </p:cNvPr>
          <p:cNvCxnSpPr/>
          <p:nvPr/>
        </p:nvCxnSpPr>
        <p:spPr>
          <a:xfrm>
            <a:off x="648833" y="6391831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平行四边形 5">
            <a:extLst>
              <a:ext uri="{FF2B5EF4-FFF2-40B4-BE49-F238E27FC236}">
                <a16:creationId xmlns:a16="http://schemas.microsoft.com/office/drawing/2014/main" id="{0ED925F1-155A-E2C8-4D50-975017AF913A}"/>
              </a:ext>
            </a:extLst>
          </p:cNvPr>
          <p:cNvSpPr/>
          <p:nvPr/>
        </p:nvSpPr>
        <p:spPr>
          <a:xfrm>
            <a:off x="471543" y="4960394"/>
            <a:ext cx="2219994" cy="430888"/>
          </a:xfrm>
          <a:prstGeom prst="parallelogram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7840BA7-67ED-8C84-5EBF-D6CE51AD5A72}"/>
              </a:ext>
            </a:extLst>
          </p:cNvPr>
          <p:cNvSpPr txBox="1"/>
          <p:nvPr/>
        </p:nvSpPr>
        <p:spPr>
          <a:xfrm>
            <a:off x="1355827" y="4911201"/>
            <a:ext cx="14226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DAS</a:t>
            </a:r>
          </a:p>
        </p:txBody>
      </p:sp>
      <p:sp>
        <p:nvSpPr>
          <p:cNvPr id="16" name="iconfont-11180-4674648">
            <a:extLst>
              <a:ext uri="{FF2B5EF4-FFF2-40B4-BE49-F238E27FC236}">
                <a16:creationId xmlns:a16="http://schemas.microsoft.com/office/drawing/2014/main" id="{232DB2E5-9D34-9187-F172-017E9919DDC3}"/>
              </a:ext>
            </a:extLst>
          </p:cNvPr>
          <p:cNvSpPr>
            <a:spLocks noChangeAspect="1"/>
          </p:cNvSpPr>
          <p:nvPr/>
        </p:nvSpPr>
        <p:spPr bwMode="auto">
          <a:xfrm>
            <a:off x="772002" y="4980480"/>
            <a:ext cx="323109" cy="323109"/>
          </a:xfrm>
          <a:custGeom>
            <a:avLst/>
            <a:gdLst>
              <a:gd name="T0" fmla="*/ 6903 w 13303"/>
              <a:gd name="T1" fmla="*/ 13303 h 13303"/>
              <a:gd name="T2" fmla="*/ 990 w 13303"/>
              <a:gd name="T3" fmla="*/ 9352 h 13303"/>
              <a:gd name="T4" fmla="*/ 2378 w 13303"/>
              <a:gd name="T5" fmla="*/ 2378 h 13303"/>
              <a:gd name="T6" fmla="*/ 9352 w 13303"/>
              <a:gd name="T7" fmla="*/ 990 h 13303"/>
              <a:gd name="T8" fmla="*/ 13303 w 13303"/>
              <a:gd name="T9" fmla="*/ 6903 h 13303"/>
              <a:gd name="T10" fmla="*/ 11428 w 13303"/>
              <a:gd name="T11" fmla="*/ 11428 h 13303"/>
              <a:gd name="T12" fmla="*/ 6903 w 13303"/>
              <a:gd name="T13" fmla="*/ 13303 h 13303"/>
              <a:gd name="T14" fmla="*/ 10243 w 13303"/>
              <a:gd name="T15" fmla="*/ 4852 h 13303"/>
              <a:gd name="T16" fmla="*/ 9597 w 13303"/>
              <a:gd name="T17" fmla="*/ 4852 h 13303"/>
              <a:gd name="T18" fmla="*/ 6041 w 13303"/>
              <a:gd name="T19" fmla="*/ 8405 h 13303"/>
              <a:gd name="T20" fmla="*/ 4209 w 13303"/>
              <a:gd name="T21" fmla="*/ 6574 h 13303"/>
              <a:gd name="T22" fmla="*/ 3572 w 13303"/>
              <a:gd name="T23" fmla="*/ 6583 h 13303"/>
              <a:gd name="T24" fmla="*/ 3563 w 13303"/>
              <a:gd name="T25" fmla="*/ 7220 h 13303"/>
              <a:gd name="T26" fmla="*/ 5718 w 13303"/>
              <a:gd name="T27" fmla="*/ 9378 h 13303"/>
              <a:gd name="T28" fmla="*/ 6364 w 13303"/>
              <a:gd name="T29" fmla="*/ 9378 h 13303"/>
              <a:gd name="T30" fmla="*/ 10243 w 13303"/>
              <a:gd name="T31" fmla="*/ 5498 h 13303"/>
              <a:gd name="T32" fmla="*/ 10243 w 13303"/>
              <a:gd name="T33" fmla="*/ 4852 h 133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3303" h="13303">
                <a:moveTo>
                  <a:pt x="6903" y="13303"/>
                </a:moveTo>
                <a:cubicBezTo>
                  <a:pt x="4314" y="13303"/>
                  <a:pt x="1981" y="11744"/>
                  <a:pt x="990" y="9352"/>
                </a:cubicBezTo>
                <a:cubicBezTo>
                  <a:pt x="0" y="6961"/>
                  <a:pt x="547" y="4208"/>
                  <a:pt x="2378" y="2378"/>
                </a:cubicBezTo>
                <a:cubicBezTo>
                  <a:pt x="4208" y="547"/>
                  <a:pt x="6961" y="0"/>
                  <a:pt x="9352" y="990"/>
                </a:cubicBezTo>
                <a:cubicBezTo>
                  <a:pt x="11744" y="1981"/>
                  <a:pt x="13303" y="4314"/>
                  <a:pt x="13303" y="6903"/>
                </a:cubicBezTo>
                <a:cubicBezTo>
                  <a:pt x="13303" y="8600"/>
                  <a:pt x="12629" y="10228"/>
                  <a:pt x="11428" y="11428"/>
                </a:cubicBezTo>
                <a:cubicBezTo>
                  <a:pt x="10228" y="12629"/>
                  <a:pt x="8600" y="13303"/>
                  <a:pt x="6903" y="13303"/>
                </a:cubicBezTo>
                <a:close/>
                <a:moveTo>
                  <a:pt x="10243" y="4852"/>
                </a:moveTo>
                <a:cubicBezTo>
                  <a:pt x="10065" y="4672"/>
                  <a:pt x="9775" y="4672"/>
                  <a:pt x="9597" y="4852"/>
                </a:cubicBezTo>
                <a:lnTo>
                  <a:pt x="6041" y="8405"/>
                </a:lnTo>
                <a:lnTo>
                  <a:pt x="4209" y="6574"/>
                </a:lnTo>
                <a:cubicBezTo>
                  <a:pt x="4029" y="6404"/>
                  <a:pt x="3747" y="6408"/>
                  <a:pt x="3572" y="6583"/>
                </a:cubicBezTo>
                <a:cubicBezTo>
                  <a:pt x="3397" y="6758"/>
                  <a:pt x="3393" y="7040"/>
                  <a:pt x="3563" y="7220"/>
                </a:cubicBezTo>
                <a:lnTo>
                  <a:pt x="5718" y="9378"/>
                </a:lnTo>
                <a:cubicBezTo>
                  <a:pt x="5897" y="9554"/>
                  <a:pt x="6185" y="9554"/>
                  <a:pt x="6364" y="9378"/>
                </a:cubicBezTo>
                <a:lnTo>
                  <a:pt x="10243" y="5498"/>
                </a:lnTo>
                <a:cubicBezTo>
                  <a:pt x="10421" y="5320"/>
                  <a:pt x="10421" y="5030"/>
                  <a:pt x="10243" y="4852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25320247-4824-FBB4-5A53-F38B0B7D601F}"/>
              </a:ext>
            </a:extLst>
          </p:cNvPr>
          <p:cNvCxnSpPr/>
          <p:nvPr/>
        </p:nvCxnSpPr>
        <p:spPr>
          <a:xfrm>
            <a:off x="648833" y="1366429"/>
            <a:ext cx="10804967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4A727C02-DB38-EC03-ADA6-7E6C5F48C606}"/>
              </a:ext>
            </a:extLst>
          </p:cNvPr>
          <p:cNvCxnSpPr>
            <a:cxnSpLocks/>
          </p:cNvCxnSpPr>
          <p:nvPr/>
        </p:nvCxnSpPr>
        <p:spPr>
          <a:xfrm flipH="1">
            <a:off x="2990805" y="1841150"/>
            <a:ext cx="1" cy="2246433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9670DCE5-A57A-61C4-F3C3-827A94DE4CB1}"/>
              </a:ext>
            </a:extLst>
          </p:cNvPr>
          <p:cNvCxnSpPr>
            <a:cxnSpLocks/>
          </p:cNvCxnSpPr>
          <p:nvPr/>
        </p:nvCxnSpPr>
        <p:spPr>
          <a:xfrm flipH="1">
            <a:off x="8116380" y="2136881"/>
            <a:ext cx="1" cy="2246433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4ABE1278-888E-88BD-50A3-8C2A6EBCF64E}"/>
              </a:ext>
            </a:extLst>
          </p:cNvPr>
          <p:cNvSpPr txBox="1"/>
          <p:nvPr/>
        </p:nvSpPr>
        <p:spPr>
          <a:xfrm>
            <a:off x="557060" y="2027576"/>
            <a:ext cx="2251543" cy="1942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zh-CN" altLang="en-US" b="0" dirty="0">
                <a:effectLst/>
                <a:latin typeface="Consolas" panose="020B0609020204030204" pitchFamily="49" charset="0"/>
              </a:rPr>
              <a:t>存储设备</a:t>
            </a:r>
            <a:r>
              <a:rPr lang="zh-CN" altLang="en-US" b="1" dirty="0">
                <a:effectLst/>
                <a:latin typeface="Consolas" panose="020B0609020204030204" pitchFamily="49" charset="0"/>
              </a:rPr>
              <a:t>直接连接到服务器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，结构简单，成本低，性能可观。但其主要瓶颈在于扩展性差，资源无法共享，不适合需要集中存储和灵活扩展的大型应用。</a:t>
            </a:r>
          </a:p>
        </p:txBody>
      </p:sp>
      <p:sp>
        <p:nvSpPr>
          <p:cNvPr id="19" name="平行四边形 18">
            <a:extLst>
              <a:ext uri="{FF2B5EF4-FFF2-40B4-BE49-F238E27FC236}">
                <a16:creationId xmlns:a16="http://schemas.microsoft.com/office/drawing/2014/main" id="{53929098-896C-D49A-6D6C-B464D28AF2B0}"/>
              </a:ext>
            </a:extLst>
          </p:cNvPr>
          <p:cNvSpPr/>
          <p:nvPr/>
        </p:nvSpPr>
        <p:spPr>
          <a:xfrm>
            <a:off x="3250145" y="4960394"/>
            <a:ext cx="2219994" cy="430888"/>
          </a:xfrm>
          <a:prstGeom prst="parallelogram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3C983F5-A8AC-0953-813A-6BF70DC7D856}"/>
              </a:ext>
            </a:extLst>
          </p:cNvPr>
          <p:cNvSpPr txBox="1"/>
          <p:nvPr/>
        </p:nvSpPr>
        <p:spPr>
          <a:xfrm>
            <a:off x="4134429" y="4911201"/>
            <a:ext cx="14226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NAS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BA10E63-411B-F600-DB50-A5868C884A5E}"/>
              </a:ext>
            </a:extLst>
          </p:cNvPr>
          <p:cNvSpPr txBox="1"/>
          <p:nvPr/>
        </p:nvSpPr>
        <p:spPr>
          <a:xfrm>
            <a:off x="3321395" y="1847667"/>
            <a:ext cx="2251543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zh-CN" altLang="en-US" sz="1600" b="0" dirty="0">
                <a:effectLst/>
                <a:latin typeface="+mn-ea"/>
              </a:rPr>
              <a:t>以</a:t>
            </a:r>
            <a:r>
              <a:rPr lang="zh-CN" altLang="en-US" sz="1600" b="1" dirty="0">
                <a:effectLst/>
                <a:latin typeface="+mn-ea"/>
              </a:rPr>
              <a:t>文件服务的形式</a:t>
            </a:r>
            <a:r>
              <a:rPr lang="zh-CN" altLang="en-US" sz="1600" b="0" dirty="0">
                <a:effectLst/>
                <a:latin typeface="+mn-ea"/>
              </a:rPr>
              <a:t>通过标准网络（通常是</a:t>
            </a:r>
            <a:r>
              <a:rPr lang="en-US" altLang="zh-CN" sz="1600" b="0" dirty="0">
                <a:effectLst/>
                <a:latin typeface="+mn-ea"/>
              </a:rPr>
              <a:t>TCP/IP</a:t>
            </a:r>
            <a:r>
              <a:rPr lang="zh-CN" altLang="en-US" sz="1600" b="0" dirty="0">
                <a:effectLst/>
                <a:latin typeface="+mn-ea"/>
              </a:rPr>
              <a:t>）向客户端提供存储空间，易于部署和共享。但对于需要高性能块级访问的数据库应用（电商核心），</a:t>
            </a:r>
            <a:r>
              <a:rPr lang="en-US" altLang="zh-CN" sz="1600" b="0" dirty="0">
                <a:effectLst/>
                <a:latin typeface="+mn-ea"/>
              </a:rPr>
              <a:t>NAS</a:t>
            </a:r>
            <a:r>
              <a:rPr lang="zh-CN" altLang="en-US" sz="1600" b="0" dirty="0">
                <a:effectLst/>
                <a:latin typeface="+mn-ea"/>
              </a:rPr>
              <a:t>可能会因为文件系统开销和网络协议的限制而遇到性能瓶颈，尤其是在大规模高并发场景下。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93C8A89B-E5F9-77BE-7B4E-9124310E37CC}"/>
              </a:ext>
            </a:extLst>
          </p:cNvPr>
          <p:cNvCxnSpPr>
            <a:cxnSpLocks/>
          </p:cNvCxnSpPr>
          <p:nvPr/>
        </p:nvCxnSpPr>
        <p:spPr>
          <a:xfrm flipH="1">
            <a:off x="5894999" y="1841150"/>
            <a:ext cx="1" cy="2246433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iconfont-10585-5147501">
            <a:extLst>
              <a:ext uri="{FF2B5EF4-FFF2-40B4-BE49-F238E27FC236}">
                <a16:creationId xmlns:a16="http://schemas.microsoft.com/office/drawing/2014/main" id="{D5157588-228A-6468-50B0-D4F07B7A2665}"/>
              </a:ext>
            </a:extLst>
          </p:cNvPr>
          <p:cNvSpPr>
            <a:spLocks noChangeAspect="1"/>
          </p:cNvSpPr>
          <p:nvPr/>
        </p:nvSpPr>
        <p:spPr bwMode="auto">
          <a:xfrm>
            <a:off x="3575821" y="4984796"/>
            <a:ext cx="409394" cy="316744"/>
          </a:xfrm>
          <a:custGeom>
            <a:avLst/>
            <a:gdLst>
              <a:gd name="T0" fmla="*/ 8851 w 12288"/>
              <a:gd name="T1" fmla="*/ 2190 h 9507"/>
              <a:gd name="T2" fmla="*/ 5095 w 12288"/>
              <a:gd name="T3" fmla="*/ 299 h 9507"/>
              <a:gd name="T4" fmla="*/ 2323 w 12288"/>
              <a:gd name="T5" fmla="*/ 3463 h 9507"/>
              <a:gd name="T6" fmla="*/ 0 w 12288"/>
              <a:gd name="T7" fmla="*/ 6419 h 9507"/>
              <a:gd name="T8" fmla="*/ 3072 w 12288"/>
              <a:gd name="T9" fmla="*/ 9507 h 9507"/>
              <a:gd name="T10" fmla="*/ 8832 w 12288"/>
              <a:gd name="T11" fmla="*/ 9507 h 9507"/>
              <a:gd name="T12" fmla="*/ 12288 w 12288"/>
              <a:gd name="T13" fmla="*/ 5839 h 9507"/>
              <a:gd name="T14" fmla="*/ 8851 w 12288"/>
              <a:gd name="T15" fmla="*/ 2190 h 9507"/>
              <a:gd name="T16" fmla="*/ 7857 w 12288"/>
              <a:gd name="T17" fmla="*/ 5994 h 9507"/>
              <a:gd name="T18" fmla="*/ 7455 w 12288"/>
              <a:gd name="T19" fmla="*/ 5994 h 9507"/>
              <a:gd name="T20" fmla="*/ 7253 w 12288"/>
              <a:gd name="T21" fmla="*/ 6186 h 9507"/>
              <a:gd name="T22" fmla="*/ 7248 w 12288"/>
              <a:gd name="T23" fmla="*/ 8151 h 9507"/>
              <a:gd name="T24" fmla="*/ 6845 w 12288"/>
              <a:gd name="T25" fmla="*/ 8535 h 9507"/>
              <a:gd name="T26" fmla="*/ 5441 w 12288"/>
              <a:gd name="T27" fmla="*/ 8535 h 9507"/>
              <a:gd name="T28" fmla="*/ 5039 w 12288"/>
              <a:gd name="T29" fmla="*/ 8151 h 9507"/>
              <a:gd name="T30" fmla="*/ 5034 w 12288"/>
              <a:gd name="T31" fmla="*/ 6186 h 9507"/>
              <a:gd name="T32" fmla="*/ 4832 w 12288"/>
              <a:gd name="T33" fmla="*/ 5994 h 9507"/>
              <a:gd name="T34" fmla="*/ 4429 w 12288"/>
              <a:gd name="T35" fmla="*/ 5994 h 9507"/>
              <a:gd name="T36" fmla="*/ 4026 w 12288"/>
              <a:gd name="T37" fmla="*/ 5610 h 9507"/>
              <a:gd name="T38" fmla="*/ 4104 w 12288"/>
              <a:gd name="T39" fmla="*/ 5380 h 9507"/>
              <a:gd name="T40" fmla="*/ 5784 w 12288"/>
              <a:gd name="T41" fmla="*/ 3442 h 9507"/>
              <a:gd name="T42" fmla="*/ 6499 w 12288"/>
              <a:gd name="T43" fmla="*/ 3442 h 9507"/>
              <a:gd name="T44" fmla="*/ 8180 w 12288"/>
              <a:gd name="T45" fmla="*/ 5380 h 9507"/>
              <a:gd name="T46" fmla="*/ 8259 w 12288"/>
              <a:gd name="T47" fmla="*/ 5610 h 9507"/>
              <a:gd name="T48" fmla="*/ 7857 w 12288"/>
              <a:gd name="T49" fmla="*/ 5994 h 95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2288" h="9507">
                <a:moveTo>
                  <a:pt x="8851" y="2190"/>
                </a:moveTo>
                <a:cubicBezTo>
                  <a:pt x="8176" y="777"/>
                  <a:pt x="6631" y="0"/>
                  <a:pt x="5095" y="299"/>
                </a:cubicBezTo>
                <a:cubicBezTo>
                  <a:pt x="3558" y="599"/>
                  <a:pt x="2418" y="1900"/>
                  <a:pt x="2323" y="3463"/>
                </a:cubicBezTo>
                <a:cubicBezTo>
                  <a:pt x="979" y="3847"/>
                  <a:pt x="0" y="5028"/>
                  <a:pt x="0" y="6419"/>
                </a:cubicBezTo>
                <a:cubicBezTo>
                  <a:pt x="0" y="8061"/>
                  <a:pt x="1363" y="9410"/>
                  <a:pt x="3072" y="9507"/>
                </a:cubicBezTo>
                <a:lnTo>
                  <a:pt x="8832" y="9507"/>
                </a:lnTo>
                <a:cubicBezTo>
                  <a:pt x="10732" y="9507"/>
                  <a:pt x="12288" y="7865"/>
                  <a:pt x="12288" y="5839"/>
                </a:cubicBezTo>
                <a:cubicBezTo>
                  <a:pt x="12287" y="3889"/>
                  <a:pt x="10770" y="2288"/>
                  <a:pt x="8851" y="2190"/>
                </a:cubicBezTo>
                <a:close/>
                <a:moveTo>
                  <a:pt x="7857" y="5994"/>
                </a:moveTo>
                <a:lnTo>
                  <a:pt x="7455" y="5994"/>
                </a:lnTo>
                <a:cubicBezTo>
                  <a:pt x="7347" y="5992"/>
                  <a:pt x="7257" y="6077"/>
                  <a:pt x="7253" y="6186"/>
                </a:cubicBezTo>
                <a:lnTo>
                  <a:pt x="7248" y="8151"/>
                </a:lnTo>
                <a:cubicBezTo>
                  <a:pt x="7243" y="8368"/>
                  <a:pt x="7062" y="8541"/>
                  <a:pt x="6845" y="8535"/>
                </a:cubicBezTo>
                <a:lnTo>
                  <a:pt x="5441" y="8535"/>
                </a:lnTo>
                <a:cubicBezTo>
                  <a:pt x="5223" y="8541"/>
                  <a:pt x="5043" y="8368"/>
                  <a:pt x="5039" y="8151"/>
                </a:cubicBezTo>
                <a:lnTo>
                  <a:pt x="5034" y="6186"/>
                </a:lnTo>
                <a:cubicBezTo>
                  <a:pt x="5031" y="6077"/>
                  <a:pt x="4940" y="5991"/>
                  <a:pt x="4832" y="5994"/>
                </a:cubicBezTo>
                <a:lnTo>
                  <a:pt x="4429" y="5994"/>
                </a:lnTo>
                <a:cubicBezTo>
                  <a:pt x="4212" y="5998"/>
                  <a:pt x="4032" y="5827"/>
                  <a:pt x="4026" y="5610"/>
                </a:cubicBezTo>
                <a:cubicBezTo>
                  <a:pt x="4025" y="5527"/>
                  <a:pt x="4053" y="5446"/>
                  <a:pt x="4104" y="5380"/>
                </a:cubicBezTo>
                <a:lnTo>
                  <a:pt x="5784" y="3442"/>
                </a:lnTo>
                <a:cubicBezTo>
                  <a:pt x="5986" y="3254"/>
                  <a:pt x="6298" y="3254"/>
                  <a:pt x="6499" y="3442"/>
                </a:cubicBezTo>
                <a:lnTo>
                  <a:pt x="8180" y="5380"/>
                </a:lnTo>
                <a:cubicBezTo>
                  <a:pt x="8231" y="5446"/>
                  <a:pt x="8259" y="5526"/>
                  <a:pt x="8259" y="5610"/>
                </a:cubicBezTo>
                <a:cubicBezTo>
                  <a:pt x="8254" y="5827"/>
                  <a:pt x="8074" y="5999"/>
                  <a:pt x="7857" y="599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40" name="平行四边形 39">
            <a:extLst>
              <a:ext uri="{FF2B5EF4-FFF2-40B4-BE49-F238E27FC236}">
                <a16:creationId xmlns:a16="http://schemas.microsoft.com/office/drawing/2014/main" id="{B2DCDC4C-3E4D-1BC6-22D5-60BC2EEFF616}"/>
              </a:ext>
            </a:extLst>
          </p:cNvPr>
          <p:cNvSpPr/>
          <p:nvPr/>
        </p:nvSpPr>
        <p:spPr>
          <a:xfrm>
            <a:off x="6235431" y="4960394"/>
            <a:ext cx="2219994" cy="430888"/>
          </a:xfrm>
          <a:prstGeom prst="parallelogram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EFB90B44-EC86-0903-0903-D6679F4F0A01}"/>
              </a:ext>
            </a:extLst>
          </p:cNvPr>
          <p:cNvSpPr txBox="1"/>
          <p:nvPr/>
        </p:nvSpPr>
        <p:spPr>
          <a:xfrm>
            <a:off x="7014138" y="5025848"/>
            <a:ext cx="171620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zh-CN" sz="24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SAN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CD133BE-CD88-D9D7-DD08-E4F48125D913}"/>
              </a:ext>
            </a:extLst>
          </p:cNvPr>
          <p:cNvSpPr txBox="1"/>
          <p:nvPr/>
        </p:nvSpPr>
        <p:spPr>
          <a:xfrm>
            <a:off x="6297002" y="1699524"/>
            <a:ext cx="225154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zh-CN" altLang="en-US" sz="1600" b="0" dirty="0">
                <a:effectLst/>
                <a:latin typeface="+mn-ea"/>
              </a:rPr>
              <a:t>提供</a:t>
            </a:r>
            <a:r>
              <a:rPr lang="zh-CN" altLang="en-US" sz="1600" b="1" dirty="0">
                <a:effectLst/>
                <a:latin typeface="+mn-ea"/>
              </a:rPr>
              <a:t>块级数据访问的专用存储网络</a:t>
            </a:r>
            <a:r>
              <a:rPr lang="zh-CN" altLang="en-US" sz="1600" b="0" dirty="0">
                <a:effectLst/>
                <a:latin typeface="+mn-ea"/>
              </a:rPr>
              <a:t>，通常采用光纤通道（</a:t>
            </a:r>
            <a:r>
              <a:rPr lang="en-US" altLang="zh-CN" sz="1600" b="0" dirty="0">
                <a:effectLst/>
                <a:latin typeface="+mn-ea"/>
              </a:rPr>
              <a:t>FC-SAN</a:t>
            </a:r>
            <a:r>
              <a:rPr lang="zh-CN" altLang="en-US" sz="1600" b="0" dirty="0">
                <a:effectLst/>
                <a:latin typeface="+mn-ea"/>
              </a:rPr>
              <a:t>）或基于</a:t>
            </a:r>
            <a:r>
              <a:rPr lang="en-US" altLang="zh-CN" sz="1600" b="0" dirty="0">
                <a:effectLst/>
                <a:latin typeface="+mn-ea"/>
              </a:rPr>
              <a:t>IP</a:t>
            </a:r>
            <a:r>
              <a:rPr lang="zh-CN" altLang="en-US" sz="1600" b="0" dirty="0">
                <a:effectLst/>
                <a:latin typeface="+mn-ea"/>
              </a:rPr>
              <a:t>的</a:t>
            </a:r>
            <a:r>
              <a:rPr lang="en-US" altLang="zh-CN" sz="1600" b="0" dirty="0">
                <a:effectLst/>
                <a:latin typeface="+mn-ea"/>
              </a:rPr>
              <a:t>iSCSI</a:t>
            </a:r>
            <a:r>
              <a:rPr lang="zh-CN" altLang="en-US" sz="1600" b="0" dirty="0">
                <a:effectLst/>
                <a:latin typeface="+mn-ea"/>
              </a:rPr>
              <a:t>（</a:t>
            </a:r>
            <a:r>
              <a:rPr lang="en-US" altLang="zh-CN" sz="1600" b="0" dirty="0">
                <a:effectLst/>
                <a:latin typeface="+mn-ea"/>
              </a:rPr>
              <a:t>IP-SAN</a:t>
            </a:r>
            <a:r>
              <a:rPr lang="zh-CN" altLang="en-US" sz="1600" b="0" dirty="0">
                <a:effectLst/>
                <a:latin typeface="+mn-ea"/>
              </a:rPr>
              <a:t>。</a:t>
            </a:r>
            <a:r>
              <a:rPr lang="en-US" altLang="zh-CN" sz="1600" b="0" dirty="0">
                <a:effectLst/>
                <a:latin typeface="+mn-ea"/>
              </a:rPr>
              <a:t>SAN</a:t>
            </a:r>
            <a:r>
              <a:rPr lang="zh-CN" altLang="en-US" sz="1600" b="0" dirty="0">
                <a:effectLst/>
                <a:latin typeface="+mn-ea"/>
              </a:rPr>
              <a:t>具有高性能、高可靠性和高扩展性的特点，非常适合数据库、虚拟化等关键业务应用。这是电商服务存储更合适的选择，因为它能更好地支撑数据库的高</a:t>
            </a:r>
            <a:r>
              <a:rPr lang="en-US" altLang="zh-CN" sz="1600" b="0" dirty="0">
                <a:effectLst/>
                <a:latin typeface="+mn-ea"/>
              </a:rPr>
              <a:t>I/O</a:t>
            </a:r>
            <a:r>
              <a:rPr lang="zh-CN" altLang="en-US" sz="1600" b="0" dirty="0">
                <a:effectLst/>
                <a:latin typeface="+mn-ea"/>
              </a:rPr>
              <a:t>需求。</a:t>
            </a: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1DA96B35-749F-DD1D-4887-39586F7EF50E}"/>
              </a:ext>
            </a:extLst>
          </p:cNvPr>
          <p:cNvCxnSpPr>
            <a:cxnSpLocks/>
          </p:cNvCxnSpPr>
          <p:nvPr/>
        </p:nvCxnSpPr>
        <p:spPr>
          <a:xfrm flipH="1">
            <a:off x="8730342" y="1841150"/>
            <a:ext cx="1" cy="2246433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live-chat_72439">
            <a:extLst>
              <a:ext uri="{FF2B5EF4-FFF2-40B4-BE49-F238E27FC236}">
                <a16:creationId xmlns:a16="http://schemas.microsoft.com/office/drawing/2014/main" id="{BDE1C75F-4BF3-5955-B3B2-F7CADBAB6F7B}"/>
              </a:ext>
            </a:extLst>
          </p:cNvPr>
          <p:cNvSpPr>
            <a:spLocks noChangeAspect="1"/>
          </p:cNvSpPr>
          <p:nvPr/>
        </p:nvSpPr>
        <p:spPr bwMode="auto">
          <a:xfrm>
            <a:off x="6350736" y="4980480"/>
            <a:ext cx="409393" cy="357377"/>
          </a:xfrm>
          <a:custGeom>
            <a:avLst/>
            <a:gdLst>
              <a:gd name="connsiteX0" fmla="*/ 424975 w 608697"/>
              <a:gd name="connsiteY0" fmla="*/ 168488 h 531358"/>
              <a:gd name="connsiteX1" fmla="*/ 387604 w 608697"/>
              <a:gd name="connsiteY1" fmla="*/ 205806 h 531358"/>
              <a:gd name="connsiteX2" fmla="*/ 424975 w 608697"/>
              <a:gd name="connsiteY2" fmla="*/ 243124 h 531358"/>
              <a:gd name="connsiteX3" fmla="*/ 462346 w 608697"/>
              <a:gd name="connsiteY3" fmla="*/ 205806 h 531358"/>
              <a:gd name="connsiteX4" fmla="*/ 424975 w 608697"/>
              <a:gd name="connsiteY4" fmla="*/ 168488 h 531358"/>
              <a:gd name="connsiteX5" fmla="*/ 287947 w 608697"/>
              <a:gd name="connsiteY5" fmla="*/ 168488 h 531358"/>
              <a:gd name="connsiteX6" fmla="*/ 250576 w 608697"/>
              <a:gd name="connsiteY6" fmla="*/ 205806 h 531358"/>
              <a:gd name="connsiteX7" fmla="*/ 287947 w 608697"/>
              <a:gd name="connsiteY7" fmla="*/ 243124 h 531358"/>
              <a:gd name="connsiteX8" fmla="*/ 325318 w 608697"/>
              <a:gd name="connsiteY8" fmla="*/ 205806 h 531358"/>
              <a:gd name="connsiteX9" fmla="*/ 287947 w 608697"/>
              <a:gd name="connsiteY9" fmla="*/ 168488 h 531358"/>
              <a:gd name="connsiteX10" fmla="*/ 102356 w 608697"/>
              <a:gd name="connsiteY10" fmla="*/ 121231 h 531358"/>
              <a:gd name="connsiteX11" fmla="*/ 98850 w 608697"/>
              <a:gd name="connsiteY11" fmla="*/ 127711 h 531358"/>
              <a:gd name="connsiteX12" fmla="*/ 76842 w 608697"/>
              <a:gd name="connsiteY12" fmla="*/ 217990 h 531358"/>
              <a:gd name="connsiteX13" fmla="*/ 98850 w 608697"/>
              <a:gd name="connsiteY13" fmla="*/ 308194 h 531358"/>
              <a:gd name="connsiteX14" fmla="*/ 157488 w 608697"/>
              <a:gd name="connsiteY14" fmla="*/ 380223 h 531358"/>
              <a:gd name="connsiteX15" fmla="*/ 344668 w 608697"/>
              <a:gd name="connsiteY15" fmla="*/ 444729 h 531358"/>
              <a:gd name="connsiteX16" fmla="*/ 370257 w 608697"/>
              <a:gd name="connsiteY16" fmla="*/ 443687 h 531358"/>
              <a:gd name="connsiteX17" fmla="*/ 236717 w 608697"/>
              <a:gd name="connsiteY17" fmla="*/ 477876 h 531358"/>
              <a:gd name="connsiteX18" fmla="*/ 198072 w 608697"/>
              <a:gd name="connsiteY18" fmla="*/ 475344 h 531358"/>
              <a:gd name="connsiteX19" fmla="*/ 82437 w 608697"/>
              <a:gd name="connsiteY19" fmla="*/ 531284 h 531358"/>
              <a:gd name="connsiteX20" fmla="*/ 81542 w 608697"/>
              <a:gd name="connsiteY20" fmla="*/ 531358 h 531358"/>
              <a:gd name="connsiteX21" fmla="*/ 75051 w 608697"/>
              <a:gd name="connsiteY21" fmla="*/ 527857 h 531358"/>
              <a:gd name="connsiteX22" fmla="*/ 74753 w 608697"/>
              <a:gd name="connsiteY22" fmla="*/ 519738 h 531358"/>
              <a:gd name="connsiteX23" fmla="*/ 88778 w 608697"/>
              <a:gd name="connsiteY23" fmla="*/ 435046 h 531358"/>
              <a:gd name="connsiteX24" fmla="*/ 0 w 608697"/>
              <a:gd name="connsiteY24" fmla="*/ 282198 h 531358"/>
              <a:gd name="connsiteX25" fmla="*/ 102356 w 608697"/>
              <a:gd name="connsiteY25" fmla="*/ 121231 h 531358"/>
              <a:gd name="connsiteX26" fmla="*/ 356424 w 608697"/>
              <a:gd name="connsiteY26" fmla="*/ 0 h 531358"/>
              <a:gd name="connsiteX27" fmla="*/ 608697 w 608697"/>
              <a:gd name="connsiteY27" fmla="*/ 211244 h 531358"/>
              <a:gd name="connsiteX28" fmla="*/ 518290 w 608697"/>
              <a:gd name="connsiteY28" fmla="*/ 373401 h 531358"/>
              <a:gd name="connsiteX29" fmla="*/ 531941 w 608697"/>
              <a:gd name="connsiteY29" fmla="*/ 441109 h 531358"/>
              <a:gd name="connsiteX30" fmla="*/ 531120 w 608697"/>
              <a:gd name="connsiteY30" fmla="*/ 465391 h 531358"/>
              <a:gd name="connsiteX31" fmla="*/ 511577 w 608697"/>
              <a:gd name="connsiteY31" fmla="*/ 475894 h 531358"/>
              <a:gd name="connsiteX32" fmla="*/ 509041 w 608697"/>
              <a:gd name="connsiteY32" fmla="*/ 475745 h 531358"/>
              <a:gd name="connsiteX33" fmla="*/ 391408 w 608697"/>
              <a:gd name="connsiteY33" fmla="*/ 420476 h 531358"/>
              <a:gd name="connsiteX34" fmla="*/ 356424 w 608697"/>
              <a:gd name="connsiteY34" fmla="*/ 422487 h 531358"/>
              <a:gd name="connsiteX35" fmla="*/ 104225 w 608697"/>
              <a:gd name="connsiteY35" fmla="*/ 211244 h 531358"/>
              <a:gd name="connsiteX36" fmla="*/ 356424 w 608697"/>
              <a:gd name="connsiteY36" fmla="*/ 0 h 531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608697" h="531358">
                <a:moveTo>
                  <a:pt x="424975" y="168488"/>
                </a:moveTo>
                <a:cubicBezTo>
                  <a:pt x="404312" y="168488"/>
                  <a:pt x="387604" y="185248"/>
                  <a:pt x="387604" y="205806"/>
                </a:cubicBezTo>
                <a:cubicBezTo>
                  <a:pt x="387604" y="226439"/>
                  <a:pt x="404312" y="243124"/>
                  <a:pt x="424975" y="243124"/>
                </a:cubicBezTo>
                <a:cubicBezTo>
                  <a:pt x="445562" y="243124"/>
                  <a:pt x="462346" y="226439"/>
                  <a:pt x="462346" y="205806"/>
                </a:cubicBezTo>
                <a:cubicBezTo>
                  <a:pt x="462346" y="185248"/>
                  <a:pt x="445637" y="168488"/>
                  <a:pt x="424975" y="168488"/>
                </a:cubicBezTo>
                <a:close/>
                <a:moveTo>
                  <a:pt x="287947" y="168488"/>
                </a:moveTo>
                <a:cubicBezTo>
                  <a:pt x="267285" y="168488"/>
                  <a:pt x="250576" y="185248"/>
                  <a:pt x="250576" y="205806"/>
                </a:cubicBezTo>
                <a:cubicBezTo>
                  <a:pt x="250576" y="226439"/>
                  <a:pt x="267285" y="243124"/>
                  <a:pt x="287947" y="243124"/>
                </a:cubicBezTo>
                <a:cubicBezTo>
                  <a:pt x="308610" y="243124"/>
                  <a:pt x="325318" y="226439"/>
                  <a:pt x="325318" y="205806"/>
                </a:cubicBezTo>
                <a:cubicBezTo>
                  <a:pt x="325318" y="185248"/>
                  <a:pt x="308610" y="168488"/>
                  <a:pt x="287947" y="168488"/>
                </a:cubicBezTo>
                <a:close/>
                <a:moveTo>
                  <a:pt x="102356" y="121231"/>
                </a:moveTo>
                <a:cubicBezTo>
                  <a:pt x="101162" y="123317"/>
                  <a:pt x="99969" y="125477"/>
                  <a:pt x="98850" y="127711"/>
                </a:cubicBezTo>
                <a:cubicBezTo>
                  <a:pt x="84227" y="156240"/>
                  <a:pt x="76842" y="186631"/>
                  <a:pt x="76842" y="217990"/>
                </a:cubicBezTo>
                <a:cubicBezTo>
                  <a:pt x="76842" y="249275"/>
                  <a:pt x="84227" y="279666"/>
                  <a:pt x="98850" y="308194"/>
                </a:cubicBezTo>
                <a:cubicBezTo>
                  <a:pt x="112726" y="335308"/>
                  <a:pt x="132496" y="359516"/>
                  <a:pt x="157488" y="380223"/>
                </a:cubicBezTo>
                <a:cubicBezTo>
                  <a:pt x="207845" y="421787"/>
                  <a:pt x="274317" y="444729"/>
                  <a:pt x="344668" y="444729"/>
                </a:cubicBezTo>
                <a:cubicBezTo>
                  <a:pt x="353173" y="444729"/>
                  <a:pt x="361752" y="444357"/>
                  <a:pt x="370257" y="443687"/>
                </a:cubicBezTo>
                <a:cubicBezTo>
                  <a:pt x="332209" y="465288"/>
                  <a:pt x="286254" y="477876"/>
                  <a:pt x="236717" y="477876"/>
                </a:cubicBezTo>
                <a:cubicBezTo>
                  <a:pt x="223736" y="477876"/>
                  <a:pt x="210755" y="477057"/>
                  <a:pt x="198072" y="475344"/>
                </a:cubicBezTo>
                <a:cubicBezTo>
                  <a:pt x="160397" y="499478"/>
                  <a:pt x="110637" y="528155"/>
                  <a:pt x="82437" y="531284"/>
                </a:cubicBezTo>
                <a:cubicBezTo>
                  <a:pt x="82138" y="531358"/>
                  <a:pt x="81840" y="531358"/>
                  <a:pt x="81542" y="531358"/>
                </a:cubicBezTo>
                <a:cubicBezTo>
                  <a:pt x="78930" y="531358"/>
                  <a:pt x="76469" y="530017"/>
                  <a:pt x="75051" y="527857"/>
                </a:cubicBezTo>
                <a:cubicBezTo>
                  <a:pt x="73410" y="525399"/>
                  <a:pt x="73335" y="522271"/>
                  <a:pt x="74753" y="519738"/>
                </a:cubicBezTo>
                <a:cubicBezTo>
                  <a:pt x="75051" y="519291"/>
                  <a:pt x="99223" y="476014"/>
                  <a:pt x="88778" y="435046"/>
                </a:cubicBezTo>
                <a:cubicBezTo>
                  <a:pt x="32303" y="397653"/>
                  <a:pt x="0" y="342160"/>
                  <a:pt x="0" y="282198"/>
                </a:cubicBezTo>
                <a:cubicBezTo>
                  <a:pt x="0" y="215532"/>
                  <a:pt x="40584" y="156538"/>
                  <a:pt x="102356" y="121231"/>
                </a:cubicBezTo>
                <a:close/>
                <a:moveTo>
                  <a:pt x="356424" y="0"/>
                </a:moveTo>
                <a:cubicBezTo>
                  <a:pt x="495540" y="0"/>
                  <a:pt x="608697" y="94747"/>
                  <a:pt x="608697" y="211244"/>
                </a:cubicBezTo>
                <a:cubicBezTo>
                  <a:pt x="608697" y="274408"/>
                  <a:pt x="575802" y="333178"/>
                  <a:pt x="518290" y="373401"/>
                </a:cubicBezTo>
                <a:cubicBezTo>
                  <a:pt x="512845" y="406324"/>
                  <a:pt x="531717" y="440811"/>
                  <a:pt x="531941" y="441109"/>
                </a:cubicBezTo>
                <a:cubicBezTo>
                  <a:pt x="536267" y="448781"/>
                  <a:pt x="535969" y="458092"/>
                  <a:pt x="531120" y="465391"/>
                </a:cubicBezTo>
                <a:cubicBezTo>
                  <a:pt x="526794" y="472021"/>
                  <a:pt x="519484" y="475894"/>
                  <a:pt x="511577" y="475894"/>
                </a:cubicBezTo>
                <a:cubicBezTo>
                  <a:pt x="510756" y="475894"/>
                  <a:pt x="509936" y="475894"/>
                  <a:pt x="509041" y="475745"/>
                </a:cubicBezTo>
                <a:cubicBezTo>
                  <a:pt x="484574" y="473064"/>
                  <a:pt x="444966" y="454442"/>
                  <a:pt x="391408" y="420476"/>
                </a:cubicBezTo>
                <a:cubicBezTo>
                  <a:pt x="379920" y="421817"/>
                  <a:pt x="368135" y="422487"/>
                  <a:pt x="356424" y="422487"/>
                </a:cubicBezTo>
                <a:cubicBezTo>
                  <a:pt x="217382" y="422487"/>
                  <a:pt x="104225" y="327741"/>
                  <a:pt x="104225" y="211244"/>
                </a:cubicBezTo>
                <a:cubicBezTo>
                  <a:pt x="104225" y="94747"/>
                  <a:pt x="217382" y="0"/>
                  <a:pt x="35642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46" name="平行四边形 45">
            <a:extLst>
              <a:ext uri="{FF2B5EF4-FFF2-40B4-BE49-F238E27FC236}">
                <a16:creationId xmlns:a16="http://schemas.microsoft.com/office/drawing/2014/main" id="{D4087450-4810-8BB7-D97A-36CA69ED7AC3}"/>
              </a:ext>
            </a:extLst>
          </p:cNvPr>
          <p:cNvSpPr/>
          <p:nvPr/>
        </p:nvSpPr>
        <p:spPr>
          <a:xfrm>
            <a:off x="9220717" y="4960394"/>
            <a:ext cx="2219994" cy="430888"/>
          </a:xfrm>
          <a:prstGeom prst="parallelogram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DFF611B3-6C66-A649-3ADD-B43E3DC2E786}"/>
              </a:ext>
            </a:extLst>
          </p:cNvPr>
          <p:cNvSpPr txBox="1"/>
          <p:nvPr/>
        </p:nvSpPr>
        <p:spPr>
          <a:xfrm>
            <a:off x="9900685" y="5035813"/>
            <a:ext cx="1870976" cy="3470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zh-CN" sz="2400" b="1" dirty="0">
                <a:effectLst/>
                <a:latin typeface="Consolas" panose="020B0609020204030204" pitchFamily="49" charset="0"/>
              </a:rPr>
              <a:t>OSD</a:t>
            </a:r>
            <a:endParaRPr lang="zh-CN" altLang="en-US" sz="24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48" name="iconfont-11180-4674648">
            <a:extLst>
              <a:ext uri="{FF2B5EF4-FFF2-40B4-BE49-F238E27FC236}">
                <a16:creationId xmlns:a16="http://schemas.microsoft.com/office/drawing/2014/main" id="{5981BAF8-5E22-80BB-77EF-20255E49C1AB}"/>
              </a:ext>
            </a:extLst>
          </p:cNvPr>
          <p:cNvSpPr>
            <a:spLocks noChangeAspect="1"/>
          </p:cNvSpPr>
          <p:nvPr/>
        </p:nvSpPr>
        <p:spPr bwMode="auto">
          <a:xfrm>
            <a:off x="9399246" y="4980480"/>
            <a:ext cx="323109" cy="323109"/>
          </a:xfrm>
          <a:custGeom>
            <a:avLst/>
            <a:gdLst>
              <a:gd name="T0" fmla="*/ 6903 w 13303"/>
              <a:gd name="T1" fmla="*/ 13303 h 13303"/>
              <a:gd name="T2" fmla="*/ 990 w 13303"/>
              <a:gd name="T3" fmla="*/ 9352 h 13303"/>
              <a:gd name="T4" fmla="*/ 2378 w 13303"/>
              <a:gd name="T5" fmla="*/ 2378 h 13303"/>
              <a:gd name="T6" fmla="*/ 9352 w 13303"/>
              <a:gd name="T7" fmla="*/ 990 h 13303"/>
              <a:gd name="T8" fmla="*/ 13303 w 13303"/>
              <a:gd name="T9" fmla="*/ 6903 h 13303"/>
              <a:gd name="T10" fmla="*/ 11428 w 13303"/>
              <a:gd name="T11" fmla="*/ 11428 h 13303"/>
              <a:gd name="T12" fmla="*/ 6903 w 13303"/>
              <a:gd name="T13" fmla="*/ 13303 h 13303"/>
              <a:gd name="T14" fmla="*/ 10243 w 13303"/>
              <a:gd name="T15" fmla="*/ 4852 h 13303"/>
              <a:gd name="T16" fmla="*/ 9597 w 13303"/>
              <a:gd name="T17" fmla="*/ 4852 h 13303"/>
              <a:gd name="T18" fmla="*/ 6041 w 13303"/>
              <a:gd name="T19" fmla="*/ 8405 h 13303"/>
              <a:gd name="T20" fmla="*/ 4209 w 13303"/>
              <a:gd name="T21" fmla="*/ 6574 h 13303"/>
              <a:gd name="T22" fmla="*/ 3572 w 13303"/>
              <a:gd name="T23" fmla="*/ 6583 h 13303"/>
              <a:gd name="T24" fmla="*/ 3563 w 13303"/>
              <a:gd name="T25" fmla="*/ 7220 h 13303"/>
              <a:gd name="T26" fmla="*/ 5718 w 13303"/>
              <a:gd name="T27" fmla="*/ 9378 h 13303"/>
              <a:gd name="T28" fmla="*/ 6364 w 13303"/>
              <a:gd name="T29" fmla="*/ 9378 h 13303"/>
              <a:gd name="T30" fmla="*/ 10243 w 13303"/>
              <a:gd name="T31" fmla="*/ 5498 h 13303"/>
              <a:gd name="T32" fmla="*/ 10243 w 13303"/>
              <a:gd name="T33" fmla="*/ 4852 h 133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3303" h="13303">
                <a:moveTo>
                  <a:pt x="6903" y="13303"/>
                </a:moveTo>
                <a:cubicBezTo>
                  <a:pt x="4314" y="13303"/>
                  <a:pt x="1981" y="11744"/>
                  <a:pt x="990" y="9352"/>
                </a:cubicBezTo>
                <a:cubicBezTo>
                  <a:pt x="0" y="6961"/>
                  <a:pt x="547" y="4208"/>
                  <a:pt x="2378" y="2378"/>
                </a:cubicBezTo>
                <a:cubicBezTo>
                  <a:pt x="4208" y="547"/>
                  <a:pt x="6961" y="0"/>
                  <a:pt x="9352" y="990"/>
                </a:cubicBezTo>
                <a:cubicBezTo>
                  <a:pt x="11744" y="1981"/>
                  <a:pt x="13303" y="4314"/>
                  <a:pt x="13303" y="6903"/>
                </a:cubicBezTo>
                <a:cubicBezTo>
                  <a:pt x="13303" y="8600"/>
                  <a:pt x="12629" y="10228"/>
                  <a:pt x="11428" y="11428"/>
                </a:cubicBezTo>
                <a:cubicBezTo>
                  <a:pt x="10228" y="12629"/>
                  <a:pt x="8600" y="13303"/>
                  <a:pt x="6903" y="13303"/>
                </a:cubicBezTo>
                <a:close/>
                <a:moveTo>
                  <a:pt x="10243" y="4852"/>
                </a:moveTo>
                <a:cubicBezTo>
                  <a:pt x="10065" y="4672"/>
                  <a:pt x="9775" y="4672"/>
                  <a:pt x="9597" y="4852"/>
                </a:cubicBezTo>
                <a:lnTo>
                  <a:pt x="6041" y="8405"/>
                </a:lnTo>
                <a:lnTo>
                  <a:pt x="4209" y="6574"/>
                </a:lnTo>
                <a:cubicBezTo>
                  <a:pt x="4029" y="6404"/>
                  <a:pt x="3747" y="6408"/>
                  <a:pt x="3572" y="6583"/>
                </a:cubicBezTo>
                <a:cubicBezTo>
                  <a:pt x="3397" y="6758"/>
                  <a:pt x="3393" y="7040"/>
                  <a:pt x="3563" y="7220"/>
                </a:cubicBezTo>
                <a:lnTo>
                  <a:pt x="5718" y="9378"/>
                </a:lnTo>
                <a:cubicBezTo>
                  <a:pt x="5897" y="9554"/>
                  <a:pt x="6185" y="9554"/>
                  <a:pt x="6364" y="9378"/>
                </a:cubicBezTo>
                <a:lnTo>
                  <a:pt x="10243" y="5498"/>
                </a:lnTo>
                <a:cubicBezTo>
                  <a:pt x="10421" y="5320"/>
                  <a:pt x="10421" y="5030"/>
                  <a:pt x="10243" y="4852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905AC938-749E-A47C-FC6B-A335CE5F2272}"/>
              </a:ext>
            </a:extLst>
          </p:cNvPr>
          <p:cNvSpPr txBox="1"/>
          <p:nvPr/>
        </p:nvSpPr>
        <p:spPr>
          <a:xfrm>
            <a:off x="9174062" y="1913890"/>
            <a:ext cx="210100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zh-CN" altLang="en-US" sz="1600" b="0" dirty="0">
                <a:effectLst/>
                <a:latin typeface="+mn-ea"/>
              </a:rPr>
              <a:t>将数据及其元数据</a:t>
            </a:r>
            <a:r>
              <a:rPr lang="zh-CN" altLang="en-US" sz="1600" b="1" dirty="0">
                <a:effectLst/>
                <a:latin typeface="+mn-ea"/>
              </a:rPr>
              <a:t>封装为对象进行存储</a:t>
            </a:r>
            <a:r>
              <a:rPr lang="zh-CN" altLang="en-US" sz="1600" b="0" dirty="0">
                <a:effectLst/>
                <a:latin typeface="+mn-ea"/>
              </a:rPr>
              <a:t>，具有极高的扩展性和灵活性，非常适合存储海量的非结构化数据，如图片、视频、备份和日志文件等。但对于需要低延迟事务处理的结构化数据，</a:t>
            </a:r>
            <a:r>
              <a:rPr lang="en-US" altLang="zh-CN" sz="1600" b="0" dirty="0">
                <a:effectLst/>
                <a:latin typeface="+mn-ea"/>
              </a:rPr>
              <a:t>OSD</a:t>
            </a:r>
            <a:r>
              <a:rPr lang="zh-CN" altLang="en-US" sz="1600" b="0" dirty="0">
                <a:effectLst/>
                <a:latin typeface="+mn-ea"/>
              </a:rPr>
              <a:t>通常不是首选。</a:t>
            </a:r>
          </a:p>
        </p:txBody>
      </p:sp>
    </p:spTree>
    <p:extLst>
      <p:ext uri="{BB962C8B-B14F-4D97-AF65-F5344CB8AC3E}">
        <p14:creationId xmlns:p14="http://schemas.microsoft.com/office/powerpoint/2010/main" val="3650024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786F8-2377-6F23-841F-7EC0F1799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>
            <a:extLst>
              <a:ext uri="{FF2B5EF4-FFF2-40B4-BE49-F238E27FC236}">
                <a16:creationId xmlns:a16="http://schemas.microsoft.com/office/drawing/2014/main" id="{6A22DCCF-D45D-44E7-DD9F-6B1AABEACD16}"/>
              </a:ext>
            </a:extLst>
          </p:cNvPr>
          <p:cNvGrpSpPr/>
          <p:nvPr/>
        </p:nvGrpSpPr>
        <p:grpSpPr>
          <a:xfrm>
            <a:off x="692767" y="3486401"/>
            <a:ext cx="5079364" cy="2066033"/>
            <a:chOff x="390526" y="1565052"/>
            <a:chExt cx="5079364" cy="2066033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484B1723-7A82-D4F1-E3CE-34404B69AF8E}"/>
                </a:ext>
              </a:extLst>
            </p:cNvPr>
            <p:cNvSpPr/>
            <p:nvPr/>
          </p:nvSpPr>
          <p:spPr>
            <a:xfrm>
              <a:off x="390526" y="1565052"/>
              <a:ext cx="5021262" cy="2001263"/>
            </a:xfrm>
            <a:prstGeom prst="rect">
              <a:avLst/>
            </a:prstGeom>
            <a:noFill/>
            <a:ln w="254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27D62397-F4E3-F985-0F3F-5764653B48AD}"/>
                </a:ext>
              </a:extLst>
            </p:cNvPr>
            <p:cNvSpPr/>
            <p:nvPr/>
          </p:nvSpPr>
          <p:spPr>
            <a:xfrm>
              <a:off x="448628" y="1629822"/>
              <a:ext cx="5021262" cy="2001263"/>
            </a:xfrm>
            <a:prstGeom prst="rect">
              <a:avLst/>
            </a:prstGeom>
            <a:noFill/>
            <a:ln w="25400">
              <a:solidFill>
                <a:schemeClr val="accent1"/>
              </a:solidFill>
            </a:ln>
            <a:effectLst>
              <a:outerShdw blurRad="50800" dist="38100" dir="5400000" algn="t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8C45D95D-CB3B-EE24-7B4B-305B8C27C5F7}"/>
              </a:ext>
            </a:extLst>
          </p:cNvPr>
          <p:cNvGrpSpPr/>
          <p:nvPr/>
        </p:nvGrpSpPr>
        <p:grpSpPr>
          <a:xfrm>
            <a:off x="6393122" y="1177390"/>
            <a:ext cx="5079364" cy="2066033"/>
            <a:chOff x="390526" y="1565052"/>
            <a:chExt cx="5079364" cy="2066033"/>
          </a:xfrm>
        </p:grpSpPr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3A83B1EF-EEE7-307D-B00E-6837C0DC9888}"/>
                </a:ext>
              </a:extLst>
            </p:cNvPr>
            <p:cNvSpPr/>
            <p:nvPr/>
          </p:nvSpPr>
          <p:spPr>
            <a:xfrm>
              <a:off x="390526" y="1565052"/>
              <a:ext cx="5021262" cy="2001263"/>
            </a:xfrm>
            <a:prstGeom prst="rect">
              <a:avLst/>
            </a:prstGeom>
            <a:noFill/>
            <a:ln w="254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8253B170-6F7C-E24D-106E-C08DAE088F89}"/>
                </a:ext>
              </a:extLst>
            </p:cNvPr>
            <p:cNvSpPr/>
            <p:nvPr/>
          </p:nvSpPr>
          <p:spPr>
            <a:xfrm>
              <a:off x="448628" y="1629822"/>
              <a:ext cx="5021262" cy="2001263"/>
            </a:xfrm>
            <a:prstGeom prst="rect">
              <a:avLst/>
            </a:prstGeom>
            <a:noFill/>
            <a:ln w="25400">
              <a:solidFill>
                <a:schemeClr val="accent1"/>
              </a:solidFill>
            </a:ln>
            <a:effectLst>
              <a:outerShdw blurRad="50800" dist="38100" dir="5400000" algn="t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E484556F-1E57-0502-745C-3B65B7F2A4D1}"/>
                </a:ext>
              </a:extLst>
            </p:cNvPr>
            <p:cNvSpPr txBox="1"/>
            <p:nvPr/>
          </p:nvSpPr>
          <p:spPr>
            <a:xfrm>
              <a:off x="801688" y="1804169"/>
              <a:ext cx="4529665" cy="452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marR="0" lvl="0" indent="-34290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ADC47FFA-337E-A2EA-384B-5ACAEDDED0D4}"/>
              </a:ext>
            </a:extLst>
          </p:cNvPr>
          <p:cNvGrpSpPr/>
          <p:nvPr/>
        </p:nvGrpSpPr>
        <p:grpSpPr>
          <a:xfrm>
            <a:off x="678181" y="1177390"/>
            <a:ext cx="5079364" cy="2066033"/>
            <a:chOff x="390526" y="1565052"/>
            <a:chExt cx="5079364" cy="2066033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F0047913-AC20-49C8-9245-2F02384D59B0}"/>
                </a:ext>
              </a:extLst>
            </p:cNvPr>
            <p:cNvSpPr/>
            <p:nvPr/>
          </p:nvSpPr>
          <p:spPr>
            <a:xfrm>
              <a:off x="390526" y="1565052"/>
              <a:ext cx="5021262" cy="2001263"/>
            </a:xfrm>
            <a:prstGeom prst="rect">
              <a:avLst/>
            </a:prstGeom>
            <a:noFill/>
            <a:ln w="254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7F7F4108-38EE-7A12-95A5-4DA2E6FA65B3}"/>
                </a:ext>
              </a:extLst>
            </p:cNvPr>
            <p:cNvSpPr/>
            <p:nvPr/>
          </p:nvSpPr>
          <p:spPr>
            <a:xfrm>
              <a:off x="448628" y="1629822"/>
              <a:ext cx="5021262" cy="2001263"/>
            </a:xfrm>
            <a:prstGeom prst="rect">
              <a:avLst/>
            </a:prstGeom>
            <a:noFill/>
            <a:ln w="25400">
              <a:solidFill>
                <a:schemeClr val="accent1"/>
              </a:solidFill>
            </a:ln>
            <a:effectLst>
              <a:outerShdw blurRad="50800" dist="38100" dir="5400000" algn="t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68B82779-C779-C20F-D3AD-0115603D3A90}"/>
                </a:ext>
              </a:extLst>
            </p:cNvPr>
            <p:cNvSpPr txBox="1"/>
            <p:nvPr/>
          </p:nvSpPr>
          <p:spPr>
            <a:xfrm>
              <a:off x="544079" y="1681006"/>
              <a:ext cx="3146770" cy="4223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  <a:defRPr/>
              </a:pPr>
              <a:r>
                <a:rPr lang="zh-CN" altLang="en-US" b="1" dirty="0">
                  <a:effectLst/>
                  <a:latin typeface="Consolas" panose="020B0609020204030204" pitchFamily="49" charset="0"/>
                </a:rPr>
                <a:t>核心业务存储层 </a:t>
              </a:r>
              <a:r>
                <a:rPr lang="en-US" altLang="zh-CN" b="1" dirty="0">
                  <a:effectLst/>
                  <a:latin typeface="Consolas" panose="020B0609020204030204" pitchFamily="49" charset="0"/>
                </a:rPr>
                <a:t>(SAN)</a:t>
              </a:r>
              <a:endParaRPr kumimoji="0" lang="en-US" altLang="zh-CN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方正宋刻本秀楷简体" panose="02000000000000000000" pitchFamily="2" charset="-122"/>
                <a:ea typeface="方正宋刻本秀楷简体" panose="02000000000000000000" pitchFamily="2" charset="-122"/>
                <a:cs typeface="+mn-cs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6BA3BD28-4976-E4C5-B236-2F273D7F49D0}"/>
              </a:ext>
            </a:extLst>
          </p:cNvPr>
          <p:cNvSpPr txBox="1"/>
          <p:nvPr/>
        </p:nvSpPr>
        <p:spPr>
          <a:xfrm>
            <a:off x="587375" y="621626"/>
            <a:ext cx="53732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Tw Cen MT Condensed Extra Bold" panose="020B0803020202020204" pitchFamily="34" charset="0"/>
                <a:ea typeface="等线" panose="02010600030101010101" pitchFamily="2" charset="-122"/>
              </a:rPr>
              <a:t>4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anose="02010600030101010101" pitchFamily="2" charset="-122"/>
                <a:cs typeface="+mn-cs"/>
              </a:rPr>
              <a:t>.2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Condensed Extra Bold" panose="020B08030202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BBB7027-1D8C-5EF3-9DE2-D21BCE9E1D65}"/>
              </a:ext>
            </a:extLst>
          </p:cNvPr>
          <p:cNvSpPr/>
          <p:nvPr/>
        </p:nvSpPr>
        <p:spPr>
          <a:xfrm>
            <a:off x="10945503" y="441325"/>
            <a:ext cx="659122" cy="659122"/>
          </a:xfrm>
          <a:prstGeom prst="rect">
            <a:avLst/>
          </a:prstGeom>
          <a:blipFill dpi="0" rotWithShape="1">
            <a:blip r:embed="rId2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D0F00883-89D4-F096-B345-243A580E7C69}"/>
              </a:ext>
            </a:extLst>
          </p:cNvPr>
          <p:cNvCxnSpPr/>
          <p:nvPr/>
        </p:nvCxnSpPr>
        <p:spPr>
          <a:xfrm>
            <a:off x="648833" y="490652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C6FF3CF1-7F0A-7094-C256-71D65CB8F3AD}"/>
              </a:ext>
            </a:extLst>
          </p:cNvPr>
          <p:cNvSpPr txBox="1"/>
          <p:nvPr/>
        </p:nvSpPr>
        <p:spPr>
          <a:xfrm>
            <a:off x="542925" y="5786978"/>
            <a:ext cx="1321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CASE STUDY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RESEARCH.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0B8A858E-00A9-C825-E859-76FD436F38EE}"/>
              </a:ext>
            </a:extLst>
          </p:cNvPr>
          <p:cNvCxnSpPr/>
          <p:nvPr/>
        </p:nvCxnSpPr>
        <p:spPr>
          <a:xfrm>
            <a:off x="648833" y="6391831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04686611-9B4A-2BD3-0A95-00E07585C53C}"/>
              </a:ext>
            </a:extLst>
          </p:cNvPr>
          <p:cNvGrpSpPr/>
          <p:nvPr/>
        </p:nvGrpSpPr>
        <p:grpSpPr>
          <a:xfrm>
            <a:off x="5530850" y="2866850"/>
            <a:ext cx="1130300" cy="1125736"/>
            <a:chOff x="5530850" y="2870200"/>
            <a:chExt cx="1130300" cy="1125736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0B13CBA1-CD56-F56D-0CFC-BA0FB375217E}"/>
                </a:ext>
              </a:extLst>
            </p:cNvPr>
            <p:cNvSpPr/>
            <p:nvPr/>
          </p:nvSpPr>
          <p:spPr>
            <a:xfrm>
              <a:off x="5530850" y="2870200"/>
              <a:ext cx="527050" cy="527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E8C43F5E-F071-903F-96C9-7793C9F173C2}"/>
                </a:ext>
              </a:extLst>
            </p:cNvPr>
            <p:cNvSpPr/>
            <p:nvPr/>
          </p:nvSpPr>
          <p:spPr>
            <a:xfrm>
              <a:off x="6134100" y="2870200"/>
              <a:ext cx="527050" cy="5270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A86476EE-C61F-1A4B-84BE-2E77A41D7122}"/>
                </a:ext>
              </a:extLst>
            </p:cNvPr>
            <p:cNvSpPr/>
            <p:nvPr/>
          </p:nvSpPr>
          <p:spPr>
            <a:xfrm>
              <a:off x="5530850" y="3468886"/>
              <a:ext cx="527050" cy="5270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AE3E4AC2-B8EF-C1EC-B888-C7E58AEBECAC}"/>
                </a:ext>
              </a:extLst>
            </p:cNvPr>
            <p:cNvSpPr/>
            <p:nvPr/>
          </p:nvSpPr>
          <p:spPr>
            <a:xfrm>
              <a:off x="6134100" y="3468886"/>
              <a:ext cx="527050" cy="527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" name="iconfont-1063-813697">
              <a:extLst>
                <a:ext uri="{FF2B5EF4-FFF2-40B4-BE49-F238E27FC236}">
                  <a16:creationId xmlns:a16="http://schemas.microsoft.com/office/drawing/2014/main" id="{22BFF206-72C0-809E-24EF-2F4479C5C3D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643562" y="2983210"/>
              <a:ext cx="301626" cy="301030"/>
            </a:xfrm>
            <a:custGeom>
              <a:avLst/>
              <a:gdLst>
                <a:gd name="T0" fmla="*/ 9477 w 10569"/>
                <a:gd name="T1" fmla="*/ 4343 h 10547"/>
                <a:gd name="T2" fmla="*/ 8617 w 10569"/>
                <a:gd name="T3" fmla="*/ 3420 h 10547"/>
                <a:gd name="T4" fmla="*/ 8281 w 10569"/>
                <a:gd name="T5" fmla="*/ 2745 h 10547"/>
                <a:gd name="T6" fmla="*/ 8025 w 10569"/>
                <a:gd name="T7" fmla="*/ 1448 h 10547"/>
                <a:gd name="T8" fmla="*/ 6015 w 10569"/>
                <a:gd name="T9" fmla="*/ 383 h 10547"/>
                <a:gd name="T10" fmla="*/ 5362 w 10569"/>
                <a:gd name="T11" fmla="*/ 687 h 10547"/>
                <a:gd name="T12" fmla="*/ 3239 w 10569"/>
                <a:gd name="T13" fmla="*/ 1032 h 10547"/>
                <a:gd name="T14" fmla="*/ 2640 w 10569"/>
                <a:gd name="T15" fmla="*/ 980 h 10547"/>
                <a:gd name="T16" fmla="*/ 1008 w 10569"/>
                <a:gd name="T17" fmla="*/ 2718 h 10547"/>
                <a:gd name="T18" fmla="*/ 1147 w 10569"/>
                <a:gd name="T19" fmla="*/ 3852 h 10547"/>
                <a:gd name="T20" fmla="*/ 985 w 10569"/>
                <a:gd name="T21" fmla="*/ 4777 h 10547"/>
                <a:gd name="T22" fmla="*/ 445 w 10569"/>
                <a:gd name="T23" fmla="*/ 5917 h 10547"/>
                <a:gd name="T24" fmla="*/ 1521 w 10569"/>
                <a:gd name="T25" fmla="*/ 7986 h 10547"/>
                <a:gd name="T26" fmla="*/ 2291 w 10569"/>
                <a:gd name="T27" fmla="*/ 8115 h 10547"/>
                <a:gd name="T28" fmla="*/ 3858 w 10569"/>
                <a:gd name="T29" fmla="*/ 8880 h 10547"/>
                <a:gd name="T30" fmla="*/ 4476 w 10569"/>
                <a:gd name="T31" fmla="*/ 9450 h 10547"/>
                <a:gd name="T32" fmla="*/ 6757 w 10569"/>
                <a:gd name="T33" fmla="*/ 9068 h 10547"/>
                <a:gd name="T34" fmla="*/ 9090 w 10569"/>
                <a:gd name="T35" fmla="*/ 6707 h 10547"/>
                <a:gd name="T36" fmla="*/ 9477 w 10569"/>
                <a:gd name="T37" fmla="*/ 4343 h 10547"/>
                <a:gd name="T38" fmla="*/ 8671 w 10569"/>
                <a:gd name="T39" fmla="*/ 5796 h 10547"/>
                <a:gd name="T40" fmla="*/ 7252 w 10569"/>
                <a:gd name="T41" fmla="*/ 6584 h 10547"/>
                <a:gd name="T42" fmla="*/ 6671 w 10569"/>
                <a:gd name="T43" fmla="*/ 7161 h 10547"/>
                <a:gd name="T44" fmla="*/ 5915 w 10569"/>
                <a:gd name="T45" fmla="*/ 8528 h 10547"/>
                <a:gd name="T46" fmla="*/ 5124 w 10569"/>
                <a:gd name="T47" fmla="*/ 8667 h 10547"/>
                <a:gd name="T48" fmla="*/ 4065 w 10569"/>
                <a:gd name="T49" fmla="*/ 7687 h 10547"/>
                <a:gd name="T50" fmla="*/ 3178 w 10569"/>
                <a:gd name="T51" fmla="*/ 7244 h 10547"/>
                <a:gd name="T52" fmla="*/ 1758 w 10569"/>
                <a:gd name="T53" fmla="*/ 6998 h 10547"/>
                <a:gd name="T54" fmla="*/ 1381 w 10569"/>
                <a:gd name="T55" fmla="*/ 6284 h 10547"/>
                <a:gd name="T56" fmla="*/ 2062 w 10569"/>
                <a:gd name="T57" fmla="*/ 4811 h 10547"/>
                <a:gd name="T58" fmla="*/ 2169 w 10569"/>
                <a:gd name="T59" fmla="*/ 4126 h 10547"/>
                <a:gd name="T60" fmla="*/ 2007 w 10569"/>
                <a:gd name="T61" fmla="*/ 2573 h 10547"/>
                <a:gd name="T62" fmla="*/ 2625 w 10569"/>
                <a:gd name="T63" fmla="*/ 1969 h 10547"/>
                <a:gd name="T64" fmla="*/ 4126 w 10569"/>
                <a:gd name="T65" fmla="*/ 2144 h 10547"/>
                <a:gd name="T66" fmla="*/ 4875 w 10569"/>
                <a:gd name="T67" fmla="*/ 2024 h 10547"/>
                <a:gd name="T68" fmla="*/ 6287 w 10569"/>
                <a:gd name="T69" fmla="*/ 1355 h 10547"/>
                <a:gd name="T70" fmla="*/ 7056 w 10569"/>
                <a:gd name="T71" fmla="*/ 1739 h 10547"/>
                <a:gd name="T72" fmla="*/ 7312 w 10569"/>
                <a:gd name="T73" fmla="*/ 3158 h 10547"/>
                <a:gd name="T74" fmla="*/ 7709 w 10569"/>
                <a:gd name="T75" fmla="*/ 3941 h 10547"/>
                <a:gd name="T76" fmla="*/ 8784 w 10569"/>
                <a:gd name="T77" fmla="*/ 5076 h 10547"/>
                <a:gd name="T78" fmla="*/ 8671 w 10569"/>
                <a:gd name="T79" fmla="*/ 5796 h 10547"/>
                <a:gd name="T80" fmla="*/ 10359 w 10569"/>
                <a:gd name="T81" fmla="*/ 9608 h 10547"/>
                <a:gd name="T82" fmla="*/ 9008 w 10569"/>
                <a:gd name="T83" fmla="*/ 8252 h 10547"/>
                <a:gd name="T84" fmla="*/ 8263 w 10569"/>
                <a:gd name="T85" fmla="*/ 8217 h 10547"/>
                <a:gd name="T86" fmla="*/ 8320 w 10569"/>
                <a:gd name="T87" fmla="*/ 8963 h 10547"/>
                <a:gd name="T88" fmla="*/ 9629 w 10569"/>
                <a:gd name="T89" fmla="*/ 10277 h 10547"/>
                <a:gd name="T90" fmla="*/ 10393 w 10569"/>
                <a:gd name="T91" fmla="*/ 10282 h 10547"/>
                <a:gd name="T92" fmla="*/ 10359 w 10569"/>
                <a:gd name="T93" fmla="*/ 9608 h 10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0569" h="10547">
                  <a:moveTo>
                    <a:pt x="9477" y="4343"/>
                  </a:moveTo>
                  <a:cubicBezTo>
                    <a:pt x="9194" y="4031"/>
                    <a:pt x="8879" y="3747"/>
                    <a:pt x="8617" y="3420"/>
                  </a:cubicBezTo>
                  <a:cubicBezTo>
                    <a:pt x="8462" y="3227"/>
                    <a:pt x="8344" y="2984"/>
                    <a:pt x="8281" y="2745"/>
                  </a:cubicBezTo>
                  <a:cubicBezTo>
                    <a:pt x="8168" y="2320"/>
                    <a:pt x="8118" y="1879"/>
                    <a:pt x="8025" y="1448"/>
                  </a:cubicBezTo>
                  <a:cubicBezTo>
                    <a:pt x="7807" y="448"/>
                    <a:pt x="6958" y="0"/>
                    <a:pt x="6015" y="383"/>
                  </a:cubicBezTo>
                  <a:cubicBezTo>
                    <a:pt x="5793" y="473"/>
                    <a:pt x="5563" y="559"/>
                    <a:pt x="5362" y="687"/>
                  </a:cubicBezTo>
                  <a:cubicBezTo>
                    <a:pt x="4700" y="1109"/>
                    <a:pt x="4000" y="1222"/>
                    <a:pt x="3239" y="1032"/>
                  </a:cubicBezTo>
                  <a:cubicBezTo>
                    <a:pt x="3047" y="984"/>
                    <a:pt x="2840" y="996"/>
                    <a:pt x="2640" y="980"/>
                  </a:cubicBezTo>
                  <a:cubicBezTo>
                    <a:pt x="1503" y="908"/>
                    <a:pt x="875" y="1577"/>
                    <a:pt x="1008" y="2718"/>
                  </a:cubicBezTo>
                  <a:cubicBezTo>
                    <a:pt x="1052" y="3097"/>
                    <a:pt x="1088" y="3476"/>
                    <a:pt x="1147" y="3852"/>
                  </a:cubicBezTo>
                  <a:cubicBezTo>
                    <a:pt x="1199" y="4183"/>
                    <a:pt x="1143" y="4480"/>
                    <a:pt x="985" y="4777"/>
                  </a:cubicBezTo>
                  <a:cubicBezTo>
                    <a:pt x="788" y="5148"/>
                    <a:pt x="613" y="5532"/>
                    <a:pt x="445" y="5917"/>
                  </a:cubicBezTo>
                  <a:cubicBezTo>
                    <a:pt x="0" y="6936"/>
                    <a:pt x="443" y="7780"/>
                    <a:pt x="1521" y="7986"/>
                  </a:cubicBezTo>
                  <a:cubicBezTo>
                    <a:pt x="1777" y="8034"/>
                    <a:pt x="2033" y="8093"/>
                    <a:pt x="2291" y="8115"/>
                  </a:cubicBezTo>
                  <a:cubicBezTo>
                    <a:pt x="2914" y="8171"/>
                    <a:pt x="3444" y="8389"/>
                    <a:pt x="3858" y="8880"/>
                  </a:cubicBezTo>
                  <a:cubicBezTo>
                    <a:pt x="4038" y="9092"/>
                    <a:pt x="4265" y="9266"/>
                    <a:pt x="4476" y="9450"/>
                  </a:cubicBezTo>
                  <a:cubicBezTo>
                    <a:pt x="5333" y="10197"/>
                    <a:pt x="6260" y="10089"/>
                    <a:pt x="6757" y="9068"/>
                  </a:cubicBezTo>
                  <a:cubicBezTo>
                    <a:pt x="7279" y="7994"/>
                    <a:pt x="8002" y="7230"/>
                    <a:pt x="9090" y="6707"/>
                  </a:cubicBezTo>
                  <a:cubicBezTo>
                    <a:pt x="10167" y="6190"/>
                    <a:pt x="10276" y="5223"/>
                    <a:pt x="9477" y="4343"/>
                  </a:cubicBezTo>
                  <a:close/>
                  <a:moveTo>
                    <a:pt x="8671" y="5796"/>
                  </a:moveTo>
                  <a:cubicBezTo>
                    <a:pt x="8208" y="6075"/>
                    <a:pt x="7732" y="6334"/>
                    <a:pt x="7252" y="6584"/>
                  </a:cubicBezTo>
                  <a:cubicBezTo>
                    <a:pt x="6993" y="6719"/>
                    <a:pt x="6805" y="6896"/>
                    <a:pt x="6671" y="7161"/>
                  </a:cubicBezTo>
                  <a:cubicBezTo>
                    <a:pt x="6437" y="7626"/>
                    <a:pt x="6179" y="8079"/>
                    <a:pt x="5915" y="8528"/>
                  </a:cubicBezTo>
                  <a:cubicBezTo>
                    <a:pt x="5656" y="8969"/>
                    <a:pt x="5501" y="8996"/>
                    <a:pt x="5124" y="8667"/>
                  </a:cubicBezTo>
                  <a:cubicBezTo>
                    <a:pt x="4762" y="8351"/>
                    <a:pt x="4405" y="8027"/>
                    <a:pt x="4065" y="7687"/>
                  </a:cubicBezTo>
                  <a:cubicBezTo>
                    <a:pt x="3814" y="7436"/>
                    <a:pt x="3543" y="7283"/>
                    <a:pt x="3178" y="7244"/>
                  </a:cubicBezTo>
                  <a:cubicBezTo>
                    <a:pt x="2702" y="7194"/>
                    <a:pt x="2229" y="7093"/>
                    <a:pt x="1758" y="6998"/>
                  </a:cubicBezTo>
                  <a:cubicBezTo>
                    <a:pt x="1273" y="6900"/>
                    <a:pt x="1183" y="6735"/>
                    <a:pt x="1381" y="6284"/>
                  </a:cubicBezTo>
                  <a:cubicBezTo>
                    <a:pt x="1598" y="5788"/>
                    <a:pt x="1857" y="5311"/>
                    <a:pt x="2062" y="4811"/>
                  </a:cubicBezTo>
                  <a:cubicBezTo>
                    <a:pt x="2148" y="4602"/>
                    <a:pt x="2182" y="4353"/>
                    <a:pt x="2169" y="4126"/>
                  </a:cubicBezTo>
                  <a:cubicBezTo>
                    <a:pt x="2137" y="3607"/>
                    <a:pt x="2045" y="3092"/>
                    <a:pt x="2007" y="2573"/>
                  </a:cubicBezTo>
                  <a:cubicBezTo>
                    <a:pt x="1970" y="2070"/>
                    <a:pt x="2091" y="1958"/>
                    <a:pt x="2625" y="1969"/>
                  </a:cubicBezTo>
                  <a:cubicBezTo>
                    <a:pt x="3092" y="2021"/>
                    <a:pt x="3612" y="2061"/>
                    <a:pt x="4126" y="2144"/>
                  </a:cubicBezTo>
                  <a:cubicBezTo>
                    <a:pt x="4400" y="2188"/>
                    <a:pt x="4633" y="2146"/>
                    <a:pt x="4875" y="2024"/>
                  </a:cubicBezTo>
                  <a:cubicBezTo>
                    <a:pt x="5340" y="1789"/>
                    <a:pt x="5811" y="1566"/>
                    <a:pt x="6287" y="1355"/>
                  </a:cubicBezTo>
                  <a:cubicBezTo>
                    <a:pt x="6762" y="1145"/>
                    <a:pt x="6950" y="1239"/>
                    <a:pt x="7056" y="1739"/>
                  </a:cubicBezTo>
                  <a:cubicBezTo>
                    <a:pt x="7155" y="2209"/>
                    <a:pt x="7245" y="2682"/>
                    <a:pt x="7312" y="3158"/>
                  </a:cubicBezTo>
                  <a:cubicBezTo>
                    <a:pt x="7357" y="3472"/>
                    <a:pt x="7485" y="3719"/>
                    <a:pt x="7709" y="3941"/>
                  </a:cubicBezTo>
                  <a:cubicBezTo>
                    <a:pt x="8079" y="4308"/>
                    <a:pt x="8440" y="4685"/>
                    <a:pt x="8784" y="5076"/>
                  </a:cubicBezTo>
                  <a:cubicBezTo>
                    <a:pt x="9066" y="5396"/>
                    <a:pt x="9039" y="5573"/>
                    <a:pt x="8671" y="5796"/>
                  </a:cubicBezTo>
                  <a:close/>
                  <a:moveTo>
                    <a:pt x="10359" y="9608"/>
                  </a:moveTo>
                  <a:cubicBezTo>
                    <a:pt x="9915" y="9150"/>
                    <a:pt x="9470" y="8692"/>
                    <a:pt x="9008" y="8252"/>
                  </a:cubicBezTo>
                  <a:cubicBezTo>
                    <a:pt x="8755" y="8012"/>
                    <a:pt x="8456" y="8017"/>
                    <a:pt x="8263" y="8217"/>
                  </a:cubicBezTo>
                  <a:cubicBezTo>
                    <a:pt x="8072" y="8415"/>
                    <a:pt x="8077" y="8707"/>
                    <a:pt x="8320" y="8963"/>
                  </a:cubicBezTo>
                  <a:cubicBezTo>
                    <a:pt x="8745" y="9412"/>
                    <a:pt x="9185" y="9847"/>
                    <a:pt x="9629" y="10277"/>
                  </a:cubicBezTo>
                  <a:cubicBezTo>
                    <a:pt x="9724" y="10369"/>
                    <a:pt x="10128" y="10547"/>
                    <a:pt x="10393" y="10282"/>
                  </a:cubicBezTo>
                  <a:cubicBezTo>
                    <a:pt x="10569" y="10106"/>
                    <a:pt x="10527" y="9781"/>
                    <a:pt x="10359" y="960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iconfont-10043-4933454">
              <a:extLst>
                <a:ext uri="{FF2B5EF4-FFF2-40B4-BE49-F238E27FC236}">
                  <a16:creationId xmlns:a16="http://schemas.microsoft.com/office/drawing/2014/main" id="{F27EDBDC-AC47-F68B-B672-6D321200D7C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249987" y="2984690"/>
              <a:ext cx="298452" cy="310388"/>
            </a:xfrm>
            <a:custGeom>
              <a:avLst/>
              <a:gdLst>
                <a:gd name="T0" fmla="*/ 4000 w 10000"/>
                <a:gd name="T1" fmla="*/ 6400 h 10400"/>
                <a:gd name="T2" fmla="*/ 2400 w 10000"/>
                <a:gd name="T3" fmla="*/ 6400 h 10400"/>
                <a:gd name="T4" fmla="*/ 2000 w 10000"/>
                <a:gd name="T5" fmla="*/ 6800 h 10400"/>
                <a:gd name="T6" fmla="*/ 2400 w 10000"/>
                <a:gd name="T7" fmla="*/ 7200 h 10400"/>
                <a:gd name="T8" fmla="*/ 4000 w 10000"/>
                <a:gd name="T9" fmla="*/ 7200 h 10400"/>
                <a:gd name="T10" fmla="*/ 4400 w 10000"/>
                <a:gd name="T11" fmla="*/ 6800 h 10400"/>
                <a:gd name="T12" fmla="*/ 4000 w 10000"/>
                <a:gd name="T13" fmla="*/ 6400 h 10400"/>
                <a:gd name="T14" fmla="*/ 6000 w 10000"/>
                <a:gd name="T15" fmla="*/ 4400 h 10400"/>
                <a:gd name="T16" fmla="*/ 2400 w 10000"/>
                <a:gd name="T17" fmla="*/ 4400 h 10400"/>
                <a:gd name="T18" fmla="*/ 2000 w 10000"/>
                <a:gd name="T19" fmla="*/ 4800 h 10400"/>
                <a:gd name="T20" fmla="*/ 2400 w 10000"/>
                <a:gd name="T21" fmla="*/ 5200 h 10400"/>
                <a:gd name="T22" fmla="*/ 6000 w 10000"/>
                <a:gd name="T23" fmla="*/ 5200 h 10400"/>
                <a:gd name="T24" fmla="*/ 6400 w 10000"/>
                <a:gd name="T25" fmla="*/ 4800 h 10400"/>
                <a:gd name="T26" fmla="*/ 6000 w 10000"/>
                <a:gd name="T27" fmla="*/ 4400 h 10400"/>
                <a:gd name="T28" fmla="*/ 6000 w 10000"/>
                <a:gd name="T29" fmla="*/ 2400 h 10400"/>
                <a:gd name="T30" fmla="*/ 2400 w 10000"/>
                <a:gd name="T31" fmla="*/ 2400 h 10400"/>
                <a:gd name="T32" fmla="*/ 2000 w 10000"/>
                <a:gd name="T33" fmla="*/ 2800 h 10400"/>
                <a:gd name="T34" fmla="*/ 2400 w 10000"/>
                <a:gd name="T35" fmla="*/ 3200 h 10400"/>
                <a:gd name="T36" fmla="*/ 6000 w 10000"/>
                <a:gd name="T37" fmla="*/ 3200 h 10400"/>
                <a:gd name="T38" fmla="*/ 6400 w 10000"/>
                <a:gd name="T39" fmla="*/ 2800 h 10400"/>
                <a:gd name="T40" fmla="*/ 6000 w 10000"/>
                <a:gd name="T41" fmla="*/ 2400 h 10400"/>
                <a:gd name="T42" fmla="*/ 8400 w 10000"/>
                <a:gd name="T43" fmla="*/ 2000 h 10400"/>
                <a:gd name="T44" fmla="*/ 8400 w 10000"/>
                <a:gd name="T45" fmla="*/ 1600 h 10400"/>
                <a:gd name="T46" fmla="*/ 6800 w 10000"/>
                <a:gd name="T47" fmla="*/ 0 h 10400"/>
                <a:gd name="T48" fmla="*/ 1600 w 10000"/>
                <a:gd name="T49" fmla="*/ 0 h 10400"/>
                <a:gd name="T50" fmla="*/ 0 w 10000"/>
                <a:gd name="T51" fmla="*/ 1600 h 10400"/>
                <a:gd name="T52" fmla="*/ 0 w 10000"/>
                <a:gd name="T53" fmla="*/ 8800 h 10400"/>
                <a:gd name="T54" fmla="*/ 1600 w 10000"/>
                <a:gd name="T55" fmla="*/ 10400 h 10400"/>
                <a:gd name="T56" fmla="*/ 8400 w 10000"/>
                <a:gd name="T57" fmla="*/ 10400 h 10400"/>
                <a:gd name="T58" fmla="*/ 10000 w 10000"/>
                <a:gd name="T59" fmla="*/ 8800 h 10400"/>
                <a:gd name="T60" fmla="*/ 10000 w 10000"/>
                <a:gd name="T61" fmla="*/ 3600 h 10400"/>
                <a:gd name="T62" fmla="*/ 8400 w 10000"/>
                <a:gd name="T63" fmla="*/ 2000 h 10400"/>
                <a:gd name="T64" fmla="*/ 9200 w 10000"/>
                <a:gd name="T65" fmla="*/ 8800 h 10400"/>
                <a:gd name="T66" fmla="*/ 8400 w 10000"/>
                <a:gd name="T67" fmla="*/ 9600 h 10400"/>
                <a:gd name="T68" fmla="*/ 1600 w 10000"/>
                <a:gd name="T69" fmla="*/ 9600 h 10400"/>
                <a:gd name="T70" fmla="*/ 800 w 10000"/>
                <a:gd name="T71" fmla="*/ 8800 h 10400"/>
                <a:gd name="T72" fmla="*/ 800 w 10000"/>
                <a:gd name="T73" fmla="*/ 1600 h 10400"/>
                <a:gd name="T74" fmla="*/ 1600 w 10000"/>
                <a:gd name="T75" fmla="*/ 800 h 10400"/>
                <a:gd name="T76" fmla="*/ 6800 w 10000"/>
                <a:gd name="T77" fmla="*/ 800 h 10400"/>
                <a:gd name="T78" fmla="*/ 7600 w 10000"/>
                <a:gd name="T79" fmla="*/ 1600 h 10400"/>
                <a:gd name="T80" fmla="*/ 7600 w 10000"/>
                <a:gd name="T81" fmla="*/ 7600 h 10400"/>
                <a:gd name="T82" fmla="*/ 8000 w 10000"/>
                <a:gd name="T83" fmla="*/ 8000 h 10400"/>
                <a:gd name="T84" fmla="*/ 8400 w 10000"/>
                <a:gd name="T85" fmla="*/ 7600 h 10400"/>
                <a:gd name="T86" fmla="*/ 8400 w 10000"/>
                <a:gd name="T87" fmla="*/ 2800 h 10400"/>
                <a:gd name="T88" fmla="*/ 9200 w 10000"/>
                <a:gd name="T89" fmla="*/ 3600 h 10400"/>
                <a:gd name="T90" fmla="*/ 9200 w 10000"/>
                <a:gd name="T91" fmla="*/ 8800 h 10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0000" h="10400">
                  <a:moveTo>
                    <a:pt x="4000" y="6400"/>
                  </a:moveTo>
                  <a:lnTo>
                    <a:pt x="2400" y="6400"/>
                  </a:lnTo>
                  <a:cubicBezTo>
                    <a:pt x="2180" y="6400"/>
                    <a:pt x="2000" y="6580"/>
                    <a:pt x="2000" y="6800"/>
                  </a:cubicBezTo>
                  <a:cubicBezTo>
                    <a:pt x="2000" y="7020"/>
                    <a:pt x="2180" y="7200"/>
                    <a:pt x="2400" y="7200"/>
                  </a:cubicBezTo>
                  <a:lnTo>
                    <a:pt x="4000" y="7200"/>
                  </a:lnTo>
                  <a:cubicBezTo>
                    <a:pt x="4220" y="7200"/>
                    <a:pt x="4400" y="7020"/>
                    <a:pt x="4400" y="6800"/>
                  </a:cubicBezTo>
                  <a:cubicBezTo>
                    <a:pt x="4400" y="6580"/>
                    <a:pt x="4220" y="6400"/>
                    <a:pt x="4000" y="6400"/>
                  </a:cubicBezTo>
                  <a:close/>
                  <a:moveTo>
                    <a:pt x="6000" y="4400"/>
                  </a:moveTo>
                  <a:lnTo>
                    <a:pt x="2400" y="4400"/>
                  </a:lnTo>
                  <a:cubicBezTo>
                    <a:pt x="2180" y="4400"/>
                    <a:pt x="2000" y="4580"/>
                    <a:pt x="2000" y="4800"/>
                  </a:cubicBezTo>
                  <a:cubicBezTo>
                    <a:pt x="2000" y="5020"/>
                    <a:pt x="2180" y="5200"/>
                    <a:pt x="2400" y="5200"/>
                  </a:cubicBezTo>
                  <a:lnTo>
                    <a:pt x="6000" y="5200"/>
                  </a:lnTo>
                  <a:cubicBezTo>
                    <a:pt x="6220" y="5200"/>
                    <a:pt x="6400" y="5020"/>
                    <a:pt x="6400" y="4800"/>
                  </a:cubicBezTo>
                  <a:cubicBezTo>
                    <a:pt x="6400" y="4580"/>
                    <a:pt x="6220" y="4400"/>
                    <a:pt x="6000" y="4400"/>
                  </a:cubicBezTo>
                  <a:close/>
                  <a:moveTo>
                    <a:pt x="6000" y="2400"/>
                  </a:moveTo>
                  <a:lnTo>
                    <a:pt x="2400" y="2400"/>
                  </a:lnTo>
                  <a:cubicBezTo>
                    <a:pt x="2180" y="2400"/>
                    <a:pt x="2000" y="2580"/>
                    <a:pt x="2000" y="2800"/>
                  </a:cubicBezTo>
                  <a:cubicBezTo>
                    <a:pt x="2000" y="3020"/>
                    <a:pt x="2180" y="3200"/>
                    <a:pt x="2400" y="3200"/>
                  </a:cubicBezTo>
                  <a:lnTo>
                    <a:pt x="6000" y="3200"/>
                  </a:lnTo>
                  <a:cubicBezTo>
                    <a:pt x="6220" y="3200"/>
                    <a:pt x="6400" y="3020"/>
                    <a:pt x="6400" y="2800"/>
                  </a:cubicBezTo>
                  <a:cubicBezTo>
                    <a:pt x="6400" y="2580"/>
                    <a:pt x="6220" y="2400"/>
                    <a:pt x="6000" y="2400"/>
                  </a:cubicBezTo>
                  <a:close/>
                  <a:moveTo>
                    <a:pt x="8400" y="2000"/>
                  </a:moveTo>
                  <a:lnTo>
                    <a:pt x="8400" y="1600"/>
                  </a:lnTo>
                  <a:cubicBezTo>
                    <a:pt x="8400" y="720"/>
                    <a:pt x="7680" y="0"/>
                    <a:pt x="6800" y="0"/>
                  </a:cubicBezTo>
                  <a:lnTo>
                    <a:pt x="1600" y="0"/>
                  </a:lnTo>
                  <a:cubicBezTo>
                    <a:pt x="720" y="0"/>
                    <a:pt x="0" y="720"/>
                    <a:pt x="0" y="1600"/>
                  </a:cubicBezTo>
                  <a:lnTo>
                    <a:pt x="0" y="8800"/>
                  </a:lnTo>
                  <a:cubicBezTo>
                    <a:pt x="0" y="9680"/>
                    <a:pt x="720" y="10400"/>
                    <a:pt x="1600" y="10400"/>
                  </a:cubicBezTo>
                  <a:lnTo>
                    <a:pt x="8400" y="10400"/>
                  </a:lnTo>
                  <a:cubicBezTo>
                    <a:pt x="9280" y="10400"/>
                    <a:pt x="10000" y="9680"/>
                    <a:pt x="10000" y="8800"/>
                  </a:cubicBezTo>
                  <a:lnTo>
                    <a:pt x="10000" y="3600"/>
                  </a:lnTo>
                  <a:cubicBezTo>
                    <a:pt x="10000" y="2720"/>
                    <a:pt x="9280" y="2000"/>
                    <a:pt x="8400" y="2000"/>
                  </a:cubicBezTo>
                  <a:close/>
                  <a:moveTo>
                    <a:pt x="9200" y="8800"/>
                  </a:moveTo>
                  <a:cubicBezTo>
                    <a:pt x="9200" y="9240"/>
                    <a:pt x="8840" y="9600"/>
                    <a:pt x="8400" y="9600"/>
                  </a:cubicBezTo>
                  <a:lnTo>
                    <a:pt x="1600" y="9600"/>
                  </a:lnTo>
                  <a:cubicBezTo>
                    <a:pt x="1160" y="9600"/>
                    <a:pt x="800" y="9240"/>
                    <a:pt x="800" y="8800"/>
                  </a:cubicBezTo>
                  <a:lnTo>
                    <a:pt x="800" y="1600"/>
                  </a:lnTo>
                  <a:cubicBezTo>
                    <a:pt x="800" y="1160"/>
                    <a:pt x="1160" y="800"/>
                    <a:pt x="1600" y="800"/>
                  </a:cubicBezTo>
                  <a:lnTo>
                    <a:pt x="6800" y="800"/>
                  </a:lnTo>
                  <a:cubicBezTo>
                    <a:pt x="7240" y="800"/>
                    <a:pt x="7600" y="1160"/>
                    <a:pt x="7600" y="1600"/>
                  </a:cubicBezTo>
                  <a:lnTo>
                    <a:pt x="7600" y="7600"/>
                  </a:lnTo>
                  <a:cubicBezTo>
                    <a:pt x="7600" y="7820"/>
                    <a:pt x="7780" y="8000"/>
                    <a:pt x="8000" y="8000"/>
                  </a:cubicBezTo>
                  <a:cubicBezTo>
                    <a:pt x="8220" y="8000"/>
                    <a:pt x="8400" y="7820"/>
                    <a:pt x="8400" y="7600"/>
                  </a:cubicBezTo>
                  <a:lnTo>
                    <a:pt x="8400" y="2800"/>
                  </a:lnTo>
                  <a:cubicBezTo>
                    <a:pt x="8840" y="2800"/>
                    <a:pt x="9200" y="3160"/>
                    <a:pt x="9200" y="3600"/>
                  </a:cubicBezTo>
                  <a:lnTo>
                    <a:pt x="9200" y="88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</p:sp>
        <p:sp>
          <p:nvSpPr>
            <p:cNvPr id="23" name="iconfont-10043-4933446">
              <a:extLst>
                <a:ext uri="{FF2B5EF4-FFF2-40B4-BE49-F238E27FC236}">
                  <a16:creationId xmlns:a16="http://schemas.microsoft.com/office/drawing/2014/main" id="{6468774B-EC53-8614-7AFF-38AB0206191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665744" y="3613307"/>
              <a:ext cx="257262" cy="238208"/>
            </a:xfrm>
            <a:custGeom>
              <a:avLst/>
              <a:gdLst>
                <a:gd name="T0" fmla="*/ 10400 w 10800"/>
                <a:gd name="T1" fmla="*/ 9200 h 10000"/>
                <a:gd name="T2" fmla="*/ 800 w 10800"/>
                <a:gd name="T3" fmla="*/ 9200 h 10000"/>
                <a:gd name="T4" fmla="*/ 800 w 10800"/>
                <a:gd name="T5" fmla="*/ 400 h 10000"/>
                <a:gd name="T6" fmla="*/ 400 w 10800"/>
                <a:gd name="T7" fmla="*/ 0 h 10000"/>
                <a:gd name="T8" fmla="*/ 0 w 10800"/>
                <a:gd name="T9" fmla="*/ 400 h 10000"/>
                <a:gd name="T10" fmla="*/ 0 w 10800"/>
                <a:gd name="T11" fmla="*/ 9600 h 10000"/>
                <a:gd name="T12" fmla="*/ 400 w 10800"/>
                <a:gd name="T13" fmla="*/ 10000 h 10000"/>
                <a:gd name="T14" fmla="*/ 10400 w 10800"/>
                <a:gd name="T15" fmla="*/ 10000 h 10000"/>
                <a:gd name="T16" fmla="*/ 10800 w 10800"/>
                <a:gd name="T17" fmla="*/ 9600 h 10000"/>
                <a:gd name="T18" fmla="*/ 10400 w 10800"/>
                <a:gd name="T19" fmla="*/ 9200 h 10000"/>
                <a:gd name="T20" fmla="*/ 2080 w 10800"/>
                <a:gd name="T21" fmla="*/ 6560 h 10000"/>
                <a:gd name="T22" fmla="*/ 4500 w 10800"/>
                <a:gd name="T23" fmla="*/ 4140 h 10000"/>
                <a:gd name="T24" fmla="*/ 6480 w 10800"/>
                <a:gd name="T25" fmla="*/ 6120 h 10000"/>
                <a:gd name="T26" fmla="*/ 6780 w 10800"/>
                <a:gd name="T27" fmla="*/ 6240 h 10000"/>
                <a:gd name="T28" fmla="*/ 7060 w 10800"/>
                <a:gd name="T29" fmla="*/ 6120 h 10000"/>
                <a:gd name="T30" fmla="*/ 10520 w 10800"/>
                <a:gd name="T31" fmla="*/ 2640 h 10000"/>
                <a:gd name="T32" fmla="*/ 10520 w 10800"/>
                <a:gd name="T33" fmla="*/ 2100 h 10000"/>
                <a:gd name="T34" fmla="*/ 9980 w 10800"/>
                <a:gd name="T35" fmla="*/ 2100 h 10000"/>
                <a:gd name="T36" fmla="*/ 6800 w 10800"/>
                <a:gd name="T37" fmla="*/ 5300 h 10000"/>
                <a:gd name="T38" fmla="*/ 4800 w 10800"/>
                <a:gd name="T39" fmla="*/ 3300 h 10000"/>
                <a:gd name="T40" fmla="*/ 4500 w 10800"/>
                <a:gd name="T41" fmla="*/ 3200 h 10000"/>
                <a:gd name="T42" fmla="*/ 4220 w 10800"/>
                <a:gd name="T43" fmla="*/ 3320 h 10000"/>
                <a:gd name="T44" fmla="*/ 1520 w 10800"/>
                <a:gd name="T45" fmla="*/ 6000 h 10000"/>
                <a:gd name="T46" fmla="*/ 1520 w 10800"/>
                <a:gd name="T47" fmla="*/ 6560 h 10000"/>
                <a:gd name="T48" fmla="*/ 2080 w 10800"/>
                <a:gd name="T49" fmla="*/ 6560 h 1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800" h="10000">
                  <a:moveTo>
                    <a:pt x="10400" y="9200"/>
                  </a:moveTo>
                  <a:lnTo>
                    <a:pt x="800" y="9200"/>
                  </a:lnTo>
                  <a:lnTo>
                    <a:pt x="800" y="400"/>
                  </a:lnTo>
                  <a:cubicBezTo>
                    <a:pt x="800" y="180"/>
                    <a:pt x="620" y="0"/>
                    <a:pt x="400" y="0"/>
                  </a:cubicBezTo>
                  <a:cubicBezTo>
                    <a:pt x="180" y="0"/>
                    <a:pt x="0" y="180"/>
                    <a:pt x="0" y="400"/>
                  </a:cubicBezTo>
                  <a:lnTo>
                    <a:pt x="0" y="9600"/>
                  </a:lnTo>
                  <a:cubicBezTo>
                    <a:pt x="0" y="9820"/>
                    <a:pt x="180" y="10000"/>
                    <a:pt x="400" y="10000"/>
                  </a:cubicBezTo>
                  <a:lnTo>
                    <a:pt x="10400" y="10000"/>
                  </a:lnTo>
                  <a:cubicBezTo>
                    <a:pt x="10620" y="10000"/>
                    <a:pt x="10800" y="9820"/>
                    <a:pt x="10800" y="9600"/>
                  </a:cubicBezTo>
                  <a:cubicBezTo>
                    <a:pt x="10800" y="9380"/>
                    <a:pt x="10620" y="9200"/>
                    <a:pt x="10400" y="9200"/>
                  </a:cubicBezTo>
                  <a:close/>
                  <a:moveTo>
                    <a:pt x="2080" y="6560"/>
                  </a:moveTo>
                  <a:lnTo>
                    <a:pt x="4500" y="4140"/>
                  </a:lnTo>
                  <a:lnTo>
                    <a:pt x="6480" y="6120"/>
                  </a:lnTo>
                  <a:cubicBezTo>
                    <a:pt x="6560" y="6200"/>
                    <a:pt x="6680" y="6240"/>
                    <a:pt x="6780" y="6240"/>
                  </a:cubicBezTo>
                  <a:cubicBezTo>
                    <a:pt x="6880" y="6240"/>
                    <a:pt x="6980" y="6200"/>
                    <a:pt x="7060" y="6120"/>
                  </a:cubicBezTo>
                  <a:lnTo>
                    <a:pt x="10520" y="2640"/>
                  </a:lnTo>
                  <a:cubicBezTo>
                    <a:pt x="10660" y="2480"/>
                    <a:pt x="10660" y="2240"/>
                    <a:pt x="10520" y="2100"/>
                  </a:cubicBezTo>
                  <a:cubicBezTo>
                    <a:pt x="10380" y="1960"/>
                    <a:pt x="10120" y="1940"/>
                    <a:pt x="9980" y="2100"/>
                  </a:cubicBezTo>
                  <a:lnTo>
                    <a:pt x="6800" y="5300"/>
                  </a:lnTo>
                  <a:lnTo>
                    <a:pt x="4800" y="3300"/>
                  </a:lnTo>
                  <a:cubicBezTo>
                    <a:pt x="4700" y="3240"/>
                    <a:pt x="4600" y="3200"/>
                    <a:pt x="4500" y="3200"/>
                  </a:cubicBezTo>
                  <a:cubicBezTo>
                    <a:pt x="4400" y="3200"/>
                    <a:pt x="4300" y="3240"/>
                    <a:pt x="4220" y="3320"/>
                  </a:cubicBezTo>
                  <a:lnTo>
                    <a:pt x="1520" y="6000"/>
                  </a:lnTo>
                  <a:cubicBezTo>
                    <a:pt x="1360" y="6160"/>
                    <a:pt x="1360" y="6400"/>
                    <a:pt x="1520" y="6560"/>
                  </a:cubicBezTo>
                  <a:cubicBezTo>
                    <a:pt x="1680" y="6720"/>
                    <a:pt x="1920" y="6720"/>
                    <a:pt x="2080" y="656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</p:sp>
        <p:sp>
          <p:nvSpPr>
            <p:cNvPr id="24" name="iconfont-1063-813696">
              <a:extLst>
                <a:ext uri="{FF2B5EF4-FFF2-40B4-BE49-F238E27FC236}">
                  <a16:creationId xmlns:a16="http://schemas.microsoft.com/office/drawing/2014/main" id="{1E70706D-BB38-5A9C-6118-4A9EFDB9E23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286896" y="3592554"/>
              <a:ext cx="221458" cy="279714"/>
            </a:xfrm>
            <a:custGeom>
              <a:avLst/>
              <a:gdLst>
                <a:gd name="T0" fmla="*/ 9274 w 9970"/>
                <a:gd name="T1" fmla="*/ 5486 h 12592"/>
                <a:gd name="T2" fmla="*/ 2216 w 9970"/>
                <a:gd name="T3" fmla="*/ 5475 h 12592"/>
                <a:gd name="T4" fmla="*/ 2770 w 9970"/>
                <a:gd name="T5" fmla="*/ 2189 h 12592"/>
                <a:gd name="T6" fmla="*/ 4985 w 9970"/>
                <a:gd name="T7" fmla="*/ 1095 h 12592"/>
                <a:gd name="T8" fmla="*/ 7755 w 9970"/>
                <a:gd name="T9" fmla="*/ 3285 h 12592"/>
                <a:gd name="T10" fmla="*/ 8309 w 9970"/>
                <a:gd name="T11" fmla="*/ 3832 h 12592"/>
                <a:gd name="T12" fmla="*/ 8863 w 9970"/>
                <a:gd name="T13" fmla="*/ 2737 h 12592"/>
                <a:gd name="T14" fmla="*/ 4985 w 9970"/>
                <a:gd name="T15" fmla="*/ 0 h 12592"/>
                <a:gd name="T16" fmla="*/ 2216 w 9970"/>
                <a:gd name="T17" fmla="*/ 1095 h 12592"/>
                <a:gd name="T18" fmla="*/ 1108 w 9970"/>
                <a:gd name="T19" fmla="*/ 5475 h 12592"/>
                <a:gd name="T20" fmla="*/ 696 w 9970"/>
                <a:gd name="T21" fmla="*/ 5486 h 12592"/>
                <a:gd name="T22" fmla="*/ 0 w 9970"/>
                <a:gd name="T23" fmla="*/ 6165 h 12592"/>
                <a:gd name="T24" fmla="*/ 0 w 9970"/>
                <a:gd name="T25" fmla="*/ 11912 h 12592"/>
                <a:gd name="T26" fmla="*/ 696 w 9970"/>
                <a:gd name="T27" fmla="*/ 12592 h 12592"/>
                <a:gd name="T28" fmla="*/ 9274 w 9970"/>
                <a:gd name="T29" fmla="*/ 12592 h 12592"/>
                <a:gd name="T30" fmla="*/ 9970 w 9970"/>
                <a:gd name="T31" fmla="*/ 11912 h 12592"/>
                <a:gd name="T32" fmla="*/ 9970 w 9970"/>
                <a:gd name="T33" fmla="*/ 6165 h 12592"/>
                <a:gd name="T34" fmla="*/ 9274 w 9970"/>
                <a:gd name="T35" fmla="*/ 5486 h 12592"/>
                <a:gd name="T36" fmla="*/ 9274 w 9970"/>
                <a:gd name="T37" fmla="*/ 5486 h 12592"/>
                <a:gd name="T38" fmla="*/ 8880 w 9970"/>
                <a:gd name="T39" fmla="*/ 10945 h 12592"/>
                <a:gd name="T40" fmla="*/ 8717 w 9970"/>
                <a:gd name="T41" fmla="*/ 11333 h 12592"/>
                <a:gd name="T42" fmla="*/ 8325 w 9970"/>
                <a:gd name="T43" fmla="*/ 11494 h 12592"/>
                <a:gd name="T44" fmla="*/ 1665 w 9970"/>
                <a:gd name="T45" fmla="*/ 11494 h 12592"/>
                <a:gd name="T46" fmla="*/ 1274 w 9970"/>
                <a:gd name="T47" fmla="*/ 11333 h 12592"/>
                <a:gd name="T48" fmla="*/ 1110 w 9970"/>
                <a:gd name="T49" fmla="*/ 10945 h 12592"/>
                <a:gd name="T50" fmla="*/ 1110 w 9970"/>
                <a:gd name="T51" fmla="*/ 7106 h 12592"/>
                <a:gd name="T52" fmla="*/ 1665 w 9970"/>
                <a:gd name="T53" fmla="*/ 6558 h 12592"/>
                <a:gd name="T54" fmla="*/ 8325 w 9970"/>
                <a:gd name="T55" fmla="*/ 6558 h 12592"/>
                <a:gd name="T56" fmla="*/ 8880 w 9970"/>
                <a:gd name="T57" fmla="*/ 7106 h 12592"/>
                <a:gd name="T58" fmla="*/ 8880 w 9970"/>
                <a:gd name="T59" fmla="*/ 10945 h 12592"/>
                <a:gd name="T60" fmla="*/ 8880 w 9970"/>
                <a:gd name="T61" fmla="*/ 10945 h 125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970" h="12592">
                  <a:moveTo>
                    <a:pt x="9274" y="5486"/>
                  </a:moveTo>
                  <a:lnTo>
                    <a:pt x="2216" y="5475"/>
                  </a:lnTo>
                  <a:cubicBezTo>
                    <a:pt x="2213" y="4533"/>
                    <a:pt x="1957" y="3075"/>
                    <a:pt x="2770" y="2189"/>
                  </a:cubicBezTo>
                  <a:cubicBezTo>
                    <a:pt x="3264" y="1650"/>
                    <a:pt x="4097" y="1095"/>
                    <a:pt x="4985" y="1095"/>
                  </a:cubicBezTo>
                  <a:cubicBezTo>
                    <a:pt x="6298" y="1095"/>
                    <a:pt x="7280" y="2073"/>
                    <a:pt x="7755" y="3285"/>
                  </a:cubicBezTo>
                  <a:cubicBezTo>
                    <a:pt x="7893" y="3634"/>
                    <a:pt x="8015" y="3822"/>
                    <a:pt x="8309" y="3832"/>
                  </a:cubicBezTo>
                  <a:cubicBezTo>
                    <a:pt x="9045" y="3854"/>
                    <a:pt x="9000" y="3086"/>
                    <a:pt x="8863" y="2737"/>
                  </a:cubicBezTo>
                  <a:cubicBezTo>
                    <a:pt x="8176" y="988"/>
                    <a:pt x="6888" y="0"/>
                    <a:pt x="4985" y="0"/>
                  </a:cubicBezTo>
                  <a:cubicBezTo>
                    <a:pt x="3692" y="0"/>
                    <a:pt x="2980" y="262"/>
                    <a:pt x="2216" y="1095"/>
                  </a:cubicBezTo>
                  <a:cubicBezTo>
                    <a:pt x="1048" y="2367"/>
                    <a:pt x="1105" y="4424"/>
                    <a:pt x="1108" y="5475"/>
                  </a:cubicBezTo>
                  <a:lnTo>
                    <a:pt x="696" y="5486"/>
                  </a:lnTo>
                  <a:cubicBezTo>
                    <a:pt x="311" y="5486"/>
                    <a:pt x="0" y="5791"/>
                    <a:pt x="0" y="6165"/>
                  </a:cubicBezTo>
                  <a:lnTo>
                    <a:pt x="0" y="11912"/>
                  </a:lnTo>
                  <a:cubicBezTo>
                    <a:pt x="0" y="12289"/>
                    <a:pt x="312" y="12592"/>
                    <a:pt x="696" y="12592"/>
                  </a:cubicBezTo>
                  <a:lnTo>
                    <a:pt x="9274" y="12592"/>
                  </a:lnTo>
                  <a:cubicBezTo>
                    <a:pt x="9658" y="12592"/>
                    <a:pt x="9970" y="12288"/>
                    <a:pt x="9970" y="11912"/>
                  </a:cubicBezTo>
                  <a:lnTo>
                    <a:pt x="9970" y="6165"/>
                  </a:lnTo>
                  <a:cubicBezTo>
                    <a:pt x="9970" y="5790"/>
                    <a:pt x="9659" y="5486"/>
                    <a:pt x="9274" y="5486"/>
                  </a:cubicBezTo>
                  <a:lnTo>
                    <a:pt x="9274" y="5486"/>
                  </a:lnTo>
                  <a:close/>
                  <a:moveTo>
                    <a:pt x="8880" y="10945"/>
                  </a:moveTo>
                  <a:cubicBezTo>
                    <a:pt x="8880" y="11097"/>
                    <a:pt x="8826" y="11227"/>
                    <a:pt x="8717" y="11333"/>
                  </a:cubicBezTo>
                  <a:cubicBezTo>
                    <a:pt x="8609" y="11440"/>
                    <a:pt x="8478" y="11494"/>
                    <a:pt x="8325" y="11494"/>
                  </a:cubicBezTo>
                  <a:lnTo>
                    <a:pt x="1665" y="11494"/>
                  </a:lnTo>
                  <a:cubicBezTo>
                    <a:pt x="1512" y="11494"/>
                    <a:pt x="1381" y="11441"/>
                    <a:pt x="1274" y="11333"/>
                  </a:cubicBezTo>
                  <a:cubicBezTo>
                    <a:pt x="1165" y="11226"/>
                    <a:pt x="1110" y="11097"/>
                    <a:pt x="1110" y="10945"/>
                  </a:cubicBezTo>
                  <a:lnTo>
                    <a:pt x="1110" y="7106"/>
                  </a:lnTo>
                  <a:cubicBezTo>
                    <a:pt x="1110" y="6804"/>
                    <a:pt x="1359" y="6558"/>
                    <a:pt x="1665" y="6558"/>
                  </a:cubicBezTo>
                  <a:lnTo>
                    <a:pt x="8325" y="6558"/>
                  </a:lnTo>
                  <a:cubicBezTo>
                    <a:pt x="8631" y="6558"/>
                    <a:pt x="8880" y="6804"/>
                    <a:pt x="8880" y="7106"/>
                  </a:cubicBezTo>
                  <a:lnTo>
                    <a:pt x="8880" y="10945"/>
                  </a:lnTo>
                  <a:lnTo>
                    <a:pt x="8880" y="109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24037CF7-3367-626F-006D-0AEE4D0346AB}"/>
              </a:ext>
            </a:extLst>
          </p:cNvPr>
          <p:cNvSpPr txBox="1"/>
          <p:nvPr/>
        </p:nvSpPr>
        <p:spPr>
          <a:xfrm>
            <a:off x="1124701" y="690091"/>
            <a:ext cx="276550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800"/>
              </a:lnSpc>
            </a:pPr>
            <a:r>
              <a:rPr lang="zh-CN" altLang="en-US" sz="20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混合网络存储架构设计</a:t>
            </a:r>
            <a:endParaRPr lang="zh-CN" altLang="en-US" sz="2000" b="0" dirty="0"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4F9E7D9-2493-FDB4-9DFA-AEDE22636E84}"/>
              </a:ext>
            </a:extLst>
          </p:cNvPr>
          <p:cNvSpPr txBox="1"/>
          <p:nvPr/>
        </p:nvSpPr>
        <p:spPr>
          <a:xfrm>
            <a:off x="818594" y="1707985"/>
            <a:ext cx="4611638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zh-CN" altLang="en-US" sz="1600" b="0" dirty="0">
                <a:effectLst/>
                <a:latin typeface="+mn-ea"/>
              </a:rPr>
              <a:t>采用 </a:t>
            </a:r>
            <a:r>
              <a:rPr lang="en-US" altLang="zh-CN" sz="1600" b="0" dirty="0">
                <a:effectLst/>
                <a:latin typeface="+mn-ea"/>
              </a:rPr>
              <a:t>IP-SAN (iSCSI) </a:t>
            </a:r>
            <a:r>
              <a:rPr lang="zh-CN" altLang="en-US" sz="1600" b="0" dirty="0">
                <a:effectLst/>
                <a:latin typeface="+mn-ea"/>
              </a:rPr>
              <a:t>作为主要存储架构，主要用于存储用户数据、交易数据等核心业务数据，这些数据需要高性能的块级访问和严格的事务一致性保证。相比</a:t>
            </a:r>
            <a:r>
              <a:rPr lang="en-US" altLang="zh-CN" sz="1600" b="0" dirty="0">
                <a:effectLst/>
                <a:latin typeface="+mn-ea"/>
              </a:rPr>
              <a:t>FC-SAN</a:t>
            </a:r>
            <a:r>
              <a:rPr lang="zh-CN" altLang="en-US" sz="1600" b="0" dirty="0">
                <a:effectLst/>
                <a:latin typeface="+mn-ea"/>
              </a:rPr>
              <a:t>，</a:t>
            </a:r>
            <a:r>
              <a:rPr lang="en-US" altLang="zh-CN" sz="1600" b="0" dirty="0">
                <a:effectLst/>
                <a:latin typeface="+mn-ea"/>
              </a:rPr>
              <a:t>IP-SAN </a:t>
            </a:r>
            <a:r>
              <a:rPr lang="zh-CN" altLang="en-US" sz="1600" b="0" dirty="0">
                <a:effectLst/>
                <a:latin typeface="+mn-ea"/>
              </a:rPr>
              <a:t>具有更好的性价比和灵活性，同时能提供足够的性能支持。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640193D-3184-FC35-81F1-D334C8825A21}"/>
              </a:ext>
            </a:extLst>
          </p:cNvPr>
          <p:cNvSpPr txBox="1"/>
          <p:nvPr/>
        </p:nvSpPr>
        <p:spPr>
          <a:xfrm>
            <a:off x="6548439" y="1383375"/>
            <a:ext cx="3238442" cy="326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zh-CN" altLang="en-US" b="1" dirty="0">
                <a:effectLst/>
                <a:latin typeface="Consolas" panose="020B0609020204030204" pitchFamily="49" charset="0"/>
              </a:rPr>
              <a:t>共享文件存储层 </a:t>
            </a:r>
            <a:r>
              <a:rPr lang="en-US" altLang="zh-CN" b="1" dirty="0">
                <a:effectLst/>
                <a:latin typeface="Consolas" panose="020B0609020204030204" pitchFamily="49" charset="0"/>
              </a:rPr>
              <a:t>(NAS)</a:t>
            </a:r>
            <a:endParaRPr lang="zh-CN" altLang="en-US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4962FCF-94C2-121D-DBF0-8A8A8D50E5F7}"/>
              </a:ext>
            </a:extLst>
          </p:cNvPr>
          <p:cNvSpPr txBox="1"/>
          <p:nvPr/>
        </p:nvSpPr>
        <p:spPr>
          <a:xfrm>
            <a:off x="6548439" y="1707986"/>
            <a:ext cx="4789084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zh-CN" altLang="en-US" sz="1600" b="0" dirty="0">
                <a:effectLst/>
                <a:latin typeface="+mn-ea"/>
              </a:rPr>
              <a:t>采用企业级 </a:t>
            </a:r>
            <a:r>
              <a:rPr lang="en-US" altLang="zh-CN" sz="1600" b="0" dirty="0">
                <a:effectLst/>
                <a:latin typeface="+mn-ea"/>
              </a:rPr>
              <a:t>NAS </a:t>
            </a:r>
            <a:r>
              <a:rPr lang="zh-CN" altLang="en-US" sz="1600" b="0" dirty="0">
                <a:effectLst/>
                <a:latin typeface="+mn-ea"/>
              </a:rPr>
              <a:t>系统作为主要存储架构，支持 </a:t>
            </a:r>
            <a:r>
              <a:rPr lang="en-US" altLang="zh-CN" sz="1600" b="0" dirty="0">
                <a:effectLst/>
                <a:latin typeface="+mn-ea"/>
              </a:rPr>
              <a:t>NFS </a:t>
            </a:r>
            <a:r>
              <a:rPr lang="zh-CN" altLang="en-US" sz="1600" b="0" dirty="0">
                <a:effectLst/>
                <a:latin typeface="+mn-ea"/>
              </a:rPr>
              <a:t>和 </a:t>
            </a:r>
            <a:r>
              <a:rPr lang="en-US" altLang="zh-CN" sz="1600" b="0" dirty="0">
                <a:effectLst/>
                <a:latin typeface="+mn-ea"/>
              </a:rPr>
              <a:t>CIFS </a:t>
            </a:r>
            <a:r>
              <a:rPr lang="zh-CN" altLang="en-US" sz="1600" b="0" dirty="0">
                <a:effectLst/>
                <a:latin typeface="+mn-ea"/>
              </a:rPr>
              <a:t>协议，主要用于存储配置文件、应用程序包、共享文档等需要文件级访问的数据。这种架构设计既满足了文件共享的需求，又保证了数据的安全性和可靠性。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D46E140-17EF-61B3-0015-7367CED0C5B2}"/>
              </a:ext>
            </a:extLst>
          </p:cNvPr>
          <p:cNvSpPr txBox="1"/>
          <p:nvPr/>
        </p:nvSpPr>
        <p:spPr>
          <a:xfrm>
            <a:off x="821349" y="3511802"/>
            <a:ext cx="3157155" cy="423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b="1" dirty="0">
                <a:effectLst/>
                <a:latin typeface="Consolas" panose="020B0609020204030204" pitchFamily="49" charset="0"/>
              </a:rPr>
              <a:t>海量数据存储层 </a:t>
            </a:r>
            <a:r>
              <a:rPr lang="en-US" altLang="zh-CN" b="1" dirty="0">
                <a:effectLst/>
                <a:latin typeface="Consolas" panose="020B0609020204030204" pitchFamily="49" charset="0"/>
              </a:rPr>
              <a:t>(OSD)</a:t>
            </a:r>
            <a:endParaRPr lang="zh-CN" altLang="en-US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76A5484-CD48-939C-0524-A1268D73DC55}"/>
              </a:ext>
            </a:extLst>
          </p:cNvPr>
          <p:cNvSpPr txBox="1"/>
          <p:nvPr/>
        </p:nvSpPr>
        <p:spPr>
          <a:xfrm>
            <a:off x="897579" y="3930843"/>
            <a:ext cx="450987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zh-CN" altLang="en-US" sz="1600" b="0" dirty="0">
                <a:effectLst/>
                <a:latin typeface="+mn-ea"/>
              </a:rPr>
              <a:t>采用分布式对象存储系统作为主要存储架构，可考虑使用开源解决方案如 </a:t>
            </a:r>
            <a:r>
              <a:rPr lang="en-US" altLang="zh-CN" sz="1600" b="0" dirty="0" err="1">
                <a:effectLst/>
                <a:latin typeface="+mn-ea"/>
              </a:rPr>
              <a:t>Ceph</a:t>
            </a:r>
            <a:r>
              <a:rPr lang="en-US" altLang="zh-CN" sz="1600" b="0" dirty="0">
                <a:effectLst/>
                <a:latin typeface="+mn-ea"/>
              </a:rPr>
              <a:t> </a:t>
            </a:r>
            <a:r>
              <a:rPr lang="zh-CN" altLang="en-US" sz="1600" b="0" dirty="0">
                <a:effectLst/>
                <a:latin typeface="+mn-ea"/>
              </a:rPr>
              <a:t>或商业产品。系统支持 </a:t>
            </a:r>
            <a:r>
              <a:rPr lang="en-US" altLang="zh-CN" sz="1600" b="0" dirty="0">
                <a:effectLst/>
                <a:latin typeface="+mn-ea"/>
              </a:rPr>
              <a:t>PB </a:t>
            </a:r>
            <a:r>
              <a:rPr lang="zh-CN" altLang="en-US" sz="1600" b="0" dirty="0">
                <a:effectLst/>
                <a:latin typeface="+mn-ea"/>
              </a:rPr>
              <a:t>级数据规模的无限扩展，并内置数据复制和纠删码功能以确保数据可靠性。这种架构设计既满足了海量数据存储的需求，又保证了系统的可扩展性和数据的安全性。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A8086C2B-5CCB-EC92-BEDB-9DAD023325CF}"/>
              </a:ext>
            </a:extLst>
          </p:cNvPr>
          <p:cNvSpPr txBox="1"/>
          <p:nvPr/>
        </p:nvSpPr>
        <p:spPr>
          <a:xfrm>
            <a:off x="6605032" y="3868918"/>
            <a:ext cx="4434728" cy="1430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基于淘宝的业务特点和存储需求，我们采用混合网络存储架构，结合了 SAN、NAS 和对象存储的优势</a:t>
            </a:r>
          </a:p>
        </p:txBody>
      </p:sp>
    </p:spTree>
    <p:extLst>
      <p:ext uri="{BB962C8B-B14F-4D97-AF65-F5344CB8AC3E}">
        <p14:creationId xmlns:p14="http://schemas.microsoft.com/office/powerpoint/2010/main" val="21664797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D9DFE-7C71-EFD4-0EA3-5D3D2C15B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FB3D267-F979-FEB4-02C2-40D3E509B16C}"/>
              </a:ext>
            </a:extLst>
          </p:cNvPr>
          <p:cNvSpPr txBox="1"/>
          <p:nvPr/>
        </p:nvSpPr>
        <p:spPr>
          <a:xfrm>
            <a:off x="587375" y="621626"/>
            <a:ext cx="53732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Tw Cen MT Condensed Extra Bold" panose="020B0803020202020204" pitchFamily="34" charset="0"/>
                <a:ea typeface="等线" panose="02010600030101010101" pitchFamily="2" charset="-122"/>
              </a:rPr>
              <a:t>4.3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Condensed Extra Bold" panose="020B08030202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4103789-19FD-54CA-EB64-2F2ABA03DBF2}"/>
              </a:ext>
            </a:extLst>
          </p:cNvPr>
          <p:cNvSpPr/>
          <p:nvPr/>
        </p:nvSpPr>
        <p:spPr>
          <a:xfrm>
            <a:off x="10945503" y="441325"/>
            <a:ext cx="659122" cy="659122"/>
          </a:xfrm>
          <a:prstGeom prst="rect">
            <a:avLst/>
          </a:prstGeom>
          <a:blipFill dpi="0" rotWithShape="1">
            <a:blip r:embed="rId2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7184F17F-5D43-E9F6-DD91-32DB85EB47C1}"/>
              </a:ext>
            </a:extLst>
          </p:cNvPr>
          <p:cNvCxnSpPr/>
          <p:nvPr/>
        </p:nvCxnSpPr>
        <p:spPr>
          <a:xfrm>
            <a:off x="648833" y="490652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A129264B-BF8B-A807-E699-2984FC165CC5}"/>
              </a:ext>
            </a:extLst>
          </p:cNvPr>
          <p:cNvSpPr txBox="1"/>
          <p:nvPr/>
        </p:nvSpPr>
        <p:spPr>
          <a:xfrm>
            <a:off x="542925" y="5786978"/>
            <a:ext cx="1321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CASE STUDY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RESEARCH.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72B81655-5FA1-F6B1-65A2-7DF2978BC566}"/>
              </a:ext>
            </a:extLst>
          </p:cNvPr>
          <p:cNvCxnSpPr/>
          <p:nvPr/>
        </p:nvCxnSpPr>
        <p:spPr>
          <a:xfrm>
            <a:off x="648833" y="6391831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3E5C194B-2088-72BF-A092-C28030F3A8CB}"/>
              </a:ext>
            </a:extLst>
          </p:cNvPr>
          <p:cNvGrpSpPr/>
          <p:nvPr/>
        </p:nvGrpSpPr>
        <p:grpSpPr>
          <a:xfrm>
            <a:off x="648833" y="1289846"/>
            <a:ext cx="4933198" cy="4339916"/>
            <a:chOff x="648833" y="1289846"/>
            <a:chExt cx="4933198" cy="4339916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C12E7643-422B-1338-77B0-6BB0237B1D56}"/>
                </a:ext>
              </a:extLst>
            </p:cNvPr>
            <p:cNvSpPr/>
            <p:nvPr/>
          </p:nvSpPr>
          <p:spPr>
            <a:xfrm>
              <a:off x="648833" y="1289846"/>
              <a:ext cx="4933198" cy="4339916"/>
            </a:xfrm>
            <a:prstGeom prst="roundRect">
              <a:avLst>
                <a:gd name="adj" fmla="val 2914"/>
              </a:avLst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9436847D-440A-1A77-EA60-D70B1E0FFF62}"/>
                </a:ext>
              </a:extLst>
            </p:cNvPr>
            <p:cNvSpPr/>
            <p:nvPr/>
          </p:nvSpPr>
          <p:spPr>
            <a:xfrm>
              <a:off x="1446933" y="5425079"/>
              <a:ext cx="3336998" cy="143075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85617495-339E-07FF-28B3-CC759B1A0A8F}"/>
                </a:ext>
              </a:extLst>
            </p:cNvPr>
            <p:cNvSpPr/>
            <p:nvPr/>
          </p:nvSpPr>
          <p:spPr>
            <a:xfrm>
              <a:off x="727383" y="1363009"/>
              <a:ext cx="4776098" cy="4193590"/>
            </a:xfrm>
            <a:prstGeom prst="roundRect">
              <a:avLst>
                <a:gd name="adj" fmla="val 2505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  <a:effectLst>
              <a:outerShdw blurRad="63500" dist="381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02138FC-B204-66CC-9D47-9A078508F1E2}"/>
              </a:ext>
            </a:extLst>
          </p:cNvPr>
          <p:cNvGrpSpPr/>
          <p:nvPr/>
        </p:nvGrpSpPr>
        <p:grpSpPr>
          <a:xfrm>
            <a:off x="6671427" y="1289846"/>
            <a:ext cx="4933198" cy="4339916"/>
            <a:chOff x="648833" y="1289846"/>
            <a:chExt cx="4933198" cy="4339916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FA3F1E0A-3268-1EFD-F995-CEAF6F916030}"/>
                </a:ext>
              </a:extLst>
            </p:cNvPr>
            <p:cNvSpPr/>
            <p:nvPr/>
          </p:nvSpPr>
          <p:spPr>
            <a:xfrm>
              <a:off x="648833" y="1289846"/>
              <a:ext cx="4933198" cy="4339916"/>
            </a:xfrm>
            <a:prstGeom prst="roundRect">
              <a:avLst>
                <a:gd name="adj" fmla="val 2914"/>
              </a:avLst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AD981992-ACB2-6D50-6CB0-7C124A4DCEC5}"/>
                </a:ext>
              </a:extLst>
            </p:cNvPr>
            <p:cNvSpPr/>
            <p:nvPr/>
          </p:nvSpPr>
          <p:spPr>
            <a:xfrm>
              <a:off x="1446933" y="5425079"/>
              <a:ext cx="3336998" cy="143075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1A25C52C-FFEE-E593-6B39-3B0B97EEEA84}"/>
                </a:ext>
              </a:extLst>
            </p:cNvPr>
            <p:cNvSpPr/>
            <p:nvPr/>
          </p:nvSpPr>
          <p:spPr>
            <a:xfrm>
              <a:off x="727383" y="1363009"/>
              <a:ext cx="4776098" cy="4193590"/>
            </a:xfrm>
            <a:prstGeom prst="roundRect">
              <a:avLst>
                <a:gd name="adj" fmla="val 2505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  <a:effectLst>
              <a:outerShdw blurRad="63500" dist="381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3E80F44D-6323-9898-F150-22FB312F8CC7}"/>
              </a:ext>
            </a:extLst>
          </p:cNvPr>
          <p:cNvSpPr txBox="1"/>
          <p:nvPr/>
        </p:nvSpPr>
        <p:spPr>
          <a:xfrm>
            <a:off x="8786005" y="2327883"/>
            <a:ext cx="70403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zh-CN" sz="20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VSAN</a:t>
            </a:r>
            <a:endParaRPr lang="zh-CN" altLang="en-US" sz="2000" b="0" dirty="0"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iconfont-1016-791883">
            <a:extLst>
              <a:ext uri="{FF2B5EF4-FFF2-40B4-BE49-F238E27FC236}">
                <a16:creationId xmlns:a16="http://schemas.microsoft.com/office/drawing/2014/main" id="{B02F6209-C4FD-95AF-D03E-1E8FF0212460}"/>
              </a:ext>
            </a:extLst>
          </p:cNvPr>
          <p:cNvSpPr>
            <a:spLocks noChangeAspect="1"/>
          </p:cNvSpPr>
          <p:nvPr/>
        </p:nvSpPr>
        <p:spPr bwMode="auto">
          <a:xfrm>
            <a:off x="2892219" y="1741641"/>
            <a:ext cx="446426" cy="405872"/>
          </a:xfrm>
          <a:custGeom>
            <a:avLst/>
            <a:gdLst>
              <a:gd name="T0" fmla="*/ 14080 w 14080"/>
              <a:gd name="T1" fmla="*/ 5312 h 12800"/>
              <a:gd name="T2" fmla="*/ 12320 w 14080"/>
              <a:gd name="T3" fmla="*/ 7072 h 12800"/>
              <a:gd name="T4" fmla="*/ 10560 w 14080"/>
              <a:gd name="T5" fmla="*/ 5312 h 12800"/>
              <a:gd name="T6" fmla="*/ 10560 w 14080"/>
              <a:gd name="T7" fmla="*/ 5312 h 12800"/>
              <a:gd name="T8" fmla="*/ 10560 w 14080"/>
              <a:gd name="T9" fmla="*/ 5312 h 12800"/>
              <a:gd name="T10" fmla="*/ 10560 w 14080"/>
              <a:gd name="T11" fmla="*/ 5312 h 12800"/>
              <a:gd name="T12" fmla="*/ 8800 w 14080"/>
              <a:gd name="T13" fmla="*/ 7072 h 12800"/>
              <a:gd name="T14" fmla="*/ 7040 w 14080"/>
              <a:gd name="T15" fmla="*/ 5312 h 12800"/>
              <a:gd name="T16" fmla="*/ 7040 w 14080"/>
              <a:gd name="T17" fmla="*/ 5312 h 12800"/>
              <a:gd name="T18" fmla="*/ 7040 w 14080"/>
              <a:gd name="T19" fmla="*/ 5312 h 12800"/>
              <a:gd name="T20" fmla="*/ 7040 w 14080"/>
              <a:gd name="T21" fmla="*/ 5312 h 12800"/>
              <a:gd name="T22" fmla="*/ 7040 w 14080"/>
              <a:gd name="T23" fmla="*/ 5312 h 12800"/>
              <a:gd name="T24" fmla="*/ 5280 w 14080"/>
              <a:gd name="T25" fmla="*/ 7072 h 12800"/>
              <a:gd name="T26" fmla="*/ 3520 w 14080"/>
              <a:gd name="T27" fmla="*/ 5312 h 12800"/>
              <a:gd name="T28" fmla="*/ 3520 w 14080"/>
              <a:gd name="T29" fmla="*/ 5312 h 12800"/>
              <a:gd name="T30" fmla="*/ 3520 w 14080"/>
              <a:gd name="T31" fmla="*/ 5312 h 12800"/>
              <a:gd name="T32" fmla="*/ 3520 w 14080"/>
              <a:gd name="T33" fmla="*/ 5312 h 12800"/>
              <a:gd name="T34" fmla="*/ 3520 w 14080"/>
              <a:gd name="T35" fmla="*/ 5312 h 12800"/>
              <a:gd name="T36" fmla="*/ 1760 w 14080"/>
              <a:gd name="T37" fmla="*/ 7072 h 12800"/>
              <a:gd name="T38" fmla="*/ 0 w 14080"/>
              <a:gd name="T39" fmla="*/ 5312 h 12800"/>
              <a:gd name="T40" fmla="*/ 0 w 14080"/>
              <a:gd name="T41" fmla="*/ 5312 h 12800"/>
              <a:gd name="T42" fmla="*/ 0 w 14080"/>
              <a:gd name="T43" fmla="*/ 5312 h 12800"/>
              <a:gd name="T44" fmla="*/ 0 w 14080"/>
              <a:gd name="T45" fmla="*/ 5312 h 12800"/>
              <a:gd name="T46" fmla="*/ 1248 w 14080"/>
              <a:gd name="T47" fmla="*/ 1984 h 12800"/>
              <a:gd name="T48" fmla="*/ 12864 w 14080"/>
              <a:gd name="T49" fmla="*/ 1984 h 12800"/>
              <a:gd name="T50" fmla="*/ 14080 w 14080"/>
              <a:gd name="T51" fmla="*/ 5312 h 12800"/>
              <a:gd name="T52" fmla="*/ 14080 w 14080"/>
              <a:gd name="T53" fmla="*/ 5312 h 12800"/>
              <a:gd name="T54" fmla="*/ 11872 w 14080"/>
              <a:gd name="T55" fmla="*/ 1312 h 12800"/>
              <a:gd name="T56" fmla="*/ 2208 w 14080"/>
              <a:gd name="T57" fmla="*/ 1312 h 12800"/>
              <a:gd name="T58" fmla="*/ 1536 w 14080"/>
              <a:gd name="T59" fmla="*/ 640 h 12800"/>
              <a:gd name="T60" fmla="*/ 2208 w 14080"/>
              <a:gd name="T61" fmla="*/ 0 h 12800"/>
              <a:gd name="T62" fmla="*/ 11872 w 14080"/>
              <a:gd name="T63" fmla="*/ 0 h 12800"/>
              <a:gd name="T64" fmla="*/ 12544 w 14080"/>
              <a:gd name="T65" fmla="*/ 672 h 12800"/>
              <a:gd name="T66" fmla="*/ 11872 w 14080"/>
              <a:gd name="T67" fmla="*/ 1312 h 12800"/>
              <a:gd name="T68" fmla="*/ 1984 w 14080"/>
              <a:gd name="T69" fmla="*/ 7712 h 12800"/>
              <a:gd name="T70" fmla="*/ 1984 w 14080"/>
              <a:gd name="T71" fmla="*/ 7712 h 12800"/>
              <a:gd name="T72" fmla="*/ 2176 w 14080"/>
              <a:gd name="T73" fmla="*/ 7680 h 12800"/>
              <a:gd name="T74" fmla="*/ 2208 w 14080"/>
              <a:gd name="T75" fmla="*/ 7680 h 12800"/>
              <a:gd name="T76" fmla="*/ 2304 w 14080"/>
              <a:gd name="T77" fmla="*/ 7648 h 12800"/>
              <a:gd name="T78" fmla="*/ 2656 w 14080"/>
              <a:gd name="T79" fmla="*/ 7552 h 12800"/>
              <a:gd name="T80" fmla="*/ 2656 w 14080"/>
              <a:gd name="T81" fmla="*/ 7552 h 12800"/>
              <a:gd name="T82" fmla="*/ 2656 w 14080"/>
              <a:gd name="T83" fmla="*/ 7552 h 12800"/>
              <a:gd name="T84" fmla="*/ 2656 w 14080"/>
              <a:gd name="T85" fmla="*/ 10816 h 12800"/>
              <a:gd name="T86" fmla="*/ 11456 w 14080"/>
              <a:gd name="T87" fmla="*/ 10816 h 12800"/>
              <a:gd name="T88" fmla="*/ 11456 w 14080"/>
              <a:gd name="T89" fmla="*/ 7552 h 12800"/>
              <a:gd name="T90" fmla="*/ 11456 w 14080"/>
              <a:gd name="T91" fmla="*/ 7552 h 12800"/>
              <a:gd name="T92" fmla="*/ 11456 w 14080"/>
              <a:gd name="T93" fmla="*/ 7552 h 12800"/>
              <a:gd name="T94" fmla="*/ 11808 w 14080"/>
              <a:gd name="T95" fmla="*/ 7648 h 12800"/>
              <a:gd name="T96" fmla="*/ 11904 w 14080"/>
              <a:gd name="T97" fmla="*/ 7680 h 12800"/>
              <a:gd name="T98" fmla="*/ 11936 w 14080"/>
              <a:gd name="T99" fmla="*/ 7680 h 12800"/>
              <a:gd name="T100" fmla="*/ 12128 w 14080"/>
              <a:gd name="T101" fmla="*/ 7712 h 12800"/>
              <a:gd name="T102" fmla="*/ 12128 w 14080"/>
              <a:gd name="T103" fmla="*/ 7712 h 12800"/>
              <a:gd name="T104" fmla="*/ 12352 w 14080"/>
              <a:gd name="T105" fmla="*/ 7712 h 12800"/>
              <a:gd name="T106" fmla="*/ 12800 w 14080"/>
              <a:gd name="T107" fmla="*/ 7680 h 12800"/>
              <a:gd name="T108" fmla="*/ 12800 w 14080"/>
              <a:gd name="T109" fmla="*/ 12128 h 12800"/>
              <a:gd name="T110" fmla="*/ 12128 w 14080"/>
              <a:gd name="T111" fmla="*/ 12800 h 12800"/>
              <a:gd name="T112" fmla="*/ 1984 w 14080"/>
              <a:gd name="T113" fmla="*/ 12800 h 12800"/>
              <a:gd name="T114" fmla="*/ 1312 w 14080"/>
              <a:gd name="T115" fmla="*/ 12128 h 12800"/>
              <a:gd name="T116" fmla="*/ 1312 w 14080"/>
              <a:gd name="T117" fmla="*/ 7680 h 12800"/>
              <a:gd name="T118" fmla="*/ 1760 w 14080"/>
              <a:gd name="T119" fmla="*/ 7712 h 12800"/>
              <a:gd name="T120" fmla="*/ 1984 w 14080"/>
              <a:gd name="T121" fmla="*/ 7712 h 12800"/>
              <a:gd name="T122" fmla="*/ 1984 w 14080"/>
              <a:gd name="T123" fmla="*/ 7712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4080" h="12800">
                <a:moveTo>
                  <a:pt x="14080" y="5312"/>
                </a:moveTo>
                <a:cubicBezTo>
                  <a:pt x="14080" y="6272"/>
                  <a:pt x="13280" y="7072"/>
                  <a:pt x="12320" y="7072"/>
                </a:cubicBezTo>
                <a:cubicBezTo>
                  <a:pt x="11360" y="7072"/>
                  <a:pt x="10560" y="6272"/>
                  <a:pt x="10560" y="5312"/>
                </a:cubicBezTo>
                <a:lnTo>
                  <a:pt x="10560" y="5312"/>
                </a:lnTo>
                <a:lnTo>
                  <a:pt x="10560" y="5312"/>
                </a:lnTo>
                <a:lnTo>
                  <a:pt x="10560" y="5312"/>
                </a:lnTo>
                <a:cubicBezTo>
                  <a:pt x="10560" y="6272"/>
                  <a:pt x="9760" y="7072"/>
                  <a:pt x="8800" y="7072"/>
                </a:cubicBezTo>
                <a:cubicBezTo>
                  <a:pt x="7840" y="7072"/>
                  <a:pt x="7040" y="6272"/>
                  <a:pt x="7040" y="5312"/>
                </a:cubicBezTo>
                <a:lnTo>
                  <a:pt x="7040" y="5312"/>
                </a:lnTo>
                <a:lnTo>
                  <a:pt x="7040" y="5312"/>
                </a:lnTo>
                <a:lnTo>
                  <a:pt x="7040" y="5312"/>
                </a:lnTo>
                <a:lnTo>
                  <a:pt x="7040" y="5312"/>
                </a:lnTo>
                <a:cubicBezTo>
                  <a:pt x="7040" y="6272"/>
                  <a:pt x="6240" y="7072"/>
                  <a:pt x="5280" y="7072"/>
                </a:cubicBezTo>
                <a:cubicBezTo>
                  <a:pt x="4320" y="7072"/>
                  <a:pt x="3520" y="6272"/>
                  <a:pt x="3520" y="5312"/>
                </a:cubicBezTo>
                <a:lnTo>
                  <a:pt x="3520" y="5312"/>
                </a:lnTo>
                <a:lnTo>
                  <a:pt x="3520" y="5312"/>
                </a:lnTo>
                <a:lnTo>
                  <a:pt x="3520" y="5312"/>
                </a:lnTo>
                <a:lnTo>
                  <a:pt x="3520" y="5312"/>
                </a:lnTo>
                <a:cubicBezTo>
                  <a:pt x="3520" y="6272"/>
                  <a:pt x="2720" y="7072"/>
                  <a:pt x="1760" y="7072"/>
                </a:cubicBezTo>
                <a:cubicBezTo>
                  <a:pt x="800" y="7072"/>
                  <a:pt x="0" y="6272"/>
                  <a:pt x="0" y="5312"/>
                </a:cubicBezTo>
                <a:lnTo>
                  <a:pt x="0" y="5312"/>
                </a:lnTo>
                <a:lnTo>
                  <a:pt x="0" y="5312"/>
                </a:lnTo>
                <a:lnTo>
                  <a:pt x="0" y="5312"/>
                </a:lnTo>
                <a:lnTo>
                  <a:pt x="1248" y="1984"/>
                </a:lnTo>
                <a:lnTo>
                  <a:pt x="12864" y="1984"/>
                </a:lnTo>
                <a:lnTo>
                  <a:pt x="14080" y="5312"/>
                </a:lnTo>
                <a:lnTo>
                  <a:pt x="14080" y="5312"/>
                </a:lnTo>
                <a:close/>
                <a:moveTo>
                  <a:pt x="11872" y="1312"/>
                </a:moveTo>
                <a:lnTo>
                  <a:pt x="2208" y="1312"/>
                </a:lnTo>
                <a:cubicBezTo>
                  <a:pt x="1856" y="1312"/>
                  <a:pt x="1536" y="1024"/>
                  <a:pt x="1536" y="640"/>
                </a:cubicBezTo>
                <a:cubicBezTo>
                  <a:pt x="1536" y="288"/>
                  <a:pt x="1824" y="0"/>
                  <a:pt x="2208" y="0"/>
                </a:cubicBezTo>
                <a:lnTo>
                  <a:pt x="11872" y="0"/>
                </a:lnTo>
                <a:cubicBezTo>
                  <a:pt x="12224" y="0"/>
                  <a:pt x="12544" y="288"/>
                  <a:pt x="12544" y="672"/>
                </a:cubicBezTo>
                <a:cubicBezTo>
                  <a:pt x="12544" y="1024"/>
                  <a:pt x="12256" y="1312"/>
                  <a:pt x="11872" y="1312"/>
                </a:cubicBezTo>
                <a:close/>
                <a:moveTo>
                  <a:pt x="1984" y="7712"/>
                </a:moveTo>
                <a:lnTo>
                  <a:pt x="1984" y="7712"/>
                </a:lnTo>
                <a:cubicBezTo>
                  <a:pt x="2048" y="7712"/>
                  <a:pt x="2112" y="7712"/>
                  <a:pt x="2176" y="7680"/>
                </a:cubicBezTo>
                <a:lnTo>
                  <a:pt x="2208" y="7680"/>
                </a:lnTo>
                <a:cubicBezTo>
                  <a:pt x="2240" y="7680"/>
                  <a:pt x="2272" y="7680"/>
                  <a:pt x="2304" y="7648"/>
                </a:cubicBezTo>
                <a:cubicBezTo>
                  <a:pt x="2432" y="7616"/>
                  <a:pt x="2528" y="7584"/>
                  <a:pt x="2656" y="7552"/>
                </a:cubicBezTo>
                <a:lnTo>
                  <a:pt x="2656" y="7552"/>
                </a:lnTo>
                <a:lnTo>
                  <a:pt x="2656" y="7552"/>
                </a:lnTo>
                <a:lnTo>
                  <a:pt x="2656" y="10816"/>
                </a:lnTo>
                <a:lnTo>
                  <a:pt x="11456" y="10816"/>
                </a:lnTo>
                <a:lnTo>
                  <a:pt x="11456" y="7552"/>
                </a:lnTo>
                <a:lnTo>
                  <a:pt x="11456" y="7552"/>
                </a:lnTo>
                <a:lnTo>
                  <a:pt x="11456" y="7552"/>
                </a:lnTo>
                <a:cubicBezTo>
                  <a:pt x="11584" y="7584"/>
                  <a:pt x="11680" y="7616"/>
                  <a:pt x="11808" y="7648"/>
                </a:cubicBezTo>
                <a:cubicBezTo>
                  <a:pt x="11840" y="7648"/>
                  <a:pt x="11872" y="7648"/>
                  <a:pt x="11904" y="7680"/>
                </a:cubicBezTo>
                <a:lnTo>
                  <a:pt x="11936" y="7680"/>
                </a:lnTo>
                <a:cubicBezTo>
                  <a:pt x="12000" y="7680"/>
                  <a:pt x="12064" y="7712"/>
                  <a:pt x="12128" y="7712"/>
                </a:cubicBezTo>
                <a:lnTo>
                  <a:pt x="12128" y="7712"/>
                </a:lnTo>
                <a:lnTo>
                  <a:pt x="12352" y="7712"/>
                </a:lnTo>
                <a:cubicBezTo>
                  <a:pt x="12512" y="7712"/>
                  <a:pt x="12640" y="7712"/>
                  <a:pt x="12800" y="7680"/>
                </a:cubicBezTo>
                <a:lnTo>
                  <a:pt x="12800" y="12128"/>
                </a:lnTo>
                <a:cubicBezTo>
                  <a:pt x="12800" y="12480"/>
                  <a:pt x="12512" y="12800"/>
                  <a:pt x="12128" y="12800"/>
                </a:cubicBezTo>
                <a:lnTo>
                  <a:pt x="1984" y="12800"/>
                </a:lnTo>
                <a:cubicBezTo>
                  <a:pt x="1632" y="12800"/>
                  <a:pt x="1312" y="12512"/>
                  <a:pt x="1312" y="12128"/>
                </a:cubicBezTo>
                <a:lnTo>
                  <a:pt x="1312" y="7680"/>
                </a:lnTo>
                <a:cubicBezTo>
                  <a:pt x="1440" y="7712"/>
                  <a:pt x="1600" y="7712"/>
                  <a:pt x="1760" y="7712"/>
                </a:cubicBezTo>
                <a:lnTo>
                  <a:pt x="1984" y="7712"/>
                </a:lnTo>
                <a:close/>
                <a:moveTo>
                  <a:pt x="1984" y="7712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6" name="iconfont-1027-797105">
            <a:extLst>
              <a:ext uri="{FF2B5EF4-FFF2-40B4-BE49-F238E27FC236}">
                <a16:creationId xmlns:a16="http://schemas.microsoft.com/office/drawing/2014/main" id="{2F460AE1-FE72-F819-C88B-CDD5E32D3DA2}"/>
              </a:ext>
            </a:extLst>
          </p:cNvPr>
          <p:cNvSpPr>
            <a:spLocks noChangeAspect="1"/>
          </p:cNvSpPr>
          <p:nvPr/>
        </p:nvSpPr>
        <p:spPr bwMode="auto">
          <a:xfrm>
            <a:off x="8914812" y="1761880"/>
            <a:ext cx="446427" cy="357224"/>
          </a:xfrm>
          <a:custGeom>
            <a:avLst/>
            <a:gdLst>
              <a:gd name="T0" fmla="*/ 10893 w 11166"/>
              <a:gd name="T1" fmla="*/ 274 h 8934"/>
              <a:gd name="T2" fmla="*/ 931 w 11166"/>
              <a:gd name="T3" fmla="*/ 0 h 8934"/>
              <a:gd name="T4" fmla="*/ 0 w 11166"/>
              <a:gd name="T5" fmla="*/ 931 h 8934"/>
              <a:gd name="T6" fmla="*/ 274 w 11166"/>
              <a:gd name="T7" fmla="*/ 8660 h 8934"/>
              <a:gd name="T8" fmla="*/ 10236 w 11166"/>
              <a:gd name="T9" fmla="*/ 8934 h 8934"/>
              <a:gd name="T10" fmla="*/ 11166 w 11166"/>
              <a:gd name="T11" fmla="*/ 8003 h 8934"/>
              <a:gd name="T12" fmla="*/ 1057 w 11166"/>
              <a:gd name="T13" fmla="*/ 4202 h 8934"/>
              <a:gd name="T14" fmla="*/ 1911 w 11166"/>
              <a:gd name="T15" fmla="*/ 4165 h 8934"/>
              <a:gd name="T16" fmla="*/ 2312 w 11166"/>
              <a:gd name="T17" fmla="*/ 3872 h 8934"/>
              <a:gd name="T18" fmla="*/ 2723 w 11166"/>
              <a:gd name="T19" fmla="*/ 3405 h 8934"/>
              <a:gd name="T20" fmla="*/ 3265 w 11166"/>
              <a:gd name="T21" fmla="*/ 2980 h 8934"/>
              <a:gd name="T22" fmla="*/ 3907 w 11166"/>
              <a:gd name="T23" fmla="*/ 4344 h 8934"/>
              <a:gd name="T24" fmla="*/ 4681 w 11166"/>
              <a:gd name="T25" fmla="*/ 2112 h 8934"/>
              <a:gd name="T26" fmla="*/ 5011 w 11166"/>
              <a:gd name="T27" fmla="*/ 1149 h 8934"/>
              <a:gd name="T28" fmla="*/ 5219 w 11166"/>
              <a:gd name="T29" fmla="*/ 677 h 8934"/>
              <a:gd name="T30" fmla="*/ 5681 w 11166"/>
              <a:gd name="T31" fmla="*/ 649 h 8934"/>
              <a:gd name="T32" fmla="*/ 5889 w 11166"/>
              <a:gd name="T33" fmla="*/ 1239 h 8934"/>
              <a:gd name="T34" fmla="*/ 6063 w 11166"/>
              <a:gd name="T35" fmla="*/ 2669 h 8934"/>
              <a:gd name="T36" fmla="*/ 6455 w 11166"/>
              <a:gd name="T37" fmla="*/ 6005 h 8934"/>
              <a:gd name="T38" fmla="*/ 6969 w 11166"/>
              <a:gd name="T39" fmla="*/ 4301 h 8934"/>
              <a:gd name="T40" fmla="*/ 7201 w 11166"/>
              <a:gd name="T41" fmla="*/ 3551 h 8934"/>
              <a:gd name="T42" fmla="*/ 7371 w 11166"/>
              <a:gd name="T43" fmla="*/ 3155 h 8934"/>
              <a:gd name="T44" fmla="*/ 7875 w 11166"/>
              <a:gd name="T45" fmla="*/ 3112 h 8934"/>
              <a:gd name="T46" fmla="*/ 7965 w 11166"/>
              <a:gd name="T47" fmla="*/ 3532 h 8934"/>
              <a:gd name="T48" fmla="*/ 8295 w 11166"/>
              <a:gd name="T49" fmla="*/ 4523 h 8934"/>
              <a:gd name="T50" fmla="*/ 8418 w 11166"/>
              <a:gd name="T51" fmla="*/ 4287 h 8934"/>
              <a:gd name="T52" fmla="*/ 9003 w 11166"/>
              <a:gd name="T53" fmla="*/ 4032 h 8934"/>
              <a:gd name="T54" fmla="*/ 9419 w 11166"/>
              <a:gd name="T55" fmla="*/ 4042 h 8934"/>
              <a:gd name="T56" fmla="*/ 9645 w 11166"/>
              <a:gd name="T57" fmla="*/ 4759 h 8934"/>
              <a:gd name="T58" fmla="*/ 9286 w 11166"/>
              <a:gd name="T59" fmla="*/ 4769 h 8934"/>
              <a:gd name="T60" fmla="*/ 8881 w 11166"/>
              <a:gd name="T61" fmla="*/ 4995 h 8934"/>
              <a:gd name="T62" fmla="*/ 8579 w 11166"/>
              <a:gd name="T63" fmla="*/ 5731 h 8934"/>
              <a:gd name="T64" fmla="*/ 8281 w 11166"/>
              <a:gd name="T65" fmla="*/ 5915 h 8934"/>
              <a:gd name="T66" fmla="*/ 8003 w 11166"/>
              <a:gd name="T67" fmla="*/ 5750 h 8934"/>
              <a:gd name="T68" fmla="*/ 7776 w 11166"/>
              <a:gd name="T69" fmla="*/ 5184 h 8934"/>
              <a:gd name="T70" fmla="*/ 7163 w 11166"/>
              <a:gd name="T71" fmla="*/ 6203 h 8934"/>
              <a:gd name="T72" fmla="*/ 6837 w 11166"/>
              <a:gd name="T73" fmla="*/ 7265 h 8934"/>
              <a:gd name="T74" fmla="*/ 6663 w 11166"/>
              <a:gd name="T75" fmla="*/ 7874 h 8934"/>
              <a:gd name="T76" fmla="*/ 6163 w 11166"/>
              <a:gd name="T77" fmla="*/ 8355 h 8934"/>
              <a:gd name="T78" fmla="*/ 5776 w 11166"/>
              <a:gd name="T79" fmla="*/ 7836 h 8934"/>
              <a:gd name="T80" fmla="*/ 5691 w 11166"/>
              <a:gd name="T81" fmla="*/ 6921 h 8934"/>
              <a:gd name="T82" fmla="*/ 5521 w 11166"/>
              <a:gd name="T83" fmla="*/ 5137 h 8934"/>
              <a:gd name="T84" fmla="*/ 4804 w 11166"/>
              <a:gd name="T85" fmla="*/ 4013 h 8934"/>
              <a:gd name="T86" fmla="*/ 4468 w 11166"/>
              <a:gd name="T87" fmla="*/ 4995 h 8934"/>
              <a:gd name="T88" fmla="*/ 4294 w 11166"/>
              <a:gd name="T89" fmla="*/ 5514 h 8934"/>
              <a:gd name="T90" fmla="*/ 3916 w 11166"/>
              <a:gd name="T91" fmla="*/ 5835 h 8934"/>
              <a:gd name="T92" fmla="*/ 3529 w 11166"/>
              <a:gd name="T93" fmla="*/ 5448 h 8934"/>
              <a:gd name="T94" fmla="*/ 3265 w 11166"/>
              <a:gd name="T95" fmla="*/ 4712 h 8934"/>
              <a:gd name="T96" fmla="*/ 2907 w 11166"/>
              <a:gd name="T97" fmla="*/ 4297 h 8934"/>
              <a:gd name="T98" fmla="*/ 2614 w 11166"/>
              <a:gd name="T99" fmla="*/ 4636 h 8934"/>
              <a:gd name="T100" fmla="*/ 2019 w 11166"/>
              <a:gd name="T101" fmla="*/ 4929 h 8934"/>
              <a:gd name="T102" fmla="*/ 1453 w 11166"/>
              <a:gd name="T103" fmla="*/ 4929 h 8934"/>
              <a:gd name="T104" fmla="*/ 1057 w 11166"/>
              <a:gd name="T105" fmla="*/ 4202 h 89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1166" h="8934">
                <a:moveTo>
                  <a:pt x="11166" y="931"/>
                </a:moveTo>
                <a:cubicBezTo>
                  <a:pt x="11166" y="675"/>
                  <a:pt x="11074" y="454"/>
                  <a:pt x="10893" y="274"/>
                </a:cubicBezTo>
                <a:cubicBezTo>
                  <a:pt x="10713" y="93"/>
                  <a:pt x="10492" y="0"/>
                  <a:pt x="10236" y="0"/>
                </a:cubicBezTo>
                <a:lnTo>
                  <a:pt x="931" y="0"/>
                </a:lnTo>
                <a:cubicBezTo>
                  <a:pt x="675" y="0"/>
                  <a:pt x="454" y="93"/>
                  <a:pt x="274" y="274"/>
                </a:cubicBezTo>
                <a:cubicBezTo>
                  <a:pt x="93" y="454"/>
                  <a:pt x="0" y="675"/>
                  <a:pt x="0" y="931"/>
                </a:cubicBezTo>
                <a:lnTo>
                  <a:pt x="0" y="8003"/>
                </a:lnTo>
                <a:cubicBezTo>
                  <a:pt x="0" y="8259"/>
                  <a:pt x="93" y="8480"/>
                  <a:pt x="274" y="8660"/>
                </a:cubicBezTo>
                <a:cubicBezTo>
                  <a:pt x="454" y="8840"/>
                  <a:pt x="675" y="8934"/>
                  <a:pt x="931" y="8934"/>
                </a:cubicBezTo>
                <a:lnTo>
                  <a:pt x="10236" y="8934"/>
                </a:lnTo>
                <a:cubicBezTo>
                  <a:pt x="10492" y="8934"/>
                  <a:pt x="10713" y="8840"/>
                  <a:pt x="10893" y="8660"/>
                </a:cubicBezTo>
                <a:cubicBezTo>
                  <a:pt x="11074" y="8480"/>
                  <a:pt x="11166" y="8259"/>
                  <a:pt x="11166" y="8003"/>
                </a:cubicBezTo>
                <a:lnTo>
                  <a:pt x="11166" y="931"/>
                </a:lnTo>
                <a:close/>
                <a:moveTo>
                  <a:pt x="1057" y="4202"/>
                </a:moveTo>
                <a:lnTo>
                  <a:pt x="1576" y="4202"/>
                </a:lnTo>
                <a:cubicBezTo>
                  <a:pt x="1714" y="4202"/>
                  <a:pt x="1826" y="4190"/>
                  <a:pt x="1911" y="4165"/>
                </a:cubicBezTo>
                <a:cubicBezTo>
                  <a:pt x="1996" y="4139"/>
                  <a:pt x="2079" y="4092"/>
                  <a:pt x="2161" y="4023"/>
                </a:cubicBezTo>
                <a:lnTo>
                  <a:pt x="2312" y="3872"/>
                </a:lnTo>
                <a:cubicBezTo>
                  <a:pt x="2375" y="3809"/>
                  <a:pt x="2441" y="3737"/>
                  <a:pt x="2510" y="3655"/>
                </a:cubicBezTo>
                <a:cubicBezTo>
                  <a:pt x="2579" y="3573"/>
                  <a:pt x="2650" y="3490"/>
                  <a:pt x="2723" y="3405"/>
                </a:cubicBezTo>
                <a:cubicBezTo>
                  <a:pt x="2795" y="3320"/>
                  <a:pt x="2863" y="3240"/>
                  <a:pt x="2925" y="3164"/>
                </a:cubicBezTo>
                <a:cubicBezTo>
                  <a:pt x="3051" y="3007"/>
                  <a:pt x="3164" y="2945"/>
                  <a:pt x="3265" y="2980"/>
                </a:cubicBezTo>
                <a:cubicBezTo>
                  <a:pt x="3366" y="3015"/>
                  <a:pt x="3441" y="3089"/>
                  <a:pt x="3492" y="3202"/>
                </a:cubicBezTo>
                <a:lnTo>
                  <a:pt x="3907" y="4344"/>
                </a:lnTo>
                <a:cubicBezTo>
                  <a:pt x="4121" y="3746"/>
                  <a:pt x="4310" y="3205"/>
                  <a:pt x="4473" y="2721"/>
                </a:cubicBezTo>
                <a:cubicBezTo>
                  <a:pt x="4542" y="2513"/>
                  <a:pt x="4612" y="2310"/>
                  <a:pt x="4681" y="2112"/>
                </a:cubicBezTo>
                <a:cubicBezTo>
                  <a:pt x="4750" y="1913"/>
                  <a:pt x="4813" y="1731"/>
                  <a:pt x="4870" y="1564"/>
                </a:cubicBezTo>
                <a:cubicBezTo>
                  <a:pt x="4926" y="1398"/>
                  <a:pt x="4973" y="1259"/>
                  <a:pt x="5011" y="1149"/>
                </a:cubicBezTo>
                <a:cubicBezTo>
                  <a:pt x="5049" y="1039"/>
                  <a:pt x="5071" y="968"/>
                  <a:pt x="5077" y="937"/>
                </a:cubicBezTo>
                <a:cubicBezTo>
                  <a:pt x="5109" y="830"/>
                  <a:pt x="5156" y="743"/>
                  <a:pt x="5219" y="677"/>
                </a:cubicBezTo>
                <a:cubicBezTo>
                  <a:pt x="5282" y="611"/>
                  <a:pt x="5351" y="578"/>
                  <a:pt x="5426" y="578"/>
                </a:cubicBezTo>
                <a:cubicBezTo>
                  <a:pt x="5508" y="578"/>
                  <a:pt x="5593" y="602"/>
                  <a:pt x="5681" y="649"/>
                </a:cubicBezTo>
                <a:cubicBezTo>
                  <a:pt x="5769" y="696"/>
                  <a:pt x="5826" y="792"/>
                  <a:pt x="5851" y="937"/>
                </a:cubicBezTo>
                <a:cubicBezTo>
                  <a:pt x="5858" y="975"/>
                  <a:pt x="5870" y="1075"/>
                  <a:pt x="5889" y="1239"/>
                </a:cubicBezTo>
                <a:cubicBezTo>
                  <a:pt x="5908" y="1402"/>
                  <a:pt x="5933" y="1607"/>
                  <a:pt x="5964" y="1852"/>
                </a:cubicBezTo>
                <a:cubicBezTo>
                  <a:pt x="5996" y="2098"/>
                  <a:pt x="6029" y="2370"/>
                  <a:pt x="6063" y="2669"/>
                </a:cubicBezTo>
                <a:cubicBezTo>
                  <a:pt x="6098" y="2967"/>
                  <a:pt x="6134" y="3271"/>
                  <a:pt x="6172" y="3579"/>
                </a:cubicBezTo>
                <a:cubicBezTo>
                  <a:pt x="6254" y="4303"/>
                  <a:pt x="6348" y="5111"/>
                  <a:pt x="6455" y="6005"/>
                </a:cubicBezTo>
                <a:cubicBezTo>
                  <a:pt x="6594" y="5552"/>
                  <a:pt x="6719" y="5140"/>
                  <a:pt x="6833" y="4769"/>
                </a:cubicBezTo>
                <a:cubicBezTo>
                  <a:pt x="6877" y="4611"/>
                  <a:pt x="6922" y="4455"/>
                  <a:pt x="6969" y="4301"/>
                </a:cubicBezTo>
                <a:cubicBezTo>
                  <a:pt x="7017" y="4147"/>
                  <a:pt x="7061" y="4006"/>
                  <a:pt x="7102" y="3877"/>
                </a:cubicBezTo>
                <a:cubicBezTo>
                  <a:pt x="7142" y="3748"/>
                  <a:pt x="7176" y="3639"/>
                  <a:pt x="7201" y="3551"/>
                </a:cubicBezTo>
                <a:cubicBezTo>
                  <a:pt x="7226" y="3463"/>
                  <a:pt x="7245" y="3406"/>
                  <a:pt x="7257" y="3381"/>
                </a:cubicBezTo>
                <a:cubicBezTo>
                  <a:pt x="7289" y="3281"/>
                  <a:pt x="7327" y="3205"/>
                  <a:pt x="7371" y="3155"/>
                </a:cubicBezTo>
                <a:cubicBezTo>
                  <a:pt x="7415" y="3104"/>
                  <a:pt x="7474" y="3070"/>
                  <a:pt x="7550" y="3051"/>
                </a:cubicBezTo>
                <a:cubicBezTo>
                  <a:pt x="7695" y="3013"/>
                  <a:pt x="7803" y="3033"/>
                  <a:pt x="7875" y="3112"/>
                </a:cubicBezTo>
                <a:cubicBezTo>
                  <a:pt x="7948" y="3191"/>
                  <a:pt x="7984" y="3271"/>
                  <a:pt x="7984" y="3353"/>
                </a:cubicBezTo>
                <a:cubicBezTo>
                  <a:pt x="7984" y="3422"/>
                  <a:pt x="7978" y="3482"/>
                  <a:pt x="7965" y="3532"/>
                </a:cubicBezTo>
                <a:cubicBezTo>
                  <a:pt x="7959" y="3557"/>
                  <a:pt x="7956" y="3579"/>
                  <a:pt x="7956" y="3598"/>
                </a:cubicBezTo>
                <a:lnTo>
                  <a:pt x="8295" y="4523"/>
                </a:lnTo>
                <a:cubicBezTo>
                  <a:pt x="8302" y="4517"/>
                  <a:pt x="8311" y="4504"/>
                  <a:pt x="8324" y="4485"/>
                </a:cubicBezTo>
                <a:cubicBezTo>
                  <a:pt x="8343" y="4454"/>
                  <a:pt x="8374" y="4388"/>
                  <a:pt x="8418" y="4287"/>
                </a:cubicBezTo>
                <a:cubicBezTo>
                  <a:pt x="8469" y="4180"/>
                  <a:pt x="8552" y="4109"/>
                  <a:pt x="8668" y="4075"/>
                </a:cubicBezTo>
                <a:cubicBezTo>
                  <a:pt x="8785" y="4040"/>
                  <a:pt x="8896" y="4026"/>
                  <a:pt x="9003" y="4032"/>
                </a:cubicBezTo>
                <a:cubicBezTo>
                  <a:pt x="9073" y="4039"/>
                  <a:pt x="9142" y="4042"/>
                  <a:pt x="9211" y="4042"/>
                </a:cubicBezTo>
                <a:lnTo>
                  <a:pt x="9419" y="4042"/>
                </a:lnTo>
                <a:lnTo>
                  <a:pt x="9645" y="4042"/>
                </a:lnTo>
                <a:lnTo>
                  <a:pt x="9645" y="4759"/>
                </a:lnTo>
                <a:cubicBezTo>
                  <a:pt x="9607" y="4765"/>
                  <a:pt x="9570" y="4769"/>
                  <a:pt x="9532" y="4769"/>
                </a:cubicBezTo>
                <a:lnTo>
                  <a:pt x="9286" y="4769"/>
                </a:lnTo>
                <a:cubicBezTo>
                  <a:pt x="9198" y="4762"/>
                  <a:pt x="9117" y="4786"/>
                  <a:pt x="9041" y="4839"/>
                </a:cubicBezTo>
                <a:cubicBezTo>
                  <a:pt x="8966" y="4893"/>
                  <a:pt x="8912" y="4944"/>
                  <a:pt x="8881" y="4995"/>
                </a:cubicBezTo>
                <a:cubicBezTo>
                  <a:pt x="8856" y="5045"/>
                  <a:pt x="8811" y="5143"/>
                  <a:pt x="8749" y="5288"/>
                </a:cubicBezTo>
                <a:cubicBezTo>
                  <a:pt x="8686" y="5432"/>
                  <a:pt x="8629" y="5580"/>
                  <a:pt x="8579" y="5731"/>
                </a:cubicBezTo>
                <a:cubicBezTo>
                  <a:pt x="8553" y="5807"/>
                  <a:pt x="8513" y="5857"/>
                  <a:pt x="8456" y="5882"/>
                </a:cubicBezTo>
                <a:cubicBezTo>
                  <a:pt x="8399" y="5907"/>
                  <a:pt x="8341" y="5919"/>
                  <a:pt x="8281" y="5915"/>
                </a:cubicBezTo>
                <a:cubicBezTo>
                  <a:pt x="8222" y="5912"/>
                  <a:pt x="8165" y="5895"/>
                  <a:pt x="8111" y="5863"/>
                </a:cubicBezTo>
                <a:cubicBezTo>
                  <a:pt x="8058" y="5832"/>
                  <a:pt x="8022" y="5794"/>
                  <a:pt x="8003" y="5750"/>
                </a:cubicBezTo>
                <a:cubicBezTo>
                  <a:pt x="7984" y="5706"/>
                  <a:pt x="7953" y="5629"/>
                  <a:pt x="7909" y="5519"/>
                </a:cubicBezTo>
                <a:cubicBezTo>
                  <a:pt x="7865" y="5409"/>
                  <a:pt x="7820" y="5297"/>
                  <a:pt x="7776" y="5184"/>
                </a:cubicBezTo>
                <a:cubicBezTo>
                  <a:pt x="7720" y="5052"/>
                  <a:pt x="7663" y="4910"/>
                  <a:pt x="7606" y="4759"/>
                </a:cubicBezTo>
                <a:cubicBezTo>
                  <a:pt x="7443" y="5281"/>
                  <a:pt x="7295" y="5763"/>
                  <a:pt x="7163" y="6203"/>
                </a:cubicBezTo>
                <a:cubicBezTo>
                  <a:pt x="7106" y="6392"/>
                  <a:pt x="7050" y="6577"/>
                  <a:pt x="6993" y="6760"/>
                </a:cubicBezTo>
                <a:cubicBezTo>
                  <a:pt x="6936" y="6942"/>
                  <a:pt x="6884" y="7111"/>
                  <a:pt x="6837" y="7265"/>
                </a:cubicBezTo>
                <a:cubicBezTo>
                  <a:pt x="6790" y="7419"/>
                  <a:pt x="6751" y="7550"/>
                  <a:pt x="6719" y="7656"/>
                </a:cubicBezTo>
                <a:cubicBezTo>
                  <a:pt x="6688" y="7763"/>
                  <a:pt x="6669" y="7836"/>
                  <a:pt x="6663" y="7874"/>
                </a:cubicBezTo>
                <a:cubicBezTo>
                  <a:pt x="6631" y="8024"/>
                  <a:pt x="6571" y="8144"/>
                  <a:pt x="6483" y="8232"/>
                </a:cubicBezTo>
                <a:cubicBezTo>
                  <a:pt x="6395" y="8320"/>
                  <a:pt x="6288" y="8361"/>
                  <a:pt x="6163" y="8355"/>
                </a:cubicBezTo>
                <a:cubicBezTo>
                  <a:pt x="6030" y="8342"/>
                  <a:pt x="5936" y="8286"/>
                  <a:pt x="5879" y="8185"/>
                </a:cubicBezTo>
                <a:cubicBezTo>
                  <a:pt x="5823" y="8084"/>
                  <a:pt x="5788" y="7968"/>
                  <a:pt x="5776" y="7836"/>
                </a:cubicBezTo>
                <a:cubicBezTo>
                  <a:pt x="5776" y="7804"/>
                  <a:pt x="5768" y="7707"/>
                  <a:pt x="5752" y="7543"/>
                </a:cubicBezTo>
                <a:cubicBezTo>
                  <a:pt x="5736" y="7380"/>
                  <a:pt x="5716" y="7172"/>
                  <a:pt x="5691" y="6921"/>
                </a:cubicBezTo>
                <a:cubicBezTo>
                  <a:pt x="5665" y="6668"/>
                  <a:pt x="5639" y="6389"/>
                  <a:pt x="5610" y="6081"/>
                </a:cubicBezTo>
                <a:cubicBezTo>
                  <a:pt x="5582" y="5772"/>
                  <a:pt x="5552" y="5457"/>
                  <a:pt x="5521" y="5137"/>
                </a:cubicBezTo>
                <a:cubicBezTo>
                  <a:pt x="5451" y="4388"/>
                  <a:pt x="5370" y="3551"/>
                  <a:pt x="5276" y="2626"/>
                </a:cubicBezTo>
                <a:cubicBezTo>
                  <a:pt x="5099" y="3142"/>
                  <a:pt x="4942" y="3605"/>
                  <a:pt x="4804" y="4013"/>
                </a:cubicBezTo>
                <a:cubicBezTo>
                  <a:pt x="4747" y="4190"/>
                  <a:pt x="4689" y="4363"/>
                  <a:pt x="4629" y="4533"/>
                </a:cubicBezTo>
                <a:cubicBezTo>
                  <a:pt x="4569" y="4703"/>
                  <a:pt x="4516" y="4857"/>
                  <a:pt x="4468" y="4995"/>
                </a:cubicBezTo>
                <a:cubicBezTo>
                  <a:pt x="4421" y="5133"/>
                  <a:pt x="4382" y="5250"/>
                  <a:pt x="4351" y="5344"/>
                </a:cubicBezTo>
                <a:lnTo>
                  <a:pt x="4294" y="5514"/>
                </a:lnTo>
                <a:cubicBezTo>
                  <a:pt x="4262" y="5596"/>
                  <a:pt x="4220" y="5671"/>
                  <a:pt x="4166" y="5741"/>
                </a:cubicBezTo>
                <a:cubicBezTo>
                  <a:pt x="4113" y="5810"/>
                  <a:pt x="4030" y="5841"/>
                  <a:pt x="3916" y="5835"/>
                </a:cubicBezTo>
                <a:cubicBezTo>
                  <a:pt x="3803" y="5835"/>
                  <a:pt x="3718" y="5796"/>
                  <a:pt x="3662" y="5717"/>
                </a:cubicBezTo>
                <a:cubicBezTo>
                  <a:pt x="3605" y="5639"/>
                  <a:pt x="3561" y="5549"/>
                  <a:pt x="3529" y="5448"/>
                </a:cubicBezTo>
                <a:cubicBezTo>
                  <a:pt x="3511" y="5398"/>
                  <a:pt x="3476" y="5300"/>
                  <a:pt x="3426" y="5155"/>
                </a:cubicBezTo>
                <a:cubicBezTo>
                  <a:pt x="3375" y="5011"/>
                  <a:pt x="3322" y="4863"/>
                  <a:pt x="3265" y="4712"/>
                </a:cubicBezTo>
                <a:cubicBezTo>
                  <a:pt x="3196" y="4536"/>
                  <a:pt x="3124" y="4341"/>
                  <a:pt x="3048" y="4127"/>
                </a:cubicBezTo>
                <a:cubicBezTo>
                  <a:pt x="3004" y="4183"/>
                  <a:pt x="2957" y="4240"/>
                  <a:pt x="2907" y="4297"/>
                </a:cubicBezTo>
                <a:cubicBezTo>
                  <a:pt x="2863" y="4347"/>
                  <a:pt x="2815" y="4402"/>
                  <a:pt x="2765" y="4462"/>
                </a:cubicBezTo>
                <a:cubicBezTo>
                  <a:pt x="2715" y="4521"/>
                  <a:pt x="2664" y="4580"/>
                  <a:pt x="2614" y="4636"/>
                </a:cubicBezTo>
                <a:cubicBezTo>
                  <a:pt x="2513" y="4756"/>
                  <a:pt x="2419" y="4838"/>
                  <a:pt x="2331" y="4882"/>
                </a:cubicBezTo>
                <a:cubicBezTo>
                  <a:pt x="2243" y="4926"/>
                  <a:pt x="2139" y="4941"/>
                  <a:pt x="2019" y="4929"/>
                </a:cubicBezTo>
                <a:cubicBezTo>
                  <a:pt x="1956" y="4923"/>
                  <a:pt x="1873" y="4921"/>
                  <a:pt x="1769" y="4924"/>
                </a:cubicBezTo>
                <a:cubicBezTo>
                  <a:pt x="1665" y="4927"/>
                  <a:pt x="1560" y="4929"/>
                  <a:pt x="1453" y="4929"/>
                </a:cubicBezTo>
                <a:cubicBezTo>
                  <a:pt x="1334" y="4935"/>
                  <a:pt x="1202" y="4938"/>
                  <a:pt x="1057" y="4938"/>
                </a:cubicBezTo>
                <a:lnTo>
                  <a:pt x="1057" y="4202"/>
                </a:lnTo>
                <a:close/>
                <a:moveTo>
                  <a:pt x="1057" y="4202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124B13A-681D-2D93-D55B-676526397177}"/>
              </a:ext>
            </a:extLst>
          </p:cNvPr>
          <p:cNvSpPr txBox="1"/>
          <p:nvPr/>
        </p:nvSpPr>
        <p:spPr>
          <a:xfrm>
            <a:off x="1355544" y="2859828"/>
            <a:ext cx="354492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0" dirty="0">
                <a:effectLst/>
                <a:latin typeface="Consolas" panose="020B0609020204030204" pitchFamily="49" charset="0"/>
              </a:rPr>
              <a:t>通过服务器虚拟化将物理服务器资源抽象为资源池，可以按需分配给不同的应用和服务，实现负载均衡和动态迁移。存储虚拟化则将异构的物理存储设备整合为统一的虚拟存储池，简化存储管理，实现动态配置和分层存储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37A57D8-8847-08E2-D725-D35E9D42BE14}"/>
              </a:ext>
            </a:extLst>
          </p:cNvPr>
          <p:cNvSpPr txBox="1"/>
          <p:nvPr/>
        </p:nvSpPr>
        <p:spPr>
          <a:xfrm>
            <a:off x="7157842" y="2643389"/>
            <a:ext cx="416401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0" dirty="0">
                <a:effectLst/>
                <a:latin typeface="+mn-ea"/>
              </a:rPr>
              <a:t>在共享的物理</a:t>
            </a:r>
            <a:r>
              <a:rPr lang="en-US" altLang="zh-CN" b="0" dirty="0">
                <a:effectLst/>
                <a:latin typeface="+mn-ea"/>
              </a:rPr>
              <a:t>SAN</a:t>
            </a:r>
            <a:r>
              <a:rPr lang="zh-CN" altLang="en-US" b="0" dirty="0">
                <a:effectLst/>
                <a:latin typeface="+mn-ea"/>
              </a:rPr>
              <a:t>基础设施上，可以创建多个逻辑上隔离的</a:t>
            </a:r>
            <a:r>
              <a:rPr lang="en-US" altLang="zh-CN" b="0" dirty="0">
                <a:effectLst/>
                <a:latin typeface="+mn-ea"/>
              </a:rPr>
              <a:t>VSAN</a:t>
            </a:r>
            <a:r>
              <a:rPr lang="zh-CN" altLang="en-US" b="0" dirty="0">
                <a:effectLst/>
                <a:latin typeface="+mn-ea"/>
              </a:rPr>
              <a:t>。每个</a:t>
            </a:r>
            <a:r>
              <a:rPr lang="en-US" altLang="zh-CN" b="0" dirty="0">
                <a:effectLst/>
                <a:latin typeface="+mn-ea"/>
              </a:rPr>
              <a:t>VSAN</a:t>
            </a:r>
            <a:r>
              <a:rPr lang="zh-CN" altLang="en-US" b="0" dirty="0">
                <a:effectLst/>
                <a:latin typeface="+mn-ea"/>
              </a:rPr>
              <a:t>可以服务于特定的业务或应用（例如，一个</a:t>
            </a:r>
            <a:r>
              <a:rPr lang="en-US" altLang="zh-CN" b="0" dirty="0">
                <a:effectLst/>
                <a:latin typeface="+mn-ea"/>
              </a:rPr>
              <a:t>VSAN</a:t>
            </a:r>
            <a:r>
              <a:rPr lang="zh-CN" altLang="en-US" b="0" dirty="0">
                <a:effectLst/>
                <a:latin typeface="+mn-ea"/>
              </a:rPr>
              <a:t>专门用于处理支付相关的数据库，另一个用于商品图片存储的后端），从而实现更精细化的资源分配、安全隔离和故障域划分，提升了系统的整体可管理性和可靠性。这对于业务复杂多样的淘宝平台尤为重要。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F05F04D-907C-545F-6957-675AD032FAF8}"/>
              </a:ext>
            </a:extLst>
          </p:cNvPr>
          <p:cNvSpPr txBox="1"/>
          <p:nvPr/>
        </p:nvSpPr>
        <p:spPr>
          <a:xfrm>
            <a:off x="1124702" y="673414"/>
            <a:ext cx="223651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800"/>
              </a:lnSpc>
            </a:pPr>
            <a:r>
              <a:rPr lang="zh-CN" altLang="en-US" sz="20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虚拟化技术的应用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53A26FD-5354-70D9-DF37-A560C8ED3F06}"/>
              </a:ext>
            </a:extLst>
          </p:cNvPr>
          <p:cNvSpPr txBox="1"/>
          <p:nvPr/>
        </p:nvSpPr>
        <p:spPr>
          <a:xfrm>
            <a:off x="1833785" y="2383070"/>
            <a:ext cx="2613928" cy="326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zh-CN" altLang="en-US" b="1" dirty="0">
                <a:effectLst/>
                <a:latin typeface="Consolas" panose="020B0609020204030204" pitchFamily="49" charset="0"/>
              </a:rPr>
              <a:t>服务器与存储资源池化</a:t>
            </a:r>
            <a:endParaRPr lang="zh-CN" altLang="en-US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114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81BA9-D5BC-A4C2-CEAE-D8954648B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8003A82-C78A-278E-2457-C88498D9183E}"/>
              </a:ext>
            </a:extLst>
          </p:cNvPr>
          <p:cNvSpPr txBox="1"/>
          <p:nvPr/>
        </p:nvSpPr>
        <p:spPr>
          <a:xfrm>
            <a:off x="587375" y="621626"/>
            <a:ext cx="53732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Tw Cen MT Condensed Extra Bold" panose="020B0803020202020204" pitchFamily="34" charset="0"/>
                <a:ea typeface="等线" panose="02010600030101010101" pitchFamily="2" charset="-122"/>
              </a:rPr>
              <a:t>4.3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Condensed Extra Bold" panose="020B08030202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4191DF0-07FA-B637-10E5-BB27766451BB}"/>
              </a:ext>
            </a:extLst>
          </p:cNvPr>
          <p:cNvSpPr/>
          <p:nvPr/>
        </p:nvSpPr>
        <p:spPr>
          <a:xfrm>
            <a:off x="10945503" y="441325"/>
            <a:ext cx="659122" cy="659122"/>
          </a:xfrm>
          <a:prstGeom prst="rect">
            <a:avLst/>
          </a:prstGeom>
          <a:blipFill dpi="0" rotWithShape="1">
            <a:blip r:embed="rId2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E96F85D-95F5-7316-9A19-AD90EB216C07}"/>
              </a:ext>
            </a:extLst>
          </p:cNvPr>
          <p:cNvCxnSpPr/>
          <p:nvPr/>
        </p:nvCxnSpPr>
        <p:spPr>
          <a:xfrm>
            <a:off x="648833" y="490652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6E3F7755-DF96-537C-BCE1-04B7D27B4576}"/>
              </a:ext>
            </a:extLst>
          </p:cNvPr>
          <p:cNvSpPr txBox="1"/>
          <p:nvPr/>
        </p:nvSpPr>
        <p:spPr>
          <a:xfrm>
            <a:off x="542925" y="5786978"/>
            <a:ext cx="1321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CASE STUDY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RESEARCH.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DE8BBAB4-699E-07E0-1C2B-7A9045FEC4FB}"/>
              </a:ext>
            </a:extLst>
          </p:cNvPr>
          <p:cNvCxnSpPr/>
          <p:nvPr/>
        </p:nvCxnSpPr>
        <p:spPr>
          <a:xfrm>
            <a:off x="648833" y="6391831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262F5396-3380-E48E-C57B-C3DAE9499686}"/>
              </a:ext>
            </a:extLst>
          </p:cNvPr>
          <p:cNvSpPr txBox="1"/>
          <p:nvPr/>
        </p:nvSpPr>
        <p:spPr>
          <a:xfrm>
            <a:off x="1124702" y="675486"/>
            <a:ext cx="509306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800"/>
              </a:lnSpc>
            </a:pPr>
            <a:r>
              <a:rPr lang="zh-CN" altLang="en-US" sz="20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虚拟化技术的应用 </a:t>
            </a:r>
            <a:r>
              <a:rPr lang="en-US" altLang="zh-CN" sz="20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—— VSAN</a:t>
            </a:r>
            <a:r>
              <a:rPr lang="zh-CN" altLang="en-US" sz="20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架构设计实例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88A26E6-3721-E1CC-1CE2-369C31D6DA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304" y="1295693"/>
            <a:ext cx="9159392" cy="4555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7127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C4603-BB7F-349C-F2A1-86F8FF46A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F3B106C-B1DC-B0A3-5684-28D1790C77B4}"/>
              </a:ext>
            </a:extLst>
          </p:cNvPr>
          <p:cNvSpPr txBox="1"/>
          <p:nvPr/>
        </p:nvSpPr>
        <p:spPr>
          <a:xfrm>
            <a:off x="587375" y="621626"/>
            <a:ext cx="53732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200" b="1" dirty="0">
                <a:solidFill>
                  <a:prstClr val="black"/>
                </a:solidFill>
                <a:latin typeface="Tw Cen MT Condensed Extra Bold" panose="020B0803020202020204" pitchFamily="34" charset="0"/>
                <a:ea typeface="等线" panose="02010600030101010101" pitchFamily="2" charset="-122"/>
              </a:rPr>
              <a:t>4.3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Condensed Extra Bold" panose="020B08030202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470702-4F01-2AAF-2F87-C14CA1010115}"/>
              </a:ext>
            </a:extLst>
          </p:cNvPr>
          <p:cNvSpPr/>
          <p:nvPr/>
        </p:nvSpPr>
        <p:spPr>
          <a:xfrm>
            <a:off x="10945503" y="441325"/>
            <a:ext cx="659122" cy="659122"/>
          </a:xfrm>
          <a:prstGeom prst="rect">
            <a:avLst/>
          </a:prstGeom>
          <a:blipFill dpi="0" rotWithShape="1">
            <a:blip r:embed="rId3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92584CC-8537-8193-4B19-E5FAB8BB44F5}"/>
              </a:ext>
            </a:extLst>
          </p:cNvPr>
          <p:cNvCxnSpPr/>
          <p:nvPr/>
        </p:nvCxnSpPr>
        <p:spPr>
          <a:xfrm>
            <a:off x="648833" y="490652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13980FB0-DC35-1688-2C9D-1E48FD802D2A}"/>
              </a:ext>
            </a:extLst>
          </p:cNvPr>
          <p:cNvSpPr txBox="1"/>
          <p:nvPr/>
        </p:nvSpPr>
        <p:spPr>
          <a:xfrm>
            <a:off x="542925" y="5786978"/>
            <a:ext cx="1321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CASE STUDY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RESEARCH.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F8E2E9DA-D65D-97A9-5636-2187995DFAB6}"/>
              </a:ext>
            </a:extLst>
          </p:cNvPr>
          <p:cNvCxnSpPr/>
          <p:nvPr/>
        </p:nvCxnSpPr>
        <p:spPr>
          <a:xfrm>
            <a:off x="648833" y="6391831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E0A3763B-EBC9-4167-BB3E-5AC621051BC4}"/>
              </a:ext>
            </a:extLst>
          </p:cNvPr>
          <p:cNvSpPr txBox="1"/>
          <p:nvPr/>
        </p:nvSpPr>
        <p:spPr>
          <a:xfrm>
            <a:off x="1124702" y="675486"/>
            <a:ext cx="54809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800"/>
              </a:lnSpc>
            </a:pPr>
            <a:r>
              <a:rPr lang="zh-CN" altLang="en-US" sz="20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虚拟化技术的应用 </a:t>
            </a:r>
            <a:r>
              <a:rPr lang="en-US" altLang="zh-CN" sz="20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—— </a:t>
            </a:r>
            <a:r>
              <a:rPr lang="zh-CN" altLang="en-US" sz="20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淘宝某时期架构参考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0C5314-B6BE-AA2A-CD90-C0C4AD86DB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579" y="1100447"/>
            <a:ext cx="6417979" cy="5168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6232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F39F9-DCB7-F899-A8A6-DFB2553C0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3">
            <a:extLst>
              <a:ext uri="{FF2B5EF4-FFF2-40B4-BE49-F238E27FC236}">
                <a16:creationId xmlns:a16="http://schemas.microsoft.com/office/drawing/2014/main" id="{C69BF970-6B09-C837-1936-712A8D87FEE9}"/>
              </a:ext>
            </a:extLst>
          </p:cNvPr>
          <p:cNvSpPr/>
          <p:nvPr/>
        </p:nvSpPr>
        <p:spPr>
          <a:xfrm>
            <a:off x="9782917" y="2371724"/>
            <a:ext cx="1953935" cy="2114550"/>
          </a:xfrm>
          <a:prstGeom prst="parallelogram">
            <a:avLst>
              <a:gd name="adj" fmla="val 14746"/>
            </a:avLst>
          </a:prstGeom>
          <a:solidFill>
            <a:srgbClr val="0B88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3" name="平行四边形 22">
            <a:extLst>
              <a:ext uri="{FF2B5EF4-FFF2-40B4-BE49-F238E27FC236}">
                <a16:creationId xmlns:a16="http://schemas.microsoft.com/office/drawing/2014/main" id="{0BE35EE5-BC39-CAAB-35E4-08F583CF01D0}"/>
              </a:ext>
            </a:extLst>
          </p:cNvPr>
          <p:cNvSpPr/>
          <p:nvPr/>
        </p:nvSpPr>
        <p:spPr>
          <a:xfrm>
            <a:off x="525701" y="2371724"/>
            <a:ext cx="1953935" cy="2132431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4" name="平行四边形 23">
            <a:extLst>
              <a:ext uri="{FF2B5EF4-FFF2-40B4-BE49-F238E27FC236}">
                <a16:creationId xmlns:a16="http://schemas.microsoft.com/office/drawing/2014/main" id="{5A2ADDB8-8E94-48B6-557B-651A029A8BD9}"/>
              </a:ext>
            </a:extLst>
          </p:cNvPr>
          <p:cNvSpPr/>
          <p:nvPr/>
        </p:nvSpPr>
        <p:spPr>
          <a:xfrm>
            <a:off x="2852175" y="2389605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5" name="平行四边形 24">
            <a:extLst>
              <a:ext uri="{FF2B5EF4-FFF2-40B4-BE49-F238E27FC236}">
                <a16:creationId xmlns:a16="http://schemas.microsoft.com/office/drawing/2014/main" id="{A7C4BFDA-87EB-FF38-BECE-85A3872F2397}"/>
              </a:ext>
            </a:extLst>
          </p:cNvPr>
          <p:cNvSpPr/>
          <p:nvPr/>
        </p:nvSpPr>
        <p:spPr>
          <a:xfrm>
            <a:off x="5178649" y="2371724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6" name="平行四边形 25">
            <a:extLst>
              <a:ext uri="{FF2B5EF4-FFF2-40B4-BE49-F238E27FC236}">
                <a16:creationId xmlns:a16="http://schemas.microsoft.com/office/drawing/2014/main" id="{2C6D2B5C-AE55-AFEE-51FD-1F7F2385BB5B}"/>
              </a:ext>
            </a:extLst>
          </p:cNvPr>
          <p:cNvSpPr/>
          <p:nvPr/>
        </p:nvSpPr>
        <p:spPr>
          <a:xfrm>
            <a:off x="7480783" y="2371724"/>
            <a:ext cx="1953935" cy="2114550"/>
          </a:xfrm>
          <a:prstGeom prst="parallelogram">
            <a:avLst>
              <a:gd name="adj" fmla="val 14746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3467A76-559F-C57A-E6D2-461E29E7492F}"/>
              </a:ext>
            </a:extLst>
          </p:cNvPr>
          <p:cNvSpPr txBox="1"/>
          <p:nvPr/>
        </p:nvSpPr>
        <p:spPr>
          <a:xfrm>
            <a:off x="1301081" y="2486686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anose="02010600030101010101" pitchFamily="2" charset="-122"/>
                <a:cs typeface="+mn-cs"/>
              </a:rPr>
              <a:t>01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74B9031-3167-B5B8-FAB3-19417EAF2715}"/>
              </a:ext>
            </a:extLst>
          </p:cNvPr>
          <p:cNvSpPr txBox="1"/>
          <p:nvPr/>
        </p:nvSpPr>
        <p:spPr>
          <a:xfrm>
            <a:off x="742685" y="3254908"/>
            <a:ext cx="15199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i="1" spc="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存储需求分析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B0C75B0-2F8F-4FE5-C2F9-17CCC0F4B41D}"/>
              </a:ext>
            </a:extLst>
          </p:cNvPr>
          <p:cNvSpPr txBox="1"/>
          <p:nvPr/>
        </p:nvSpPr>
        <p:spPr>
          <a:xfrm>
            <a:off x="3590188" y="2486685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anose="02010600030101010101" pitchFamily="2" charset="-122"/>
                <a:cs typeface="+mn-cs"/>
              </a:rPr>
              <a:t>02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97D3B8F-0F3B-A66C-A01F-691668095293}"/>
              </a:ext>
            </a:extLst>
          </p:cNvPr>
          <p:cNvSpPr txBox="1"/>
          <p:nvPr/>
        </p:nvSpPr>
        <p:spPr>
          <a:xfrm>
            <a:off x="3014210" y="3249519"/>
            <a:ext cx="15199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i="1" spc="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存储媒介选择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945005A-9385-FE93-CFEB-7BAA82F18971}"/>
              </a:ext>
            </a:extLst>
          </p:cNvPr>
          <p:cNvSpPr txBox="1"/>
          <p:nvPr/>
        </p:nvSpPr>
        <p:spPr>
          <a:xfrm>
            <a:off x="5908537" y="2486685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anose="02010600030101010101" pitchFamily="2" charset="-122"/>
                <a:cs typeface="+mn-cs"/>
              </a:rPr>
              <a:t>03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68C9212-296A-E9E7-C1B1-E0B0DE089818}"/>
              </a:ext>
            </a:extLst>
          </p:cNvPr>
          <p:cNvSpPr txBox="1"/>
          <p:nvPr/>
        </p:nvSpPr>
        <p:spPr>
          <a:xfrm>
            <a:off x="5327910" y="3260736"/>
            <a:ext cx="15199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i="1" spc="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RAID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i="1" spc="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级别选择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4470BE0-A2A0-CE75-6B17-E55E44DF0723}"/>
              </a:ext>
            </a:extLst>
          </p:cNvPr>
          <p:cNvSpPr txBox="1"/>
          <p:nvPr/>
        </p:nvSpPr>
        <p:spPr>
          <a:xfrm>
            <a:off x="8161363" y="2486685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anose="02010600030101010101" pitchFamily="2" charset="-122"/>
                <a:cs typeface="+mn-cs"/>
              </a:rPr>
              <a:t>04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251A9EB-CF7F-677D-969B-306AC6A2ADC9}"/>
              </a:ext>
            </a:extLst>
          </p:cNvPr>
          <p:cNvSpPr txBox="1"/>
          <p:nvPr/>
        </p:nvSpPr>
        <p:spPr>
          <a:xfrm>
            <a:off x="10468141" y="2513689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anose="02010600030101010101" pitchFamily="2" charset="-122"/>
                <a:cs typeface="+mn-cs"/>
              </a:rPr>
              <a:t>05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 Condensed Extra Bold" panose="020B08030202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AC967D5-6832-9FBC-8615-6C6C17CA679D}"/>
              </a:ext>
            </a:extLst>
          </p:cNvPr>
          <p:cNvSpPr txBox="1"/>
          <p:nvPr/>
        </p:nvSpPr>
        <p:spPr>
          <a:xfrm>
            <a:off x="10852496" y="5811559"/>
            <a:ext cx="7521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1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目录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09722C08-D892-C4E9-BBE0-F29EF305292F}"/>
              </a:ext>
            </a:extLst>
          </p:cNvPr>
          <p:cNvSpPr txBox="1"/>
          <p:nvPr/>
        </p:nvSpPr>
        <p:spPr>
          <a:xfrm>
            <a:off x="9626198" y="6088558"/>
            <a:ext cx="19784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anose="02010600030101010101" pitchFamily="2" charset="-122"/>
                <a:cs typeface="+mn-cs"/>
              </a:rPr>
              <a:t>CONTENTS</a:t>
            </a:r>
            <a:endParaRPr kumimoji="0" lang="zh-CN" altLang="en-US" sz="36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Tw Cen MT Condensed Extra Bold" panose="020B08030202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153D9227-9BA3-ECB8-C030-4F57D6DBED85}"/>
              </a:ext>
            </a:extLst>
          </p:cNvPr>
          <p:cNvSpPr txBox="1"/>
          <p:nvPr/>
        </p:nvSpPr>
        <p:spPr>
          <a:xfrm>
            <a:off x="600716" y="652403"/>
            <a:ext cx="1217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碳纤维正中黑简体" panose="02010601030101010101" pitchFamily="2" charset="-122"/>
                <a:ea typeface="碳纤维正中黑简体" panose="02010601030101010101" pitchFamily="2" charset="-122"/>
                <a:cs typeface="+mn-cs"/>
              </a:rPr>
              <a:t>整体框架</a:t>
            </a: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87F25206-62E9-B791-BB08-2AAA927FD1B6}"/>
              </a:ext>
            </a:extLst>
          </p:cNvPr>
          <p:cNvCxnSpPr/>
          <p:nvPr/>
        </p:nvCxnSpPr>
        <p:spPr>
          <a:xfrm>
            <a:off x="648833" y="490652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8602C555-7889-49D9-5847-338D12D1AECC}"/>
              </a:ext>
            </a:extLst>
          </p:cNvPr>
          <p:cNvSpPr txBox="1"/>
          <p:nvPr/>
        </p:nvSpPr>
        <p:spPr>
          <a:xfrm>
            <a:off x="542925" y="5786978"/>
            <a:ext cx="1321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CASE STUDY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RESEARCH.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A3EB4387-F547-5F64-E807-D6039C04B1CA}"/>
              </a:ext>
            </a:extLst>
          </p:cNvPr>
          <p:cNvCxnSpPr/>
          <p:nvPr/>
        </p:nvCxnSpPr>
        <p:spPr>
          <a:xfrm>
            <a:off x="648833" y="6391831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47638577-8C2E-B43E-8FC7-7C10832B7975}"/>
              </a:ext>
            </a:extLst>
          </p:cNvPr>
          <p:cNvSpPr/>
          <p:nvPr/>
        </p:nvSpPr>
        <p:spPr>
          <a:xfrm>
            <a:off x="10945503" y="441325"/>
            <a:ext cx="659122" cy="659122"/>
          </a:xfrm>
          <a:prstGeom prst="rect">
            <a:avLst/>
          </a:prstGeom>
          <a:blipFill dpi="0" rotWithShape="1">
            <a:blip r:embed="rId2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9FBC744-FA85-8EA9-9222-EF93CA16A8C0}"/>
              </a:ext>
            </a:extLst>
          </p:cNvPr>
          <p:cNvSpPr txBox="1"/>
          <p:nvPr/>
        </p:nvSpPr>
        <p:spPr>
          <a:xfrm>
            <a:off x="7657822" y="3260736"/>
            <a:ext cx="15199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i="1" spc="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网络存储架构设计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55BB743-942F-4988-EA01-C76EC691485D}"/>
              </a:ext>
            </a:extLst>
          </p:cNvPr>
          <p:cNvSpPr txBox="1"/>
          <p:nvPr/>
        </p:nvSpPr>
        <p:spPr>
          <a:xfrm>
            <a:off x="9929347" y="3249519"/>
            <a:ext cx="15199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i="1" spc="2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备份策略设计</a:t>
            </a:r>
          </a:p>
        </p:txBody>
      </p:sp>
    </p:spTree>
    <p:extLst>
      <p:ext uri="{BB962C8B-B14F-4D97-AF65-F5344CB8AC3E}">
        <p14:creationId xmlns:p14="http://schemas.microsoft.com/office/powerpoint/2010/main" val="34311865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16B60-4400-D2D3-C100-74AB6BBBA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F1BB8D6-A92C-B129-C344-B9198C5EED7C}"/>
              </a:ext>
            </a:extLst>
          </p:cNvPr>
          <p:cNvSpPr txBox="1"/>
          <p:nvPr/>
        </p:nvSpPr>
        <p:spPr>
          <a:xfrm>
            <a:off x="587375" y="621626"/>
            <a:ext cx="53732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anose="02010600030101010101" pitchFamily="2" charset="-122"/>
                <a:cs typeface="+mn-cs"/>
              </a:rPr>
              <a:t>5.1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Condensed Extra Bold" panose="020B08030202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755613A-F944-CAAE-83EC-4481458ADC80}"/>
              </a:ext>
            </a:extLst>
          </p:cNvPr>
          <p:cNvSpPr/>
          <p:nvPr/>
        </p:nvSpPr>
        <p:spPr>
          <a:xfrm>
            <a:off x="10945503" y="441325"/>
            <a:ext cx="659122" cy="659122"/>
          </a:xfrm>
          <a:prstGeom prst="rect">
            <a:avLst/>
          </a:prstGeom>
          <a:blipFill dpi="0" rotWithShape="1">
            <a:blip r:embed="rId2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ACDB76C1-DA38-E1BA-D01E-9D507068C49E}"/>
              </a:ext>
            </a:extLst>
          </p:cNvPr>
          <p:cNvCxnSpPr/>
          <p:nvPr/>
        </p:nvCxnSpPr>
        <p:spPr>
          <a:xfrm>
            <a:off x="648833" y="490652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670C5D3A-9520-511C-DE67-6B09892DA418}"/>
              </a:ext>
            </a:extLst>
          </p:cNvPr>
          <p:cNvSpPr txBox="1"/>
          <p:nvPr/>
        </p:nvSpPr>
        <p:spPr>
          <a:xfrm>
            <a:off x="542925" y="5786978"/>
            <a:ext cx="1321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CASE STUDY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RESEARCH.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52AD111-B2B8-4FE2-D21E-1837A1A62A90}"/>
              </a:ext>
            </a:extLst>
          </p:cNvPr>
          <p:cNvCxnSpPr/>
          <p:nvPr/>
        </p:nvCxnSpPr>
        <p:spPr>
          <a:xfrm>
            <a:off x="648833" y="6391831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D6EB1803-8362-0ACD-7281-F113DC0437EB}"/>
              </a:ext>
            </a:extLst>
          </p:cNvPr>
          <p:cNvSpPr txBox="1"/>
          <p:nvPr/>
        </p:nvSpPr>
        <p:spPr>
          <a:xfrm>
            <a:off x="856038" y="1200657"/>
            <a:ext cx="776339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zh-CN" altLang="en-US" sz="1600" b="0" dirty="0">
                <a:effectLst/>
                <a:latin typeface="+mn-ea"/>
              </a:rPr>
              <a:t>单一的备份方式难以兼顾</a:t>
            </a:r>
            <a:r>
              <a:rPr lang="en-US" altLang="zh-CN" sz="1600" b="0" dirty="0">
                <a:effectLst/>
                <a:latin typeface="+mn-ea"/>
              </a:rPr>
              <a:t>RTO</a:t>
            </a:r>
            <a:r>
              <a:rPr lang="zh-CN" altLang="en-US" sz="1600" b="0" dirty="0">
                <a:effectLst/>
                <a:latin typeface="+mn-ea"/>
              </a:rPr>
              <a:t>（恢复时间目标）和</a:t>
            </a:r>
            <a:r>
              <a:rPr lang="en-US" altLang="zh-CN" sz="1600" b="0" dirty="0">
                <a:effectLst/>
                <a:latin typeface="+mn-ea"/>
              </a:rPr>
              <a:t>RPO</a:t>
            </a:r>
            <a:r>
              <a:rPr lang="zh-CN" altLang="en-US" sz="1600" b="0" dirty="0">
                <a:effectLst/>
                <a:latin typeface="+mn-ea"/>
              </a:rPr>
              <a:t>（恢复点目标）以及存储成本。</a:t>
            </a:r>
          </a:p>
        </p:txBody>
      </p:sp>
      <p:sp>
        <p:nvSpPr>
          <p:cNvPr id="23" name="iconfont-10585-5147501">
            <a:extLst>
              <a:ext uri="{FF2B5EF4-FFF2-40B4-BE49-F238E27FC236}">
                <a16:creationId xmlns:a16="http://schemas.microsoft.com/office/drawing/2014/main" id="{4AFBA423-A1DE-4B6B-67BC-44470A3EE916}"/>
              </a:ext>
            </a:extLst>
          </p:cNvPr>
          <p:cNvSpPr>
            <a:spLocks noChangeAspect="1"/>
          </p:cNvSpPr>
          <p:nvPr/>
        </p:nvSpPr>
        <p:spPr bwMode="auto">
          <a:xfrm>
            <a:off x="931862" y="1959632"/>
            <a:ext cx="331155" cy="250605"/>
          </a:xfrm>
          <a:custGeom>
            <a:avLst/>
            <a:gdLst>
              <a:gd name="T0" fmla="*/ 8851 w 12288"/>
              <a:gd name="T1" fmla="*/ 2190 h 9507"/>
              <a:gd name="T2" fmla="*/ 5095 w 12288"/>
              <a:gd name="T3" fmla="*/ 299 h 9507"/>
              <a:gd name="T4" fmla="*/ 2323 w 12288"/>
              <a:gd name="T5" fmla="*/ 3463 h 9507"/>
              <a:gd name="T6" fmla="*/ 0 w 12288"/>
              <a:gd name="T7" fmla="*/ 6419 h 9507"/>
              <a:gd name="T8" fmla="*/ 3072 w 12288"/>
              <a:gd name="T9" fmla="*/ 9507 h 9507"/>
              <a:gd name="T10" fmla="*/ 8832 w 12288"/>
              <a:gd name="T11" fmla="*/ 9507 h 9507"/>
              <a:gd name="T12" fmla="*/ 12288 w 12288"/>
              <a:gd name="T13" fmla="*/ 5839 h 9507"/>
              <a:gd name="T14" fmla="*/ 8851 w 12288"/>
              <a:gd name="T15" fmla="*/ 2190 h 9507"/>
              <a:gd name="T16" fmla="*/ 7857 w 12288"/>
              <a:gd name="T17" fmla="*/ 5994 h 9507"/>
              <a:gd name="T18" fmla="*/ 7455 w 12288"/>
              <a:gd name="T19" fmla="*/ 5994 h 9507"/>
              <a:gd name="T20" fmla="*/ 7253 w 12288"/>
              <a:gd name="T21" fmla="*/ 6186 h 9507"/>
              <a:gd name="T22" fmla="*/ 7248 w 12288"/>
              <a:gd name="T23" fmla="*/ 8151 h 9507"/>
              <a:gd name="T24" fmla="*/ 6845 w 12288"/>
              <a:gd name="T25" fmla="*/ 8535 h 9507"/>
              <a:gd name="T26" fmla="*/ 5441 w 12288"/>
              <a:gd name="T27" fmla="*/ 8535 h 9507"/>
              <a:gd name="T28" fmla="*/ 5039 w 12288"/>
              <a:gd name="T29" fmla="*/ 8151 h 9507"/>
              <a:gd name="T30" fmla="*/ 5034 w 12288"/>
              <a:gd name="T31" fmla="*/ 6186 h 9507"/>
              <a:gd name="T32" fmla="*/ 4832 w 12288"/>
              <a:gd name="T33" fmla="*/ 5994 h 9507"/>
              <a:gd name="T34" fmla="*/ 4429 w 12288"/>
              <a:gd name="T35" fmla="*/ 5994 h 9507"/>
              <a:gd name="T36" fmla="*/ 4026 w 12288"/>
              <a:gd name="T37" fmla="*/ 5610 h 9507"/>
              <a:gd name="T38" fmla="*/ 4104 w 12288"/>
              <a:gd name="T39" fmla="*/ 5380 h 9507"/>
              <a:gd name="T40" fmla="*/ 5784 w 12288"/>
              <a:gd name="T41" fmla="*/ 3442 h 9507"/>
              <a:gd name="T42" fmla="*/ 6499 w 12288"/>
              <a:gd name="T43" fmla="*/ 3442 h 9507"/>
              <a:gd name="T44" fmla="*/ 8180 w 12288"/>
              <a:gd name="T45" fmla="*/ 5380 h 9507"/>
              <a:gd name="T46" fmla="*/ 8259 w 12288"/>
              <a:gd name="T47" fmla="*/ 5610 h 9507"/>
              <a:gd name="T48" fmla="*/ 7857 w 12288"/>
              <a:gd name="T49" fmla="*/ 5994 h 95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2288" h="9507">
                <a:moveTo>
                  <a:pt x="8851" y="2190"/>
                </a:moveTo>
                <a:cubicBezTo>
                  <a:pt x="8176" y="777"/>
                  <a:pt x="6631" y="0"/>
                  <a:pt x="5095" y="299"/>
                </a:cubicBezTo>
                <a:cubicBezTo>
                  <a:pt x="3558" y="599"/>
                  <a:pt x="2418" y="1900"/>
                  <a:pt x="2323" y="3463"/>
                </a:cubicBezTo>
                <a:cubicBezTo>
                  <a:pt x="979" y="3847"/>
                  <a:pt x="0" y="5028"/>
                  <a:pt x="0" y="6419"/>
                </a:cubicBezTo>
                <a:cubicBezTo>
                  <a:pt x="0" y="8061"/>
                  <a:pt x="1363" y="9410"/>
                  <a:pt x="3072" y="9507"/>
                </a:cubicBezTo>
                <a:lnTo>
                  <a:pt x="8832" y="9507"/>
                </a:lnTo>
                <a:cubicBezTo>
                  <a:pt x="10732" y="9507"/>
                  <a:pt x="12288" y="7865"/>
                  <a:pt x="12288" y="5839"/>
                </a:cubicBezTo>
                <a:cubicBezTo>
                  <a:pt x="12287" y="3889"/>
                  <a:pt x="10770" y="2288"/>
                  <a:pt x="8851" y="2190"/>
                </a:cubicBezTo>
                <a:close/>
                <a:moveTo>
                  <a:pt x="7857" y="5994"/>
                </a:moveTo>
                <a:lnTo>
                  <a:pt x="7455" y="5994"/>
                </a:lnTo>
                <a:cubicBezTo>
                  <a:pt x="7347" y="5992"/>
                  <a:pt x="7257" y="6077"/>
                  <a:pt x="7253" y="6186"/>
                </a:cubicBezTo>
                <a:lnTo>
                  <a:pt x="7248" y="8151"/>
                </a:lnTo>
                <a:cubicBezTo>
                  <a:pt x="7243" y="8368"/>
                  <a:pt x="7062" y="8541"/>
                  <a:pt x="6845" y="8535"/>
                </a:cubicBezTo>
                <a:lnTo>
                  <a:pt x="5441" y="8535"/>
                </a:lnTo>
                <a:cubicBezTo>
                  <a:pt x="5223" y="8541"/>
                  <a:pt x="5043" y="8368"/>
                  <a:pt x="5039" y="8151"/>
                </a:cubicBezTo>
                <a:lnTo>
                  <a:pt x="5034" y="6186"/>
                </a:lnTo>
                <a:cubicBezTo>
                  <a:pt x="5031" y="6077"/>
                  <a:pt x="4940" y="5991"/>
                  <a:pt x="4832" y="5994"/>
                </a:cubicBezTo>
                <a:lnTo>
                  <a:pt x="4429" y="5994"/>
                </a:lnTo>
                <a:cubicBezTo>
                  <a:pt x="4212" y="5998"/>
                  <a:pt x="4032" y="5827"/>
                  <a:pt x="4026" y="5610"/>
                </a:cubicBezTo>
                <a:cubicBezTo>
                  <a:pt x="4025" y="5527"/>
                  <a:pt x="4053" y="5446"/>
                  <a:pt x="4104" y="5380"/>
                </a:cubicBezTo>
                <a:lnTo>
                  <a:pt x="5784" y="3442"/>
                </a:lnTo>
                <a:cubicBezTo>
                  <a:pt x="5986" y="3254"/>
                  <a:pt x="6298" y="3254"/>
                  <a:pt x="6499" y="3442"/>
                </a:cubicBezTo>
                <a:lnTo>
                  <a:pt x="8180" y="5380"/>
                </a:lnTo>
                <a:cubicBezTo>
                  <a:pt x="8231" y="5446"/>
                  <a:pt x="8259" y="5526"/>
                  <a:pt x="8259" y="5610"/>
                </a:cubicBezTo>
                <a:cubicBezTo>
                  <a:pt x="8254" y="5827"/>
                  <a:pt x="8074" y="5999"/>
                  <a:pt x="7857" y="599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CCB4A5A-A2F6-4EA9-E226-A31F9F52C563}"/>
              </a:ext>
            </a:extLst>
          </p:cNvPr>
          <p:cNvSpPr txBox="1"/>
          <p:nvPr/>
        </p:nvSpPr>
        <p:spPr>
          <a:xfrm>
            <a:off x="1124702" y="621626"/>
            <a:ext cx="37978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完整备份与差异备份结合的优化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92EF4902-5FBA-B8C7-FBB3-8473A346AC48}"/>
              </a:ext>
            </a:extLst>
          </p:cNvPr>
          <p:cNvGrpSpPr/>
          <p:nvPr/>
        </p:nvGrpSpPr>
        <p:grpSpPr>
          <a:xfrm>
            <a:off x="1097439" y="2210237"/>
            <a:ext cx="8011970" cy="670765"/>
            <a:chOff x="5638173" y="1367132"/>
            <a:chExt cx="7836647" cy="670765"/>
          </a:xfrm>
        </p:grpSpPr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EB56AA23-0D3D-BB9C-4716-1E19E48773CC}"/>
                </a:ext>
              </a:extLst>
            </p:cNvPr>
            <p:cNvSpPr txBox="1"/>
            <p:nvPr/>
          </p:nvSpPr>
          <p:spPr>
            <a:xfrm>
              <a:off x="6959235" y="1367132"/>
              <a:ext cx="30908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69ECC1DF-5BC1-40C7-885B-6D1A2E941202}"/>
                </a:ext>
              </a:extLst>
            </p:cNvPr>
            <p:cNvSpPr txBox="1"/>
            <p:nvPr/>
          </p:nvSpPr>
          <p:spPr>
            <a:xfrm>
              <a:off x="5638173" y="1483899"/>
              <a:ext cx="783664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800"/>
                </a:lnSpc>
              </a:pPr>
              <a:r>
                <a:rPr lang="zh-CN" altLang="en-US" sz="1600" b="0" dirty="0">
                  <a:effectLst/>
                  <a:latin typeface="Consolas" panose="020B0609020204030204" pitchFamily="49" charset="0"/>
                </a:rPr>
                <a:t>定期（如每周）执行一次完整备份，而在两次完整备份之间，每日执行差异备份。差异备份仅备份自上次完整备份以来发生变化的数据。</a:t>
              </a:r>
            </a:p>
          </p:txBody>
        </p:sp>
      </p:grpSp>
      <p:sp>
        <p:nvSpPr>
          <p:cNvPr id="36" name="文本框 35">
            <a:extLst>
              <a:ext uri="{FF2B5EF4-FFF2-40B4-BE49-F238E27FC236}">
                <a16:creationId xmlns:a16="http://schemas.microsoft.com/office/drawing/2014/main" id="{1FD46598-4046-9584-8BBB-0EF848DDF0CD}"/>
              </a:ext>
            </a:extLst>
          </p:cNvPr>
          <p:cNvSpPr txBox="1"/>
          <p:nvPr/>
        </p:nvSpPr>
        <p:spPr>
          <a:xfrm>
            <a:off x="1283868" y="1931127"/>
            <a:ext cx="2294189" cy="326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策略核心</a:t>
            </a: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9BC8F30F-FCDA-FB50-64BC-FD9854E08065}"/>
              </a:ext>
            </a:extLst>
          </p:cNvPr>
          <p:cNvGrpSpPr/>
          <p:nvPr/>
        </p:nvGrpSpPr>
        <p:grpSpPr>
          <a:xfrm>
            <a:off x="931862" y="3612820"/>
            <a:ext cx="7699702" cy="921238"/>
            <a:chOff x="5560841" y="1367132"/>
            <a:chExt cx="6085515" cy="921238"/>
          </a:xfrm>
        </p:grpSpPr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E312A514-4267-B619-57A4-D341529ADB36}"/>
                </a:ext>
              </a:extLst>
            </p:cNvPr>
            <p:cNvSpPr txBox="1"/>
            <p:nvPr/>
          </p:nvSpPr>
          <p:spPr>
            <a:xfrm>
              <a:off x="6959235" y="1367132"/>
              <a:ext cx="30908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ED51DFFE-335D-43AE-E91C-3A434ACDB1D2}"/>
                </a:ext>
              </a:extLst>
            </p:cNvPr>
            <p:cNvSpPr txBox="1"/>
            <p:nvPr/>
          </p:nvSpPr>
          <p:spPr>
            <a:xfrm>
              <a:off x="5560841" y="1503540"/>
              <a:ext cx="6085515" cy="784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800"/>
                </a:lnSpc>
              </a:pPr>
              <a:r>
                <a:rPr lang="zh-CN" altLang="en-US" sz="1600" b="0" dirty="0">
                  <a:effectLst/>
                  <a:latin typeface="+mn-ea"/>
                </a:rPr>
                <a:t>在需要恢复时，只需恢复最近一次的完整备份和最近一次的差异备份即可。这大大缩短了恢复时间（相较于增量备份需要恢复多个备份点），同时比每日完整备份节省了大量的存储空间和备份窗口时间。此策略旨在平衡</a:t>
              </a:r>
              <a:r>
                <a:rPr lang="en-US" altLang="zh-CN" sz="1600" b="0" dirty="0">
                  <a:effectLst/>
                  <a:latin typeface="+mn-ea"/>
                </a:rPr>
                <a:t>RTO</a:t>
              </a:r>
              <a:r>
                <a:rPr lang="zh-CN" altLang="en-US" sz="1600" b="0" dirty="0">
                  <a:effectLst/>
                  <a:latin typeface="+mn-ea"/>
                </a:rPr>
                <a:t>和备份存储的经济性。</a:t>
              </a:r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91924156-9453-ACD6-4476-37CD682CC262}"/>
              </a:ext>
            </a:extLst>
          </p:cNvPr>
          <p:cNvSpPr txBox="1"/>
          <p:nvPr/>
        </p:nvSpPr>
        <p:spPr>
          <a:xfrm>
            <a:off x="1246871" y="3371424"/>
            <a:ext cx="175396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恢复效率</a:t>
            </a:r>
          </a:p>
        </p:txBody>
      </p:sp>
      <p:sp>
        <p:nvSpPr>
          <p:cNvPr id="42" name="live-chat_72439">
            <a:extLst>
              <a:ext uri="{FF2B5EF4-FFF2-40B4-BE49-F238E27FC236}">
                <a16:creationId xmlns:a16="http://schemas.microsoft.com/office/drawing/2014/main" id="{A0AB30A3-A40B-ABB0-51D7-5FE09B8CF214}"/>
              </a:ext>
            </a:extLst>
          </p:cNvPr>
          <p:cNvSpPr>
            <a:spLocks noChangeAspect="1"/>
          </p:cNvSpPr>
          <p:nvPr/>
        </p:nvSpPr>
        <p:spPr bwMode="auto">
          <a:xfrm>
            <a:off x="944403" y="3396756"/>
            <a:ext cx="297257" cy="259489"/>
          </a:xfrm>
          <a:custGeom>
            <a:avLst/>
            <a:gdLst>
              <a:gd name="connsiteX0" fmla="*/ 424975 w 608697"/>
              <a:gd name="connsiteY0" fmla="*/ 168488 h 531358"/>
              <a:gd name="connsiteX1" fmla="*/ 387604 w 608697"/>
              <a:gd name="connsiteY1" fmla="*/ 205806 h 531358"/>
              <a:gd name="connsiteX2" fmla="*/ 424975 w 608697"/>
              <a:gd name="connsiteY2" fmla="*/ 243124 h 531358"/>
              <a:gd name="connsiteX3" fmla="*/ 462346 w 608697"/>
              <a:gd name="connsiteY3" fmla="*/ 205806 h 531358"/>
              <a:gd name="connsiteX4" fmla="*/ 424975 w 608697"/>
              <a:gd name="connsiteY4" fmla="*/ 168488 h 531358"/>
              <a:gd name="connsiteX5" fmla="*/ 287947 w 608697"/>
              <a:gd name="connsiteY5" fmla="*/ 168488 h 531358"/>
              <a:gd name="connsiteX6" fmla="*/ 250576 w 608697"/>
              <a:gd name="connsiteY6" fmla="*/ 205806 h 531358"/>
              <a:gd name="connsiteX7" fmla="*/ 287947 w 608697"/>
              <a:gd name="connsiteY7" fmla="*/ 243124 h 531358"/>
              <a:gd name="connsiteX8" fmla="*/ 325318 w 608697"/>
              <a:gd name="connsiteY8" fmla="*/ 205806 h 531358"/>
              <a:gd name="connsiteX9" fmla="*/ 287947 w 608697"/>
              <a:gd name="connsiteY9" fmla="*/ 168488 h 531358"/>
              <a:gd name="connsiteX10" fmla="*/ 102356 w 608697"/>
              <a:gd name="connsiteY10" fmla="*/ 121231 h 531358"/>
              <a:gd name="connsiteX11" fmla="*/ 98850 w 608697"/>
              <a:gd name="connsiteY11" fmla="*/ 127711 h 531358"/>
              <a:gd name="connsiteX12" fmla="*/ 76842 w 608697"/>
              <a:gd name="connsiteY12" fmla="*/ 217990 h 531358"/>
              <a:gd name="connsiteX13" fmla="*/ 98850 w 608697"/>
              <a:gd name="connsiteY13" fmla="*/ 308194 h 531358"/>
              <a:gd name="connsiteX14" fmla="*/ 157488 w 608697"/>
              <a:gd name="connsiteY14" fmla="*/ 380223 h 531358"/>
              <a:gd name="connsiteX15" fmla="*/ 344668 w 608697"/>
              <a:gd name="connsiteY15" fmla="*/ 444729 h 531358"/>
              <a:gd name="connsiteX16" fmla="*/ 370257 w 608697"/>
              <a:gd name="connsiteY16" fmla="*/ 443687 h 531358"/>
              <a:gd name="connsiteX17" fmla="*/ 236717 w 608697"/>
              <a:gd name="connsiteY17" fmla="*/ 477876 h 531358"/>
              <a:gd name="connsiteX18" fmla="*/ 198072 w 608697"/>
              <a:gd name="connsiteY18" fmla="*/ 475344 h 531358"/>
              <a:gd name="connsiteX19" fmla="*/ 82437 w 608697"/>
              <a:gd name="connsiteY19" fmla="*/ 531284 h 531358"/>
              <a:gd name="connsiteX20" fmla="*/ 81542 w 608697"/>
              <a:gd name="connsiteY20" fmla="*/ 531358 h 531358"/>
              <a:gd name="connsiteX21" fmla="*/ 75051 w 608697"/>
              <a:gd name="connsiteY21" fmla="*/ 527857 h 531358"/>
              <a:gd name="connsiteX22" fmla="*/ 74753 w 608697"/>
              <a:gd name="connsiteY22" fmla="*/ 519738 h 531358"/>
              <a:gd name="connsiteX23" fmla="*/ 88778 w 608697"/>
              <a:gd name="connsiteY23" fmla="*/ 435046 h 531358"/>
              <a:gd name="connsiteX24" fmla="*/ 0 w 608697"/>
              <a:gd name="connsiteY24" fmla="*/ 282198 h 531358"/>
              <a:gd name="connsiteX25" fmla="*/ 102356 w 608697"/>
              <a:gd name="connsiteY25" fmla="*/ 121231 h 531358"/>
              <a:gd name="connsiteX26" fmla="*/ 356424 w 608697"/>
              <a:gd name="connsiteY26" fmla="*/ 0 h 531358"/>
              <a:gd name="connsiteX27" fmla="*/ 608697 w 608697"/>
              <a:gd name="connsiteY27" fmla="*/ 211244 h 531358"/>
              <a:gd name="connsiteX28" fmla="*/ 518290 w 608697"/>
              <a:gd name="connsiteY28" fmla="*/ 373401 h 531358"/>
              <a:gd name="connsiteX29" fmla="*/ 531941 w 608697"/>
              <a:gd name="connsiteY29" fmla="*/ 441109 h 531358"/>
              <a:gd name="connsiteX30" fmla="*/ 531120 w 608697"/>
              <a:gd name="connsiteY30" fmla="*/ 465391 h 531358"/>
              <a:gd name="connsiteX31" fmla="*/ 511577 w 608697"/>
              <a:gd name="connsiteY31" fmla="*/ 475894 h 531358"/>
              <a:gd name="connsiteX32" fmla="*/ 509041 w 608697"/>
              <a:gd name="connsiteY32" fmla="*/ 475745 h 531358"/>
              <a:gd name="connsiteX33" fmla="*/ 391408 w 608697"/>
              <a:gd name="connsiteY33" fmla="*/ 420476 h 531358"/>
              <a:gd name="connsiteX34" fmla="*/ 356424 w 608697"/>
              <a:gd name="connsiteY34" fmla="*/ 422487 h 531358"/>
              <a:gd name="connsiteX35" fmla="*/ 104225 w 608697"/>
              <a:gd name="connsiteY35" fmla="*/ 211244 h 531358"/>
              <a:gd name="connsiteX36" fmla="*/ 356424 w 608697"/>
              <a:gd name="connsiteY36" fmla="*/ 0 h 531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608697" h="531358">
                <a:moveTo>
                  <a:pt x="424975" y="168488"/>
                </a:moveTo>
                <a:cubicBezTo>
                  <a:pt x="404312" y="168488"/>
                  <a:pt x="387604" y="185248"/>
                  <a:pt x="387604" y="205806"/>
                </a:cubicBezTo>
                <a:cubicBezTo>
                  <a:pt x="387604" y="226439"/>
                  <a:pt x="404312" y="243124"/>
                  <a:pt x="424975" y="243124"/>
                </a:cubicBezTo>
                <a:cubicBezTo>
                  <a:pt x="445562" y="243124"/>
                  <a:pt x="462346" y="226439"/>
                  <a:pt x="462346" y="205806"/>
                </a:cubicBezTo>
                <a:cubicBezTo>
                  <a:pt x="462346" y="185248"/>
                  <a:pt x="445637" y="168488"/>
                  <a:pt x="424975" y="168488"/>
                </a:cubicBezTo>
                <a:close/>
                <a:moveTo>
                  <a:pt x="287947" y="168488"/>
                </a:moveTo>
                <a:cubicBezTo>
                  <a:pt x="267285" y="168488"/>
                  <a:pt x="250576" y="185248"/>
                  <a:pt x="250576" y="205806"/>
                </a:cubicBezTo>
                <a:cubicBezTo>
                  <a:pt x="250576" y="226439"/>
                  <a:pt x="267285" y="243124"/>
                  <a:pt x="287947" y="243124"/>
                </a:cubicBezTo>
                <a:cubicBezTo>
                  <a:pt x="308610" y="243124"/>
                  <a:pt x="325318" y="226439"/>
                  <a:pt x="325318" y="205806"/>
                </a:cubicBezTo>
                <a:cubicBezTo>
                  <a:pt x="325318" y="185248"/>
                  <a:pt x="308610" y="168488"/>
                  <a:pt x="287947" y="168488"/>
                </a:cubicBezTo>
                <a:close/>
                <a:moveTo>
                  <a:pt x="102356" y="121231"/>
                </a:moveTo>
                <a:cubicBezTo>
                  <a:pt x="101162" y="123317"/>
                  <a:pt x="99969" y="125477"/>
                  <a:pt x="98850" y="127711"/>
                </a:cubicBezTo>
                <a:cubicBezTo>
                  <a:pt x="84227" y="156240"/>
                  <a:pt x="76842" y="186631"/>
                  <a:pt x="76842" y="217990"/>
                </a:cubicBezTo>
                <a:cubicBezTo>
                  <a:pt x="76842" y="249275"/>
                  <a:pt x="84227" y="279666"/>
                  <a:pt x="98850" y="308194"/>
                </a:cubicBezTo>
                <a:cubicBezTo>
                  <a:pt x="112726" y="335308"/>
                  <a:pt x="132496" y="359516"/>
                  <a:pt x="157488" y="380223"/>
                </a:cubicBezTo>
                <a:cubicBezTo>
                  <a:pt x="207845" y="421787"/>
                  <a:pt x="274317" y="444729"/>
                  <a:pt x="344668" y="444729"/>
                </a:cubicBezTo>
                <a:cubicBezTo>
                  <a:pt x="353173" y="444729"/>
                  <a:pt x="361752" y="444357"/>
                  <a:pt x="370257" y="443687"/>
                </a:cubicBezTo>
                <a:cubicBezTo>
                  <a:pt x="332209" y="465288"/>
                  <a:pt x="286254" y="477876"/>
                  <a:pt x="236717" y="477876"/>
                </a:cubicBezTo>
                <a:cubicBezTo>
                  <a:pt x="223736" y="477876"/>
                  <a:pt x="210755" y="477057"/>
                  <a:pt x="198072" y="475344"/>
                </a:cubicBezTo>
                <a:cubicBezTo>
                  <a:pt x="160397" y="499478"/>
                  <a:pt x="110637" y="528155"/>
                  <a:pt x="82437" y="531284"/>
                </a:cubicBezTo>
                <a:cubicBezTo>
                  <a:pt x="82138" y="531358"/>
                  <a:pt x="81840" y="531358"/>
                  <a:pt x="81542" y="531358"/>
                </a:cubicBezTo>
                <a:cubicBezTo>
                  <a:pt x="78930" y="531358"/>
                  <a:pt x="76469" y="530017"/>
                  <a:pt x="75051" y="527857"/>
                </a:cubicBezTo>
                <a:cubicBezTo>
                  <a:pt x="73410" y="525399"/>
                  <a:pt x="73335" y="522271"/>
                  <a:pt x="74753" y="519738"/>
                </a:cubicBezTo>
                <a:cubicBezTo>
                  <a:pt x="75051" y="519291"/>
                  <a:pt x="99223" y="476014"/>
                  <a:pt x="88778" y="435046"/>
                </a:cubicBezTo>
                <a:cubicBezTo>
                  <a:pt x="32303" y="397653"/>
                  <a:pt x="0" y="342160"/>
                  <a:pt x="0" y="282198"/>
                </a:cubicBezTo>
                <a:cubicBezTo>
                  <a:pt x="0" y="215532"/>
                  <a:pt x="40584" y="156538"/>
                  <a:pt x="102356" y="121231"/>
                </a:cubicBezTo>
                <a:close/>
                <a:moveTo>
                  <a:pt x="356424" y="0"/>
                </a:moveTo>
                <a:cubicBezTo>
                  <a:pt x="495540" y="0"/>
                  <a:pt x="608697" y="94747"/>
                  <a:pt x="608697" y="211244"/>
                </a:cubicBezTo>
                <a:cubicBezTo>
                  <a:pt x="608697" y="274408"/>
                  <a:pt x="575802" y="333178"/>
                  <a:pt x="518290" y="373401"/>
                </a:cubicBezTo>
                <a:cubicBezTo>
                  <a:pt x="512845" y="406324"/>
                  <a:pt x="531717" y="440811"/>
                  <a:pt x="531941" y="441109"/>
                </a:cubicBezTo>
                <a:cubicBezTo>
                  <a:pt x="536267" y="448781"/>
                  <a:pt x="535969" y="458092"/>
                  <a:pt x="531120" y="465391"/>
                </a:cubicBezTo>
                <a:cubicBezTo>
                  <a:pt x="526794" y="472021"/>
                  <a:pt x="519484" y="475894"/>
                  <a:pt x="511577" y="475894"/>
                </a:cubicBezTo>
                <a:cubicBezTo>
                  <a:pt x="510756" y="475894"/>
                  <a:pt x="509936" y="475894"/>
                  <a:pt x="509041" y="475745"/>
                </a:cubicBezTo>
                <a:cubicBezTo>
                  <a:pt x="484574" y="473064"/>
                  <a:pt x="444966" y="454442"/>
                  <a:pt x="391408" y="420476"/>
                </a:cubicBezTo>
                <a:cubicBezTo>
                  <a:pt x="379920" y="421817"/>
                  <a:pt x="368135" y="422487"/>
                  <a:pt x="356424" y="422487"/>
                </a:cubicBezTo>
                <a:cubicBezTo>
                  <a:pt x="217382" y="422487"/>
                  <a:pt x="104225" y="327741"/>
                  <a:pt x="104225" y="211244"/>
                </a:cubicBezTo>
                <a:cubicBezTo>
                  <a:pt x="104225" y="94747"/>
                  <a:pt x="217382" y="0"/>
                  <a:pt x="35642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794193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6A0CF-1A93-FC67-6342-D67985D58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BF6F0620-53D3-EEFA-73BD-F28D65561F29}"/>
              </a:ext>
            </a:extLst>
          </p:cNvPr>
          <p:cNvSpPr/>
          <p:nvPr/>
        </p:nvSpPr>
        <p:spPr>
          <a:xfrm>
            <a:off x="10945503" y="441325"/>
            <a:ext cx="659122" cy="659122"/>
          </a:xfrm>
          <a:prstGeom prst="rect">
            <a:avLst/>
          </a:prstGeom>
          <a:blipFill dpi="0" rotWithShape="1">
            <a:blip r:embed="rId2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4369347-CAE7-6974-1713-F35D5684502D}"/>
              </a:ext>
            </a:extLst>
          </p:cNvPr>
          <p:cNvCxnSpPr/>
          <p:nvPr/>
        </p:nvCxnSpPr>
        <p:spPr>
          <a:xfrm>
            <a:off x="648833" y="490652"/>
            <a:ext cx="566058" cy="0"/>
          </a:xfrm>
          <a:prstGeom prst="line">
            <a:avLst/>
          </a:prstGeom>
          <a:ln w="63500">
            <a:solidFill>
              <a:srgbClr val="0B88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D591E56E-0E6D-EC28-4C64-86DF0314EE33}"/>
              </a:ext>
            </a:extLst>
          </p:cNvPr>
          <p:cNvSpPr txBox="1"/>
          <p:nvPr/>
        </p:nvSpPr>
        <p:spPr>
          <a:xfrm>
            <a:off x="542925" y="5786978"/>
            <a:ext cx="1321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CASE STUDY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RESEARCH.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940AA485-CA96-7F6B-FC18-0BA2B0DA1204}"/>
              </a:ext>
            </a:extLst>
          </p:cNvPr>
          <p:cNvCxnSpPr/>
          <p:nvPr/>
        </p:nvCxnSpPr>
        <p:spPr>
          <a:xfrm>
            <a:off x="648833" y="6391831"/>
            <a:ext cx="566058" cy="0"/>
          </a:xfrm>
          <a:prstGeom prst="line">
            <a:avLst/>
          </a:prstGeom>
          <a:ln w="63500">
            <a:solidFill>
              <a:srgbClr val="0B88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iconfont-11180-4674648">
            <a:extLst>
              <a:ext uri="{FF2B5EF4-FFF2-40B4-BE49-F238E27FC236}">
                <a16:creationId xmlns:a16="http://schemas.microsoft.com/office/drawing/2014/main" id="{A46A3E6F-A3FE-3A5D-C315-EA06147BE507}"/>
              </a:ext>
            </a:extLst>
          </p:cNvPr>
          <p:cNvSpPr>
            <a:spLocks noChangeAspect="1"/>
          </p:cNvSpPr>
          <p:nvPr/>
        </p:nvSpPr>
        <p:spPr bwMode="auto">
          <a:xfrm>
            <a:off x="1372068" y="1939117"/>
            <a:ext cx="289542" cy="289542"/>
          </a:xfrm>
          <a:custGeom>
            <a:avLst/>
            <a:gdLst>
              <a:gd name="T0" fmla="*/ 6903 w 13303"/>
              <a:gd name="T1" fmla="*/ 13303 h 13303"/>
              <a:gd name="T2" fmla="*/ 990 w 13303"/>
              <a:gd name="T3" fmla="*/ 9352 h 13303"/>
              <a:gd name="T4" fmla="*/ 2378 w 13303"/>
              <a:gd name="T5" fmla="*/ 2378 h 13303"/>
              <a:gd name="T6" fmla="*/ 9352 w 13303"/>
              <a:gd name="T7" fmla="*/ 990 h 13303"/>
              <a:gd name="T8" fmla="*/ 13303 w 13303"/>
              <a:gd name="T9" fmla="*/ 6903 h 13303"/>
              <a:gd name="T10" fmla="*/ 11428 w 13303"/>
              <a:gd name="T11" fmla="*/ 11428 h 13303"/>
              <a:gd name="T12" fmla="*/ 6903 w 13303"/>
              <a:gd name="T13" fmla="*/ 13303 h 13303"/>
              <a:gd name="T14" fmla="*/ 10243 w 13303"/>
              <a:gd name="T15" fmla="*/ 4852 h 13303"/>
              <a:gd name="T16" fmla="*/ 9597 w 13303"/>
              <a:gd name="T17" fmla="*/ 4852 h 13303"/>
              <a:gd name="T18" fmla="*/ 6041 w 13303"/>
              <a:gd name="T19" fmla="*/ 8405 h 13303"/>
              <a:gd name="T20" fmla="*/ 4209 w 13303"/>
              <a:gd name="T21" fmla="*/ 6574 h 13303"/>
              <a:gd name="T22" fmla="*/ 3572 w 13303"/>
              <a:gd name="T23" fmla="*/ 6583 h 13303"/>
              <a:gd name="T24" fmla="*/ 3563 w 13303"/>
              <a:gd name="T25" fmla="*/ 7220 h 13303"/>
              <a:gd name="T26" fmla="*/ 5718 w 13303"/>
              <a:gd name="T27" fmla="*/ 9378 h 13303"/>
              <a:gd name="T28" fmla="*/ 6364 w 13303"/>
              <a:gd name="T29" fmla="*/ 9378 h 13303"/>
              <a:gd name="T30" fmla="*/ 10243 w 13303"/>
              <a:gd name="T31" fmla="*/ 5498 h 13303"/>
              <a:gd name="T32" fmla="*/ 10243 w 13303"/>
              <a:gd name="T33" fmla="*/ 4852 h 133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3303" h="13303">
                <a:moveTo>
                  <a:pt x="6903" y="13303"/>
                </a:moveTo>
                <a:cubicBezTo>
                  <a:pt x="4314" y="13303"/>
                  <a:pt x="1981" y="11744"/>
                  <a:pt x="990" y="9352"/>
                </a:cubicBezTo>
                <a:cubicBezTo>
                  <a:pt x="0" y="6961"/>
                  <a:pt x="547" y="4208"/>
                  <a:pt x="2378" y="2378"/>
                </a:cubicBezTo>
                <a:cubicBezTo>
                  <a:pt x="4208" y="547"/>
                  <a:pt x="6961" y="0"/>
                  <a:pt x="9352" y="990"/>
                </a:cubicBezTo>
                <a:cubicBezTo>
                  <a:pt x="11744" y="1981"/>
                  <a:pt x="13303" y="4314"/>
                  <a:pt x="13303" y="6903"/>
                </a:cubicBezTo>
                <a:cubicBezTo>
                  <a:pt x="13303" y="8600"/>
                  <a:pt x="12629" y="10228"/>
                  <a:pt x="11428" y="11428"/>
                </a:cubicBezTo>
                <a:cubicBezTo>
                  <a:pt x="10228" y="12629"/>
                  <a:pt x="8600" y="13303"/>
                  <a:pt x="6903" y="13303"/>
                </a:cubicBezTo>
                <a:close/>
                <a:moveTo>
                  <a:pt x="10243" y="4852"/>
                </a:moveTo>
                <a:cubicBezTo>
                  <a:pt x="10065" y="4672"/>
                  <a:pt x="9775" y="4672"/>
                  <a:pt x="9597" y="4852"/>
                </a:cubicBezTo>
                <a:lnTo>
                  <a:pt x="6041" y="8405"/>
                </a:lnTo>
                <a:lnTo>
                  <a:pt x="4209" y="6574"/>
                </a:lnTo>
                <a:cubicBezTo>
                  <a:pt x="4029" y="6404"/>
                  <a:pt x="3747" y="6408"/>
                  <a:pt x="3572" y="6583"/>
                </a:cubicBezTo>
                <a:cubicBezTo>
                  <a:pt x="3397" y="6758"/>
                  <a:pt x="3393" y="7040"/>
                  <a:pt x="3563" y="7220"/>
                </a:cubicBezTo>
                <a:lnTo>
                  <a:pt x="5718" y="9378"/>
                </a:lnTo>
                <a:cubicBezTo>
                  <a:pt x="5897" y="9554"/>
                  <a:pt x="6185" y="9554"/>
                  <a:pt x="6364" y="9378"/>
                </a:cubicBezTo>
                <a:lnTo>
                  <a:pt x="10243" y="5498"/>
                </a:lnTo>
                <a:cubicBezTo>
                  <a:pt x="10421" y="5320"/>
                  <a:pt x="10421" y="5030"/>
                  <a:pt x="10243" y="4852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F67487A-7732-7FD8-A2B1-8893FF506FCC}"/>
              </a:ext>
            </a:extLst>
          </p:cNvPr>
          <p:cNvSpPr txBox="1"/>
          <p:nvPr/>
        </p:nvSpPr>
        <p:spPr>
          <a:xfrm>
            <a:off x="542832" y="2355803"/>
            <a:ext cx="182080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ts val="1800"/>
              </a:lnSpc>
              <a:defRPr sz="1600" b="1">
                <a:solidFill>
                  <a:prstClr val="black"/>
                </a:solidFill>
                <a:latin typeface="华文中宋" panose="02010600040101010101" charset="-122"/>
                <a:ea typeface="华文中宋" panose="02010600040101010101" charset="-122"/>
              </a:defRPr>
            </a:lvl1pPr>
          </a:lstStyle>
          <a:p>
            <a:r>
              <a:rPr lang="zh-CN" altLang="en-US" dirty="0"/>
              <a:t>提升备份恢复性能</a:t>
            </a: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E7575A87-0C5D-0F62-D65F-DA249CE3C72E}"/>
              </a:ext>
            </a:extLst>
          </p:cNvPr>
          <p:cNvCxnSpPr>
            <a:cxnSpLocks/>
            <a:stCxn id="19" idx="1"/>
          </p:cNvCxnSpPr>
          <p:nvPr/>
        </p:nvCxnSpPr>
        <p:spPr>
          <a:xfrm flipV="1">
            <a:off x="419300" y="2743866"/>
            <a:ext cx="11436467" cy="9263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E613E9E-92E6-86E6-09E3-0FBF21B6404C}"/>
              </a:ext>
            </a:extLst>
          </p:cNvPr>
          <p:cNvSpPr/>
          <p:nvPr/>
        </p:nvSpPr>
        <p:spPr>
          <a:xfrm flipV="1">
            <a:off x="419300" y="2730270"/>
            <a:ext cx="2067868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506769A-C6BA-F725-E705-9E2B53B0CF17}"/>
              </a:ext>
            </a:extLst>
          </p:cNvPr>
          <p:cNvSpPr txBox="1"/>
          <p:nvPr/>
        </p:nvSpPr>
        <p:spPr>
          <a:xfrm>
            <a:off x="385581" y="2907966"/>
            <a:ext cx="226251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zh-CN" sz="1600" b="0" dirty="0">
                <a:effectLst/>
                <a:latin typeface="+mn-ea"/>
              </a:rPr>
              <a:t>VTL</a:t>
            </a:r>
            <a:r>
              <a:rPr lang="zh-CN" altLang="en-US" sz="1600" b="0" dirty="0">
                <a:effectLst/>
                <a:latin typeface="+mn-ea"/>
              </a:rPr>
              <a:t>使用磁盘作为备份介质，其读写速度远高于物理磁带，能够显著缩短备份窗口，更快地完成备份任务，并能快速恢复数据。这对需要快速从故障中恢复业务的淘宝至关重要。</a:t>
            </a:r>
          </a:p>
        </p:txBody>
      </p:sp>
      <p:sp>
        <p:nvSpPr>
          <p:cNvPr id="37" name="iconfont-11180-4674648">
            <a:extLst>
              <a:ext uri="{FF2B5EF4-FFF2-40B4-BE49-F238E27FC236}">
                <a16:creationId xmlns:a16="http://schemas.microsoft.com/office/drawing/2014/main" id="{1334E132-58DA-7499-C035-0B3BC27FDD5A}"/>
              </a:ext>
            </a:extLst>
          </p:cNvPr>
          <p:cNvSpPr>
            <a:spLocks noChangeAspect="1"/>
          </p:cNvSpPr>
          <p:nvPr/>
        </p:nvSpPr>
        <p:spPr bwMode="auto">
          <a:xfrm>
            <a:off x="4251882" y="1870593"/>
            <a:ext cx="289542" cy="289542"/>
          </a:xfrm>
          <a:custGeom>
            <a:avLst/>
            <a:gdLst>
              <a:gd name="T0" fmla="*/ 6903 w 13303"/>
              <a:gd name="T1" fmla="*/ 13303 h 13303"/>
              <a:gd name="T2" fmla="*/ 990 w 13303"/>
              <a:gd name="T3" fmla="*/ 9352 h 13303"/>
              <a:gd name="T4" fmla="*/ 2378 w 13303"/>
              <a:gd name="T5" fmla="*/ 2378 h 13303"/>
              <a:gd name="T6" fmla="*/ 9352 w 13303"/>
              <a:gd name="T7" fmla="*/ 990 h 13303"/>
              <a:gd name="T8" fmla="*/ 13303 w 13303"/>
              <a:gd name="T9" fmla="*/ 6903 h 13303"/>
              <a:gd name="T10" fmla="*/ 11428 w 13303"/>
              <a:gd name="T11" fmla="*/ 11428 h 13303"/>
              <a:gd name="T12" fmla="*/ 6903 w 13303"/>
              <a:gd name="T13" fmla="*/ 13303 h 13303"/>
              <a:gd name="T14" fmla="*/ 10243 w 13303"/>
              <a:gd name="T15" fmla="*/ 4852 h 13303"/>
              <a:gd name="T16" fmla="*/ 9597 w 13303"/>
              <a:gd name="T17" fmla="*/ 4852 h 13303"/>
              <a:gd name="T18" fmla="*/ 6041 w 13303"/>
              <a:gd name="T19" fmla="*/ 8405 h 13303"/>
              <a:gd name="T20" fmla="*/ 4209 w 13303"/>
              <a:gd name="T21" fmla="*/ 6574 h 13303"/>
              <a:gd name="T22" fmla="*/ 3572 w 13303"/>
              <a:gd name="T23" fmla="*/ 6583 h 13303"/>
              <a:gd name="T24" fmla="*/ 3563 w 13303"/>
              <a:gd name="T25" fmla="*/ 7220 h 13303"/>
              <a:gd name="T26" fmla="*/ 5718 w 13303"/>
              <a:gd name="T27" fmla="*/ 9378 h 13303"/>
              <a:gd name="T28" fmla="*/ 6364 w 13303"/>
              <a:gd name="T29" fmla="*/ 9378 h 13303"/>
              <a:gd name="T30" fmla="*/ 10243 w 13303"/>
              <a:gd name="T31" fmla="*/ 5498 h 13303"/>
              <a:gd name="T32" fmla="*/ 10243 w 13303"/>
              <a:gd name="T33" fmla="*/ 4852 h 133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3303" h="13303">
                <a:moveTo>
                  <a:pt x="6903" y="13303"/>
                </a:moveTo>
                <a:cubicBezTo>
                  <a:pt x="4314" y="13303"/>
                  <a:pt x="1981" y="11744"/>
                  <a:pt x="990" y="9352"/>
                </a:cubicBezTo>
                <a:cubicBezTo>
                  <a:pt x="0" y="6961"/>
                  <a:pt x="547" y="4208"/>
                  <a:pt x="2378" y="2378"/>
                </a:cubicBezTo>
                <a:cubicBezTo>
                  <a:pt x="4208" y="547"/>
                  <a:pt x="6961" y="0"/>
                  <a:pt x="9352" y="990"/>
                </a:cubicBezTo>
                <a:cubicBezTo>
                  <a:pt x="11744" y="1981"/>
                  <a:pt x="13303" y="4314"/>
                  <a:pt x="13303" y="6903"/>
                </a:cubicBezTo>
                <a:cubicBezTo>
                  <a:pt x="13303" y="8600"/>
                  <a:pt x="12629" y="10228"/>
                  <a:pt x="11428" y="11428"/>
                </a:cubicBezTo>
                <a:cubicBezTo>
                  <a:pt x="10228" y="12629"/>
                  <a:pt x="8600" y="13303"/>
                  <a:pt x="6903" y="13303"/>
                </a:cubicBezTo>
                <a:close/>
                <a:moveTo>
                  <a:pt x="10243" y="4852"/>
                </a:moveTo>
                <a:cubicBezTo>
                  <a:pt x="10065" y="4672"/>
                  <a:pt x="9775" y="4672"/>
                  <a:pt x="9597" y="4852"/>
                </a:cubicBezTo>
                <a:lnTo>
                  <a:pt x="6041" y="8405"/>
                </a:lnTo>
                <a:lnTo>
                  <a:pt x="4209" y="6574"/>
                </a:lnTo>
                <a:cubicBezTo>
                  <a:pt x="4029" y="6404"/>
                  <a:pt x="3747" y="6408"/>
                  <a:pt x="3572" y="6583"/>
                </a:cubicBezTo>
                <a:cubicBezTo>
                  <a:pt x="3397" y="6758"/>
                  <a:pt x="3393" y="7040"/>
                  <a:pt x="3563" y="7220"/>
                </a:cubicBezTo>
                <a:lnTo>
                  <a:pt x="5718" y="9378"/>
                </a:lnTo>
                <a:cubicBezTo>
                  <a:pt x="5897" y="9554"/>
                  <a:pt x="6185" y="9554"/>
                  <a:pt x="6364" y="9378"/>
                </a:cubicBezTo>
                <a:lnTo>
                  <a:pt x="10243" y="5498"/>
                </a:lnTo>
                <a:cubicBezTo>
                  <a:pt x="10421" y="5320"/>
                  <a:pt x="10421" y="5030"/>
                  <a:pt x="10243" y="4852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E271B17-5544-ECED-34D1-60BF2477A18A}"/>
              </a:ext>
            </a:extLst>
          </p:cNvPr>
          <p:cNvSpPr txBox="1"/>
          <p:nvPr/>
        </p:nvSpPr>
        <p:spPr>
          <a:xfrm>
            <a:off x="3531842" y="2240386"/>
            <a:ext cx="172962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zh-CN" altLang="en-US" sz="1600" b="1" dirty="0">
                <a:solidFill>
                  <a:prstClr val="black"/>
                </a:solidFill>
                <a:latin typeface="华文中宋" panose="02010600040101010101" charset="-122"/>
                <a:ea typeface="华文中宋" panose="02010600040101010101" charset="-122"/>
              </a:rPr>
              <a:t>无缝集成与简化管理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62C6DE8-F4C3-EC68-D2D3-B9A47E499590}"/>
              </a:ext>
            </a:extLst>
          </p:cNvPr>
          <p:cNvSpPr txBox="1"/>
          <p:nvPr/>
        </p:nvSpPr>
        <p:spPr>
          <a:xfrm>
            <a:off x="3328469" y="2975907"/>
            <a:ext cx="2136367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zh-CN" sz="1600" b="0" dirty="0">
                <a:effectLst/>
                <a:latin typeface="+mn-ea"/>
              </a:rPr>
              <a:t>VTL</a:t>
            </a:r>
            <a:r>
              <a:rPr lang="zh-CN" altLang="en-US" sz="1600" b="0" dirty="0">
                <a:effectLst/>
                <a:latin typeface="+mn-ea"/>
              </a:rPr>
              <a:t>通常能模拟标准的物理磁带库接口，可以与现有的备份软件无缝集成，无需改变备份流程和策略，降低了部署和管理的复杂性。</a:t>
            </a:r>
          </a:p>
        </p:txBody>
      </p:sp>
      <p:sp>
        <p:nvSpPr>
          <p:cNvPr id="41" name="iconfont-11180-4674648">
            <a:extLst>
              <a:ext uri="{FF2B5EF4-FFF2-40B4-BE49-F238E27FC236}">
                <a16:creationId xmlns:a16="http://schemas.microsoft.com/office/drawing/2014/main" id="{331F7AD7-38FB-3798-79A3-19EE46D38604}"/>
              </a:ext>
            </a:extLst>
          </p:cNvPr>
          <p:cNvSpPr>
            <a:spLocks noChangeAspect="1"/>
          </p:cNvSpPr>
          <p:nvPr/>
        </p:nvSpPr>
        <p:spPr bwMode="auto">
          <a:xfrm>
            <a:off x="7163424" y="1864257"/>
            <a:ext cx="289542" cy="289542"/>
          </a:xfrm>
          <a:custGeom>
            <a:avLst/>
            <a:gdLst>
              <a:gd name="T0" fmla="*/ 6903 w 13303"/>
              <a:gd name="T1" fmla="*/ 13303 h 13303"/>
              <a:gd name="T2" fmla="*/ 990 w 13303"/>
              <a:gd name="T3" fmla="*/ 9352 h 13303"/>
              <a:gd name="T4" fmla="*/ 2378 w 13303"/>
              <a:gd name="T5" fmla="*/ 2378 h 13303"/>
              <a:gd name="T6" fmla="*/ 9352 w 13303"/>
              <a:gd name="T7" fmla="*/ 990 h 13303"/>
              <a:gd name="T8" fmla="*/ 13303 w 13303"/>
              <a:gd name="T9" fmla="*/ 6903 h 13303"/>
              <a:gd name="T10" fmla="*/ 11428 w 13303"/>
              <a:gd name="T11" fmla="*/ 11428 h 13303"/>
              <a:gd name="T12" fmla="*/ 6903 w 13303"/>
              <a:gd name="T13" fmla="*/ 13303 h 13303"/>
              <a:gd name="T14" fmla="*/ 10243 w 13303"/>
              <a:gd name="T15" fmla="*/ 4852 h 13303"/>
              <a:gd name="T16" fmla="*/ 9597 w 13303"/>
              <a:gd name="T17" fmla="*/ 4852 h 13303"/>
              <a:gd name="T18" fmla="*/ 6041 w 13303"/>
              <a:gd name="T19" fmla="*/ 8405 h 13303"/>
              <a:gd name="T20" fmla="*/ 4209 w 13303"/>
              <a:gd name="T21" fmla="*/ 6574 h 13303"/>
              <a:gd name="T22" fmla="*/ 3572 w 13303"/>
              <a:gd name="T23" fmla="*/ 6583 h 13303"/>
              <a:gd name="T24" fmla="*/ 3563 w 13303"/>
              <a:gd name="T25" fmla="*/ 7220 h 13303"/>
              <a:gd name="T26" fmla="*/ 5718 w 13303"/>
              <a:gd name="T27" fmla="*/ 9378 h 13303"/>
              <a:gd name="T28" fmla="*/ 6364 w 13303"/>
              <a:gd name="T29" fmla="*/ 9378 h 13303"/>
              <a:gd name="T30" fmla="*/ 10243 w 13303"/>
              <a:gd name="T31" fmla="*/ 5498 h 13303"/>
              <a:gd name="T32" fmla="*/ 10243 w 13303"/>
              <a:gd name="T33" fmla="*/ 4852 h 133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3303" h="13303">
                <a:moveTo>
                  <a:pt x="6903" y="13303"/>
                </a:moveTo>
                <a:cubicBezTo>
                  <a:pt x="4314" y="13303"/>
                  <a:pt x="1981" y="11744"/>
                  <a:pt x="990" y="9352"/>
                </a:cubicBezTo>
                <a:cubicBezTo>
                  <a:pt x="0" y="6961"/>
                  <a:pt x="547" y="4208"/>
                  <a:pt x="2378" y="2378"/>
                </a:cubicBezTo>
                <a:cubicBezTo>
                  <a:pt x="4208" y="547"/>
                  <a:pt x="6961" y="0"/>
                  <a:pt x="9352" y="990"/>
                </a:cubicBezTo>
                <a:cubicBezTo>
                  <a:pt x="11744" y="1981"/>
                  <a:pt x="13303" y="4314"/>
                  <a:pt x="13303" y="6903"/>
                </a:cubicBezTo>
                <a:cubicBezTo>
                  <a:pt x="13303" y="8600"/>
                  <a:pt x="12629" y="10228"/>
                  <a:pt x="11428" y="11428"/>
                </a:cubicBezTo>
                <a:cubicBezTo>
                  <a:pt x="10228" y="12629"/>
                  <a:pt x="8600" y="13303"/>
                  <a:pt x="6903" y="13303"/>
                </a:cubicBezTo>
                <a:close/>
                <a:moveTo>
                  <a:pt x="10243" y="4852"/>
                </a:moveTo>
                <a:cubicBezTo>
                  <a:pt x="10065" y="4672"/>
                  <a:pt x="9775" y="4672"/>
                  <a:pt x="9597" y="4852"/>
                </a:cubicBezTo>
                <a:lnTo>
                  <a:pt x="6041" y="8405"/>
                </a:lnTo>
                <a:lnTo>
                  <a:pt x="4209" y="6574"/>
                </a:lnTo>
                <a:cubicBezTo>
                  <a:pt x="4029" y="6404"/>
                  <a:pt x="3747" y="6408"/>
                  <a:pt x="3572" y="6583"/>
                </a:cubicBezTo>
                <a:cubicBezTo>
                  <a:pt x="3397" y="6758"/>
                  <a:pt x="3393" y="7040"/>
                  <a:pt x="3563" y="7220"/>
                </a:cubicBezTo>
                <a:lnTo>
                  <a:pt x="5718" y="9378"/>
                </a:lnTo>
                <a:cubicBezTo>
                  <a:pt x="5897" y="9554"/>
                  <a:pt x="6185" y="9554"/>
                  <a:pt x="6364" y="9378"/>
                </a:cubicBezTo>
                <a:lnTo>
                  <a:pt x="10243" y="5498"/>
                </a:lnTo>
                <a:cubicBezTo>
                  <a:pt x="10421" y="5320"/>
                  <a:pt x="10421" y="5030"/>
                  <a:pt x="10243" y="4852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3FFDD091-B6CB-472E-760A-5B86D9B3EFC6}"/>
              </a:ext>
            </a:extLst>
          </p:cNvPr>
          <p:cNvSpPr txBox="1"/>
          <p:nvPr/>
        </p:nvSpPr>
        <p:spPr>
          <a:xfrm>
            <a:off x="6384783" y="2345800"/>
            <a:ext cx="200531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zh-CN" altLang="en-US" sz="1600" b="1" dirty="0">
                <a:solidFill>
                  <a:prstClr val="black"/>
                </a:solidFill>
                <a:latin typeface="华文中宋" panose="02010600040101010101" charset="-122"/>
                <a:ea typeface="华文中宋" panose="02010600040101010101" charset="-122"/>
              </a:rPr>
              <a:t>增强数据保护功能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D9B7C86-E687-FB1E-1FD8-9BDEAACAA146}"/>
              </a:ext>
            </a:extLst>
          </p:cNvPr>
          <p:cNvSpPr txBox="1"/>
          <p:nvPr/>
        </p:nvSpPr>
        <p:spPr>
          <a:xfrm>
            <a:off x="6319255" y="3005057"/>
            <a:ext cx="21363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zh-CN" sz="1600" b="0" dirty="0">
                <a:effectLst/>
                <a:latin typeface="+mn-ea"/>
              </a:rPr>
              <a:t>VTL</a:t>
            </a:r>
            <a:r>
              <a:rPr lang="zh-CN" altLang="en-US" sz="1600" b="0" dirty="0">
                <a:effectLst/>
                <a:latin typeface="+mn-ea"/>
              </a:rPr>
              <a:t>通常内置</a:t>
            </a:r>
            <a:r>
              <a:rPr lang="en-US" altLang="zh-CN" sz="1600" b="0" dirty="0">
                <a:effectLst/>
                <a:latin typeface="+mn-ea"/>
              </a:rPr>
              <a:t>RAID</a:t>
            </a:r>
            <a:r>
              <a:rPr lang="zh-CN" altLang="en-US" sz="1600" b="0" dirty="0">
                <a:effectLst/>
                <a:latin typeface="+mn-ea"/>
              </a:rPr>
              <a:t>保护，提供了比物理磁带更高的数据可靠性。同时，</a:t>
            </a:r>
            <a:r>
              <a:rPr lang="en-US" altLang="zh-CN" sz="1600" b="0" dirty="0">
                <a:effectLst/>
                <a:latin typeface="+mn-ea"/>
              </a:rPr>
              <a:t>VTL</a:t>
            </a:r>
            <a:r>
              <a:rPr lang="zh-CN" altLang="en-US" sz="1600" b="0" dirty="0">
                <a:effectLst/>
                <a:latin typeface="+mn-ea"/>
              </a:rPr>
              <a:t>支持将备份数据高效复制到异地，实现远程容灾。</a:t>
            </a:r>
          </a:p>
        </p:txBody>
      </p:sp>
      <p:sp>
        <p:nvSpPr>
          <p:cNvPr id="50" name="iconfont-11180-4674648">
            <a:extLst>
              <a:ext uri="{FF2B5EF4-FFF2-40B4-BE49-F238E27FC236}">
                <a16:creationId xmlns:a16="http://schemas.microsoft.com/office/drawing/2014/main" id="{5939F7B3-7F12-CEBF-0C4E-14728A16A451}"/>
              </a:ext>
            </a:extLst>
          </p:cNvPr>
          <p:cNvSpPr>
            <a:spLocks noChangeAspect="1"/>
          </p:cNvSpPr>
          <p:nvPr/>
        </p:nvSpPr>
        <p:spPr bwMode="auto">
          <a:xfrm>
            <a:off x="10461390" y="1901434"/>
            <a:ext cx="289542" cy="289542"/>
          </a:xfrm>
          <a:custGeom>
            <a:avLst/>
            <a:gdLst>
              <a:gd name="T0" fmla="*/ 6903 w 13303"/>
              <a:gd name="T1" fmla="*/ 13303 h 13303"/>
              <a:gd name="T2" fmla="*/ 990 w 13303"/>
              <a:gd name="T3" fmla="*/ 9352 h 13303"/>
              <a:gd name="T4" fmla="*/ 2378 w 13303"/>
              <a:gd name="T5" fmla="*/ 2378 h 13303"/>
              <a:gd name="T6" fmla="*/ 9352 w 13303"/>
              <a:gd name="T7" fmla="*/ 990 h 13303"/>
              <a:gd name="T8" fmla="*/ 13303 w 13303"/>
              <a:gd name="T9" fmla="*/ 6903 h 13303"/>
              <a:gd name="T10" fmla="*/ 11428 w 13303"/>
              <a:gd name="T11" fmla="*/ 11428 h 13303"/>
              <a:gd name="T12" fmla="*/ 6903 w 13303"/>
              <a:gd name="T13" fmla="*/ 13303 h 13303"/>
              <a:gd name="T14" fmla="*/ 10243 w 13303"/>
              <a:gd name="T15" fmla="*/ 4852 h 13303"/>
              <a:gd name="T16" fmla="*/ 9597 w 13303"/>
              <a:gd name="T17" fmla="*/ 4852 h 13303"/>
              <a:gd name="T18" fmla="*/ 6041 w 13303"/>
              <a:gd name="T19" fmla="*/ 8405 h 13303"/>
              <a:gd name="T20" fmla="*/ 4209 w 13303"/>
              <a:gd name="T21" fmla="*/ 6574 h 13303"/>
              <a:gd name="T22" fmla="*/ 3572 w 13303"/>
              <a:gd name="T23" fmla="*/ 6583 h 13303"/>
              <a:gd name="T24" fmla="*/ 3563 w 13303"/>
              <a:gd name="T25" fmla="*/ 7220 h 13303"/>
              <a:gd name="T26" fmla="*/ 5718 w 13303"/>
              <a:gd name="T27" fmla="*/ 9378 h 13303"/>
              <a:gd name="T28" fmla="*/ 6364 w 13303"/>
              <a:gd name="T29" fmla="*/ 9378 h 13303"/>
              <a:gd name="T30" fmla="*/ 10243 w 13303"/>
              <a:gd name="T31" fmla="*/ 5498 h 13303"/>
              <a:gd name="T32" fmla="*/ 10243 w 13303"/>
              <a:gd name="T33" fmla="*/ 4852 h 133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3303" h="13303">
                <a:moveTo>
                  <a:pt x="6903" y="13303"/>
                </a:moveTo>
                <a:cubicBezTo>
                  <a:pt x="4314" y="13303"/>
                  <a:pt x="1981" y="11744"/>
                  <a:pt x="990" y="9352"/>
                </a:cubicBezTo>
                <a:cubicBezTo>
                  <a:pt x="0" y="6961"/>
                  <a:pt x="547" y="4208"/>
                  <a:pt x="2378" y="2378"/>
                </a:cubicBezTo>
                <a:cubicBezTo>
                  <a:pt x="4208" y="547"/>
                  <a:pt x="6961" y="0"/>
                  <a:pt x="9352" y="990"/>
                </a:cubicBezTo>
                <a:cubicBezTo>
                  <a:pt x="11744" y="1981"/>
                  <a:pt x="13303" y="4314"/>
                  <a:pt x="13303" y="6903"/>
                </a:cubicBezTo>
                <a:cubicBezTo>
                  <a:pt x="13303" y="8600"/>
                  <a:pt x="12629" y="10228"/>
                  <a:pt x="11428" y="11428"/>
                </a:cubicBezTo>
                <a:cubicBezTo>
                  <a:pt x="10228" y="12629"/>
                  <a:pt x="8600" y="13303"/>
                  <a:pt x="6903" y="13303"/>
                </a:cubicBezTo>
                <a:close/>
                <a:moveTo>
                  <a:pt x="10243" y="4852"/>
                </a:moveTo>
                <a:cubicBezTo>
                  <a:pt x="10065" y="4672"/>
                  <a:pt x="9775" y="4672"/>
                  <a:pt x="9597" y="4852"/>
                </a:cubicBezTo>
                <a:lnTo>
                  <a:pt x="6041" y="8405"/>
                </a:lnTo>
                <a:lnTo>
                  <a:pt x="4209" y="6574"/>
                </a:lnTo>
                <a:cubicBezTo>
                  <a:pt x="4029" y="6404"/>
                  <a:pt x="3747" y="6408"/>
                  <a:pt x="3572" y="6583"/>
                </a:cubicBezTo>
                <a:cubicBezTo>
                  <a:pt x="3397" y="6758"/>
                  <a:pt x="3393" y="7040"/>
                  <a:pt x="3563" y="7220"/>
                </a:cubicBezTo>
                <a:lnTo>
                  <a:pt x="5718" y="9378"/>
                </a:lnTo>
                <a:cubicBezTo>
                  <a:pt x="5897" y="9554"/>
                  <a:pt x="6185" y="9554"/>
                  <a:pt x="6364" y="9378"/>
                </a:cubicBezTo>
                <a:lnTo>
                  <a:pt x="10243" y="5498"/>
                </a:lnTo>
                <a:cubicBezTo>
                  <a:pt x="10421" y="5320"/>
                  <a:pt x="10421" y="5030"/>
                  <a:pt x="10243" y="4852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01E7DF47-2228-CDFC-1FF7-62A68F476F2A}"/>
              </a:ext>
            </a:extLst>
          </p:cNvPr>
          <p:cNvSpPr txBox="1"/>
          <p:nvPr/>
        </p:nvSpPr>
        <p:spPr>
          <a:xfrm>
            <a:off x="9781927" y="2330342"/>
            <a:ext cx="164846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zh-CN" altLang="en-US" sz="1600" b="1" dirty="0">
                <a:solidFill>
                  <a:prstClr val="black"/>
                </a:solidFill>
                <a:latin typeface="华文中宋" panose="02010600040101010101" charset="-122"/>
                <a:ea typeface="华文中宋" panose="02010600040101010101" charset="-122"/>
              </a:rPr>
              <a:t>成本效益分析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9A7844A1-D4E0-C8AC-CA9F-70F124F03831}"/>
              </a:ext>
            </a:extLst>
          </p:cNvPr>
          <p:cNvSpPr txBox="1"/>
          <p:nvPr/>
        </p:nvSpPr>
        <p:spPr>
          <a:xfrm>
            <a:off x="9666376" y="2877049"/>
            <a:ext cx="2041209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zh-CN" altLang="en-US" sz="1600" b="0" dirty="0">
                <a:effectLst/>
                <a:latin typeface="+mn-ea"/>
              </a:rPr>
              <a:t>虽然</a:t>
            </a:r>
            <a:r>
              <a:rPr lang="en-US" altLang="zh-CN" sz="1600" b="0" dirty="0">
                <a:effectLst/>
                <a:latin typeface="+mn-ea"/>
              </a:rPr>
              <a:t>VTL</a:t>
            </a:r>
            <a:r>
              <a:rPr lang="zh-CN" altLang="en-US" sz="1600" b="0" dirty="0">
                <a:effectLst/>
                <a:latin typeface="+mn-ea"/>
              </a:rPr>
              <a:t>的初始磁盘成本高于磁带，但考虑到其性能提升、管理简化以及与重复数据消除等技术的结合，其长期总体拥有成本可能更优，尤其是在需要频繁、快速备份恢复的场景下。</a:t>
            </a:r>
          </a:p>
          <a:p>
            <a:pPr>
              <a:lnSpc>
                <a:spcPts val="1800"/>
              </a:lnSpc>
            </a:pPr>
            <a:br>
              <a:rPr lang="zh-CN" altLang="en-US" sz="1600" b="0" dirty="0">
                <a:effectLst/>
                <a:latin typeface="+mn-ea"/>
              </a:rPr>
            </a:br>
            <a:endParaRPr lang="zh-CN" altLang="en-US" sz="1600" b="0" dirty="0">
              <a:effectLst/>
              <a:latin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E9D2CD5-36BF-F354-9361-1E6B44591CF0}"/>
              </a:ext>
            </a:extLst>
          </p:cNvPr>
          <p:cNvSpPr txBox="1"/>
          <p:nvPr/>
        </p:nvSpPr>
        <p:spPr>
          <a:xfrm>
            <a:off x="587375" y="621626"/>
            <a:ext cx="53732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anose="02010600030101010101" pitchFamily="2" charset="-122"/>
                <a:cs typeface="+mn-cs"/>
              </a:rPr>
              <a:t>5.</a:t>
            </a:r>
            <a:r>
              <a:rPr lang="en-US" altLang="zh-CN" sz="2200" b="1" dirty="0">
                <a:solidFill>
                  <a:prstClr val="black"/>
                </a:solidFill>
                <a:latin typeface="Tw Cen MT Condensed Extra Bold" panose="020B0803020202020204" pitchFamily="34" charset="0"/>
                <a:ea typeface="等线" panose="02010600030101010101" pitchFamily="2" charset="-122"/>
              </a:rPr>
              <a:t>2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Condensed Extra Bold" panose="020B08030202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F2BE226-B3D4-2C37-16D4-F0ED24FF5DDC}"/>
              </a:ext>
            </a:extLst>
          </p:cNvPr>
          <p:cNvSpPr txBox="1"/>
          <p:nvPr/>
        </p:nvSpPr>
        <p:spPr>
          <a:xfrm>
            <a:off x="1070120" y="713542"/>
            <a:ext cx="367440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800"/>
              </a:lnSpc>
            </a:pPr>
            <a:r>
              <a:rPr lang="zh-CN" altLang="en-US" sz="20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虚拟磁带库 </a:t>
            </a:r>
            <a:r>
              <a:rPr lang="en-US" altLang="zh-CN" sz="20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(VTL) </a:t>
            </a:r>
            <a:r>
              <a:rPr lang="zh-CN" altLang="en-US" sz="20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的深度优势</a:t>
            </a:r>
            <a:endParaRPr lang="zh-CN" altLang="en-US" sz="2000" b="0" dirty="0"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AD175AA-BAA1-860C-1860-EE1B32D0852E}"/>
              </a:ext>
            </a:extLst>
          </p:cNvPr>
          <p:cNvSpPr/>
          <p:nvPr/>
        </p:nvSpPr>
        <p:spPr>
          <a:xfrm flipV="1">
            <a:off x="3306046" y="2743865"/>
            <a:ext cx="2067868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2349A5CC-B53C-CEFE-7E83-ABF08E53C9A6}"/>
              </a:ext>
            </a:extLst>
          </p:cNvPr>
          <p:cNvSpPr/>
          <p:nvPr/>
        </p:nvSpPr>
        <p:spPr>
          <a:xfrm flipV="1">
            <a:off x="6306139" y="2729507"/>
            <a:ext cx="2067868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AE578ED-7D90-21BF-8459-900870A3C181}"/>
              </a:ext>
            </a:extLst>
          </p:cNvPr>
          <p:cNvSpPr/>
          <p:nvPr/>
        </p:nvSpPr>
        <p:spPr>
          <a:xfrm flipV="1">
            <a:off x="9639717" y="2743865"/>
            <a:ext cx="2067868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45699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94D2D-A243-3D24-9DE7-698913491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5778E1B-F9EE-7840-9CA1-DA2E438EBC83}"/>
              </a:ext>
            </a:extLst>
          </p:cNvPr>
          <p:cNvSpPr txBox="1"/>
          <p:nvPr/>
        </p:nvSpPr>
        <p:spPr>
          <a:xfrm>
            <a:off x="587375" y="621626"/>
            <a:ext cx="53732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anose="02010600030101010101" pitchFamily="2" charset="-122"/>
                <a:cs typeface="+mn-cs"/>
              </a:rPr>
              <a:t>5.</a:t>
            </a:r>
            <a:r>
              <a:rPr lang="en-US" altLang="zh-CN" sz="2200" b="1" dirty="0">
                <a:solidFill>
                  <a:prstClr val="black"/>
                </a:solidFill>
                <a:latin typeface="Tw Cen MT Condensed Extra Bold" panose="020B0803020202020204" pitchFamily="34" charset="0"/>
                <a:ea typeface="等线" panose="02010600030101010101" pitchFamily="2" charset="-122"/>
              </a:rPr>
              <a:t>3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Condensed Extra Bold" panose="020B08030202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A9CBD70-FDD2-D229-DC71-8787E4961859}"/>
              </a:ext>
            </a:extLst>
          </p:cNvPr>
          <p:cNvSpPr/>
          <p:nvPr/>
        </p:nvSpPr>
        <p:spPr>
          <a:xfrm>
            <a:off x="10945503" y="441325"/>
            <a:ext cx="659122" cy="659122"/>
          </a:xfrm>
          <a:prstGeom prst="rect">
            <a:avLst/>
          </a:prstGeom>
          <a:blipFill dpi="0" rotWithShape="1">
            <a:blip r:embed="rId2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F109379B-38B2-41E3-151F-E9FD4587E709}"/>
              </a:ext>
            </a:extLst>
          </p:cNvPr>
          <p:cNvCxnSpPr/>
          <p:nvPr/>
        </p:nvCxnSpPr>
        <p:spPr>
          <a:xfrm>
            <a:off x="648833" y="490652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505AB72E-E965-A8C5-4107-9145E81230D0}"/>
              </a:ext>
            </a:extLst>
          </p:cNvPr>
          <p:cNvSpPr txBox="1"/>
          <p:nvPr/>
        </p:nvSpPr>
        <p:spPr>
          <a:xfrm>
            <a:off x="542925" y="5786978"/>
            <a:ext cx="1321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CASE STUDY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RESEARCH.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23E02B1D-0A50-04DB-33BB-FC7E44DF9513}"/>
              </a:ext>
            </a:extLst>
          </p:cNvPr>
          <p:cNvCxnSpPr/>
          <p:nvPr/>
        </p:nvCxnSpPr>
        <p:spPr>
          <a:xfrm>
            <a:off x="648833" y="6391831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99677F61-567E-C405-BF65-9C358F4A8D0C}"/>
              </a:ext>
            </a:extLst>
          </p:cNvPr>
          <p:cNvSpPr txBox="1"/>
          <p:nvPr/>
        </p:nvSpPr>
        <p:spPr>
          <a:xfrm>
            <a:off x="856038" y="1200657"/>
            <a:ext cx="776339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zh-CN" altLang="en-US" sz="1600" b="0" dirty="0">
                <a:effectLst/>
                <a:latin typeface="Consolas" panose="020B0609020204030204" pitchFamily="49" charset="0"/>
              </a:rPr>
              <a:t>重复数据消除技术通过识别并消除冗余数据块，显著减少备份所需的存储空间。</a:t>
            </a:r>
          </a:p>
        </p:txBody>
      </p:sp>
      <p:sp>
        <p:nvSpPr>
          <p:cNvPr id="23" name="iconfont-10585-5147501">
            <a:extLst>
              <a:ext uri="{FF2B5EF4-FFF2-40B4-BE49-F238E27FC236}">
                <a16:creationId xmlns:a16="http://schemas.microsoft.com/office/drawing/2014/main" id="{7AD4E299-B887-6DE3-3C5C-D55A57F2BA8A}"/>
              </a:ext>
            </a:extLst>
          </p:cNvPr>
          <p:cNvSpPr>
            <a:spLocks noChangeAspect="1"/>
          </p:cNvSpPr>
          <p:nvPr/>
        </p:nvSpPr>
        <p:spPr bwMode="auto">
          <a:xfrm>
            <a:off x="931862" y="1959632"/>
            <a:ext cx="331155" cy="250605"/>
          </a:xfrm>
          <a:custGeom>
            <a:avLst/>
            <a:gdLst>
              <a:gd name="T0" fmla="*/ 8851 w 12288"/>
              <a:gd name="T1" fmla="*/ 2190 h 9507"/>
              <a:gd name="T2" fmla="*/ 5095 w 12288"/>
              <a:gd name="T3" fmla="*/ 299 h 9507"/>
              <a:gd name="T4" fmla="*/ 2323 w 12288"/>
              <a:gd name="T5" fmla="*/ 3463 h 9507"/>
              <a:gd name="T6" fmla="*/ 0 w 12288"/>
              <a:gd name="T7" fmla="*/ 6419 h 9507"/>
              <a:gd name="T8" fmla="*/ 3072 w 12288"/>
              <a:gd name="T9" fmla="*/ 9507 h 9507"/>
              <a:gd name="T10" fmla="*/ 8832 w 12288"/>
              <a:gd name="T11" fmla="*/ 9507 h 9507"/>
              <a:gd name="T12" fmla="*/ 12288 w 12288"/>
              <a:gd name="T13" fmla="*/ 5839 h 9507"/>
              <a:gd name="T14" fmla="*/ 8851 w 12288"/>
              <a:gd name="T15" fmla="*/ 2190 h 9507"/>
              <a:gd name="T16" fmla="*/ 7857 w 12288"/>
              <a:gd name="T17" fmla="*/ 5994 h 9507"/>
              <a:gd name="T18" fmla="*/ 7455 w 12288"/>
              <a:gd name="T19" fmla="*/ 5994 h 9507"/>
              <a:gd name="T20" fmla="*/ 7253 w 12288"/>
              <a:gd name="T21" fmla="*/ 6186 h 9507"/>
              <a:gd name="T22" fmla="*/ 7248 w 12288"/>
              <a:gd name="T23" fmla="*/ 8151 h 9507"/>
              <a:gd name="T24" fmla="*/ 6845 w 12288"/>
              <a:gd name="T25" fmla="*/ 8535 h 9507"/>
              <a:gd name="T26" fmla="*/ 5441 w 12288"/>
              <a:gd name="T27" fmla="*/ 8535 h 9507"/>
              <a:gd name="T28" fmla="*/ 5039 w 12288"/>
              <a:gd name="T29" fmla="*/ 8151 h 9507"/>
              <a:gd name="T30" fmla="*/ 5034 w 12288"/>
              <a:gd name="T31" fmla="*/ 6186 h 9507"/>
              <a:gd name="T32" fmla="*/ 4832 w 12288"/>
              <a:gd name="T33" fmla="*/ 5994 h 9507"/>
              <a:gd name="T34" fmla="*/ 4429 w 12288"/>
              <a:gd name="T35" fmla="*/ 5994 h 9507"/>
              <a:gd name="T36" fmla="*/ 4026 w 12288"/>
              <a:gd name="T37" fmla="*/ 5610 h 9507"/>
              <a:gd name="T38" fmla="*/ 4104 w 12288"/>
              <a:gd name="T39" fmla="*/ 5380 h 9507"/>
              <a:gd name="T40" fmla="*/ 5784 w 12288"/>
              <a:gd name="T41" fmla="*/ 3442 h 9507"/>
              <a:gd name="T42" fmla="*/ 6499 w 12288"/>
              <a:gd name="T43" fmla="*/ 3442 h 9507"/>
              <a:gd name="T44" fmla="*/ 8180 w 12288"/>
              <a:gd name="T45" fmla="*/ 5380 h 9507"/>
              <a:gd name="T46" fmla="*/ 8259 w 12288"/>
              <a:gd name="T47" fmla="*/ 5610 h 9507"/>
              <a:gd name="T48" fmla="*/ 7857 w 12288"/>
              <a:gd name="T49" fmla="*/ 5994 h 95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2288" h="9507">
                <a:moveTo>
                  <a:pt x="8851" y="2190"/>
                </a:moveTo>
                <a:cubicBezTo>
                  <a:pt x="8176" y="777"/>
                  <a:pt x="6631" y="0"/>
                  <a:pt x="5095" y="299"/>
                </a:cubicBezTo>
                <a:cubicBezTo>
                  <a:pt x="3558" y="599"/>
                  <a:pt x="2418" y="1900"/>
                  <a:pt x="2323" y="3463"/>
                </a:cubicBezTo>
                <a:cubicBezTo>
                  <a:pt x="979" y="3847"/>
                  <a:pt x="0" y="5028"/>
                  <a:pt x="0" y="6419"/>
                </a:cubicBezTo>
                <a:cubicBezTo>
                  <a:pt x="0" y="8061"/>
                  <a:pt x="1363" y="9410"/>
                  <a:pt x="3072" y="9507"/>
                </a:cubicBezTo>
                <a:lnTo>
                  <a:pt x="8832" y="9507"/>
                </a:lnTo>
                <a:cubicBezTo>
                  <a:pt x="10732" y="9507"/>
                  <a:pt x="12288" y="7865"/>
                  <a:pt x="12288" y="5839"/>
                </a:cubicBezTo>
                <a:cubicBezTo>
                  <a:pt x="12287" y="3889"/>
                  <a:pt x="10770" y="2288"/>
                  <a:pt x="8851" y="2190"/>
                </a:cubicBezTo>
                <a:close/>
                <a:moveTo>
                  <a:pt x="7857" y="5994"/>
                </a:moveTo>
                <a:lnTo>
                  <a:pt x="7455" y="5994"/>
                </a:lnTo>
                <a:cubicBezTo>
                  <a:pt x="7347" y="5992"/>
                  <a:pt x="7257" y="6077"/>
                  <a:pt x="7253" y="6186"/>
                </a:cubicBezTo>
                <a:lnTo>
                  <a:pt x="7248" y="8151"/>
                </a:lnTo>
                <a:cubicBezTo>
                  <a:pt x="7243" y="8368"/>
                  <a:pt x="7062" y="8541"/>
                  <a:pt x="6845" y="8535"/>
                </a:cubicBezTo>
                <a:lnTo>
                  <a:pt x="5441" y="8535"/>
                </a:lnTo>
                <a:cubicBezTo>
                  <a:pt x="5223" y="8541"/>
                  <a:pt x="5043" y="8368"/>
                  <a:pt x="5039" y="8151"/>
                </a:cubicBezTo>
                <a:lnTo>
                  <a:pt x="5034" y="6186"/>
                </a:lnTo>
                <a:cubicBezTo>
                  <a:pt x="5031" y="6077"/>
                  <a:pt x="4940" y="5991"/>
                  <a:pt x="4832" y="5994"/>
                </a:cubicBezTo>
                <a:lnTo>
                  <a:pt x="4429" y="5994"/>
                </a:lnTo>
                <a:cubicBezTo>
                  <a:pt x="4212" y="5998"/>
                  <a:pt x="4032" y="5827"/>
                  <a:pt x="4026" y="5610"/>
                </a:cubicBezTo>
                <a:cubicBezTo>
                  <a:pt x="4025" y="5527"/>
                  <a:pt x="4053" y="5446"/>
                  <a:pt x="4104" y="5380"/>
                </a:cubicBezTo>
                <a:lnTo>
                  <a:pt x="5784" y="3442"/>
                </a:lnTo>
                <a:cubicBezTo>
                  <a:pt x="5986" y="3254"/>
                  <a:pt x="6298" y="3254"/>
                  <a:pt x="6499" y="3442"/>
                </a:cubicBezTo>
                <a:lnTo>
                  <a:pt x="8180" y="5380"/>
                </a:lnTo>
                <a:cubicBezTo>
                  <a:pt x="8231" y="5446"/>
                  <a:pt x="8259" y="5526"/>
                  <a:pt x="8259" y="5610"/>
                </a:cubicBezTo>
                <a:cubicBezTo>
                  <a:pt x="8254" y="5827"/>
                  <a:pt x="8074" y="5999"/>
                  <a:pt x="7857" y="599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4D200DB-D873-F3BC-5908-DF70A3B86DE1}"/>
              </a:ext>
            </a:extLst>
          </p:cNvPr>
          <p:cNvSpPr txBox="1"/>
          <p:nvPr/>
        </p:nvSpPr>
        <p:spPr>
          <a:xfrm>
            <a:off x="1124702" y="621626"/>
            <a:ext cx="32816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重复数据消除的精确化实施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809B5A4A-D52E-9124-BE50-B7FB8F0D49F6}"/>
              </a:ext>
            </a:extLst>
          </p:cNvPr>
          <p:cNvGrpSpPr/>
          <p:nvPr/>
        </p:nvGrpSpPr>
        <p:grpSpPr>
          <a:xfrm>
            <a:off x="1093031" y="2210237"/>
            <a:ext cx="8011970" cy="1067682"/>
            <a:chOff x="5633861" y="1367132"/>
            <a:chExt cx="7836647" cy="1067682"/>
          </a:xfrm>
        </p:grpSpPr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45204977-E016-5EB5-FCD7-F91D0FCC8DA1}"/>
                </a:ext>
              </a:extLst>
            </p:cNvPr>
            <p:cNvSpPr txBox="1"/>
            <p:nvPr/>
          </p:nvSpPr>
          <p:spPr>
            <a:xfrm>
              <a:off x="6959235" y="1367132"/>
              <a:ext cx="30908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3FEE8BB5-FC26-B222-82A4-B0A4AE3ED6C3}"/>
                </a:ext>
              </a:extLst>
            </p:cNvPr>
            <p:cNvSpPr txBox="1"/>
            <p:nvPr/>
          </p:nvSpPr>
          <p:spPr>
            <a:xfrm>
              <a:off x="5633861" y="1419151"/>
              <a:ext cx="783664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800"/>
                </a:lnSpc>
              </a:pPr>
              <a:r>
                <a:rPr lang="zh-CN" altLang="en-US" sz="1600" b="0" dirty="0">
                  <a:effectLst/>
                  <a:latin typeface="Consolas" panose="020B0609020204030204" pitchFamily="49" charset="0"/>
                </a:rPr>
                <a:t>采用子文件级重复数据消除，将文件划分为固定或可变大小的数据块，通过比较这些数据块的哈希值来识别重复块。对于交易记录这类结构化数据，虽然单条记录内的重复度可能不高，但在大量历史备份数据中，或者在不同用户的相似行为日志中，仍可能存在可观的冗余。</a:t>
              </a:r>
            </a:p>
          </p:txBody>
        </p:sp>
      </p:grpSp>
      <p:sp>
        <p:nvSpPr>
          <p:cNvPr id="36" name="文本框 35">
            <a:extLst>
              <a:ext uri="{FF2B5EF4-FFF2-40B4-BE49-F238E27FC236}">
                <a16:creationId xmlns:a16="http://schemas.microsoft.com/office/drawing/2014/main" id="{82F6C7E5-9837-C4D9-3C11-56A1B9F70ABE}"/>
              </a:ext>
            </a:extLst>
          </p:cNvPr>
          <p:cNvSpPr txBox="1"/>
          <p:nvPr/>
        </p:nvSpPr>
        <p:spPr>
          <a:xfrm>
            <a:off x="1283868" y="1931127"/>
            <a:ext cx="2294189" cy="326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方法选择与应用</a:t>
            </a: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DD50AC4A-4510-A266-203A-CB01B76DE5F9}"/>
              </a:ext>
            </a:extLst>
          </p:cNvPr>
          <p:cNvGrpSpPr/>
          <p:nvPr/>
        </p:nvGrpSpPr>
        <p:grpSpPr>
          <a:xfrm>
            <a:off x="1124700" y="4192527"/>
            <a:ext cx="8011969" cy="1611682"/>
            <a:chOff x="5713253" y="1367132"/>
            <a:chExt cx="6085515" cy="1611682"/>
          </a:xfrm>
        </p:grpSpPr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2B4167A4-C4AF-2E68-C46D-0C64BDCD6F68}"/>
                </a:ext>
              </a:extLst>
            </p:cNvPr>
            <p:cNvSpPr txBox="1"/>
            <p:nvPr/>
          </p:nvSpPr>
          <p:spPr>
            <a:xfrm>
              <a:off x="6959235" y="1367132"/>
              <a:ext cx="30908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EF452C2A-5D5B-5950-63A2-02C93E03548B}"/>
                </a:ext>
              </a:extLst>
            </p:cNvPr>
            <p:cNvSpPr txBox="1"/>
            <p:nvPr/>
          </p:nvSpPr>
          <p:spPr>
            <a:xfrm>
              <a:off x="5713253" y="1501486"/>
              <a:ext cx="6085515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800"/>
                </a:lnSpc>
                <a:buNone/>
              </a:pPr>
              <a:r>
                <a:rPr lang="zh-CN" altLang="en-US" sz="1600" dirty="0">
                  <a:effectLst/>
                  <a:latin typeface="+mn-ea"/>
                </a:rPr>
                <a:t>推荐使用基于目标的重复数据消除（通常在</a:t>
              </a:r>
              <a:r>
                <a:rPr lang="en-US" altLang="zh-CN" sz="1600" dirty="0">
                  <a:effectLst/>
                  <a:latin typeface="+mn-ea"/>
                </a:rPr>
                <a:t>VTL</a:t>
              </a:r>
              <a:r>
                <a:rPr lang="zh-CN" altLang="en-US" sz="1600" dirty="0">
                  <a:effectLst/>
                  <a:latin typeface="+mn-ea"/>
                </a:rPr>
                <a:t>或专用备份设备上执行。这种方式可以在数据写入备份存储时即进行消除，优化存储效率。虽然源端去重可以节省网络带宽，但目标端去重对生产服务器的性能影响更小，更适合淘宝这类高性能业务系统。持续监控去重率，并根据数据特性调整策略是必要的。</a:t>
              </a:r>
            </a:p>
            <a:p>
              <a:pPr>
                <a:lnSpc>
                  <a:spcPts val="1800"/>
                </a:lnSpc>
              </a:pPr>
              <a:br>
                <a:rPr lang="zh-CN" altLang="en-US" sz="1600" dirty="0">
                  <a:effectLst/>
                  <a:latin typeface="+mn-ea"/>
                </a:rPr>
              </a:br>
              <a:endParaRPr lang="zh-CN" altLang="en-US" sz="1600" dirty="0">
                <a:effectLst/>
                <a:latin typeface="+mn-ea"/>
              </a:endParaRPr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35E6803D-FD8A-193F-61BF-5429BEC6159D}"/>
              </a:ext>
            </a:extLst>
          </p:cNvPr>
          <p:cNvSpPr txBox="1"/>
          <p:nvPr/>
        </p:nvSpPr>
        <p:spPr>
          <a:xfrm>
            <a:off x="1246871" y="3951131"/>
            <a:ext cx="1753967" cy="326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zh-CN" altLang="en-US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实施策略</a:t>
            </a:r>
            <a:endParaRPr lang="zh-CN" altLang="en-US" b="0" dirty="0"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2" name="live-chat_72439">
            <a:extLst>
              <a:ext uri="{FF2B5EF4-FFF2-40B4-BE49-F238E27FC236}">
                <a16:creationId xmlns:a16="http://schemas.microsoft.com/office/drawing/2014/main" id="{8CBFB2A1-FFAD-52C9-B310-646665D278C9}"/>
              </a:ext>
            </a:extLst>
          </p:cNvPr>
          <p:cNvSpPr>
            <a:spLocks noChangeAspect="1"/>
          </p:cNvSpPr>
          <p:nvPr/>
        </p:nvSpPr>
        <p:spPr bwMode="auto">
          <a:xfrm>
            <a:off x="944403" y="3976463"/>
            <a:ext cx="297257" cy="259489"/>
          </a:xfrm>
          <a:custGeom>
            <a:avLst/>
            <a:gdLst>
              <a:gd name="connsiteX0" fmla="*/ 424975 w 608697"/>
              <a:gd name="connsiteY0" fmla="*/ 168488 h 531358"/>
              <a:gd name="connsiteX1" fmla="*/ 387604 w 608697"/>
              <a:gd name="connsiteY1" fmla="*/ 205806 h 531358"/>
              <a:gd name="connsiteX2" fmla="*/ 424975 w 608697"/>
              <a:gd name="connsiteY2" fmla="*/ 243124 h 531358"/>
              <a:gd name="connsiteX3" fmla="*/ 462346 w 608697"/>
              <a:gd name="connsiteY3" fmla="*/ 205806 h 531358"/>
              <a:gd name="connsiteX4" fmla="*/ 424975 w 608697"/>
              <a:gd name="connsiteY4" fmla="*/ 168488 h 531358"/>
              <a:gd name="connsiteX5" fmla="*/ 287947 w 608697"/>
              <a:gd name="connsiteY5" fmla="*/ 168488 h 531358"/>
              <a:gd name="connsiteX6" fmla="*/ 250576 w 608697"/>
              <a:gd name="connsiteY6" fmla="*/ 205806 h 531358"/>
              <a:gd name="connsiteX7" fmla="*/ 287947 w 608697"/>
              <a:gd name="connsiteY7" fmla="*/ 243124 h 531358"/>
              <a:gd name="connsiteX8" fmla="*/ 325318 w 608697"/>
              <a:gd name="connsiteY8" fmla="*/ 205806 h 531358"/>
              <a:gd name="connsiteX9" fmla="*/ 287947 w 608697"/>
              <a:gd name="connsiteY9" fmla="*/ 168488 h 531358"/>
              <a:gd name="connsiteX10" fmla="*/ 102356 w 608697"/>
              <a:gd name="connsiteY10" fmla="*/ 121231 h 531358"/>
              <a:gd name="connsiteX11" fmla="*/ 98850 w 608697"/>
              <a:gd name="connsiteY11" fmla="*/ 127711 h 531358"/>
              <a:gd name="connsiteX12" fmla="*/ 76842 w 608697"/>
              <a:gd name="connsiteY12" fmla="*/ 217990 h 531358"/>
              <a:gd name="connsiteX13" fmla="*/ 98850 w 608697"/>
              <a:gd name="connsiteY13" fmla="*/ 308194 h 531358"/>
              <a:gd name="connsiteX14" fmla="*/ 157488 w 608697"/>
              <a:gd name="connsiteY14" fmla="*/ 380223 h 531358"/>
              <a:gd name="connsiteX15" fmla="*/ 344668 w 608697"/>
              <a:gd name="connsiteY15" fmla="*/ 444729 h 531358"/>
              <a:gd name="connsiteX16" fmla="*/ 370257 w 608697"/>
              <a:gd name="connsiteY16" fmla="*/ 443687 h 531358"/>
              <a:gd name="connsiteX17" fmla="*/ 236717 w 608697"/>
              <a:gd name="connsiteY17" fmla="*/ 477876 h 531358"/>
              <a:gd name="connsiteX18" fmla="*/ 198072 w 608697"/>
              <a:gd name="connsiteY18" fmla="*/ 475344 h 531358"/>
              <a:gd name="connsiteX19" fmla="*/ 82437 w 608697"/>
              <a:gd name="connsiteY19" fmla="*/ 531284 h 531358"/>
              <a:gd name="connsiteX20" fmla="*/ 81542 w 608697"/>
              <a:gd name="connsiteY20" fmla="*/ 531358 h 531358"/>
              <a:gd name="connsiteX21" fmla="*/ 75051 w 608697"/>
              <a:gd name="connsiteY21" fmla="*/ 527857 h 531358"/>
              <a:gd name="connsiteX22" fmla="*/ 74753 w 608697"/>
              <a:gd name="connsiteY22" fmla="*/ 519738 h 531358"/>
              <a:gd name="connsiteX23" fmla="*/ 88778 w 608697"/>
              <a:gd name="connsiteY23" fmla="*/ 435046 h 531358"/>
              <a:gd name="connsiteX24" fmla="*/ 0 w 608697"/>
              <a:gd name="connsiteY24" fmla="*/ 282198 h 531358"/>
              <a:gd name="connsiteX25" fmla="*/ 102356 w 608697"/>
              <a:gd name="connsiteY25" fmla="*/ 121231 h 531358"/>
              <a:gd name="connsiteX26" fmla="*/ 356424 w 608697"/>
              <a:gd name="connsiteY26" fmla="*/ 0 h 531358"/>
              <a:gd name="connsiteX27" fmla="*/ 608697 w 608697"/>
              <a:gd name="connsiteY27" fmla="*/ 211244 h 531358"/>
              <a:gd name="connsiteX28" fmla="*/ 518290 w 608697"/>
              <a:gd name="connsiteY28" fmla="*/ 373401 h 531358"/>
              <a:gd name="connsiteX29" fmla="*/ 531941 w 608697"/>
              <a:gd name="connsiteY29" fmla="*/ 441109 h 531358"/>
              <a:gd name="connsiteX30" fmla="*/ 531120 w 608697"/>
              <a:gd name="connsiteY30" fmla="*/ 465391 h 531358"/>
              <a:gd name="connsiteX31" fmla="*/ 511577 w 608697"/>
              <a:gd name="connsiteY31" fmla="*/ 475894 h 531358"/>
              <a:gd name="connsiteX32" fmla="*/ 509041 w 608697"/>
              <a:gd name="connsiteY32" fmla="*/ 475745 h 531358"/>
              <a:gd name="connsiteX33" fmla="*/ 391408 w 608697"/>
              <a:gd name="connsiteY33" fmla="*/ 420476 h 531358"/>
              <a:gd name="connsiteX34" fmla="*/ 356424 w 608697"/>
              <a:gd name="connsiteY34" fmla="*/ 422487 h 531358"/>
              <a:gd name="connsiteX35" fmla="*/ 104225 w 608697"/>
              <a:gd name="connsiteY35" fmla="*/ 211244 h 531358"/>
              <a:gd name="connsiteX36" fmla="*/ 356424 w 608697"/>
              <a:gd name="connsiteY36" fmla="*/ 0 h 531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608697" h="531358">
                <a:moveTo>
                  <a:pt x="424975" y="168488"/>
                </a:moveTo>
                <a:cubicBezTo>
                  <a:pt x="404312" y="168488"/>
                  <a:pt x="387604" y="185248"/>
                  <a:pt x="387604" y="205806"/>
                </a:cubicBezTo>
                <a:cubicBezTo>
                  <a:pt x="387604" y="226439"/>
                  <a:pt x="404312" y="243124"/>
                  <a:pt x="424975" y="243124"/>
                </a:cubicBezTo>
                <a:cubicBezTo>
                  <a:pt x="445562" y="243124"/>
                  <a:pt x="462346" y="226439"/>
                  <a:pt x="462346" y="205806"/>
                </a:cubicBezTo>
                <a:cubicBezTo>
                  <a:pt x="462346" y="185248"/>
                  <a:pt x="445637" y="168488"/>
                  <a:pt x="424975" y="168488"/>
                </a:cubicBezTo>
                <a:close/>
                <a:moveTo>
                  <a:pt x="287947" y="168488"/>
                </a:moveTo>
                <a:cubicBezTo>
                  <a:pt x="267285" y="168488"/>
                  <a:pt x="250576" y="185248"/>
                  <a:pt x="250576" y="205806"/>
                </a:cubicBezTo>
                <a:cubicBezTo>
                  <a:pt x="250576" y="226439"/>
                  <a:pt x="267285" y="243124"/>
                  <a:pt x="287947" y="243124"/>
                </a:cubicBezTo>
                <a:cubicBezTo>
                  <a:pt x="308610" y="243124"/>
                  <a:pt x="325318" y="226439"/>
                  <a:pt x="325318" y="205806"/>
                </a:cubicBezTo>
                <a:cubicBezTo>
                  <a:pt x="325318" y="185248"/>
                  <a:pt x="308610" y="168488"/>
                  <a:pt x="287947" y="168488"/>
                </a:cubicBezTo>
                <a:close/>
                <a:moveTo>
                  <a:pt x="102356" y="121231"/>
                </a:moveTo>
                <a:cubicBezTo>
                  <a:pt x="101162" y="123317"/>
                  <a:pt x="99969" y="125477"/>
                  <a:pt x="98850" y="127711"/>
                </a:cubicBezTo>
                <a:cubicBezTo>
                  <a:pt x="84227" y="156240"/>
                  <a:pt x="76842" y="186631"/>
                  <a:pt x="76842" y="217990"/>
                </a:cubicBezTo>
                <a:cubicBezTo>
                  <a:pt x="76842" y="249275"/>
                  <a:pt x="84227" y="279666"/>
                  <a:pt x="98850" y="308194"/>
                </a:cubicBezTo>
                <a:cubicBezTo>
                  <a:pt x="112726" y="335308"/>
                  <a:pt x="132496" y="359516"/>
                  <a:pt x="157488" y="380223"/>
                </a:cubicBezTo>
                <a:cubicBezTo>
                  <a:pt x="207845" y="421787"/>
                  <a:pt x="274317" y="444729"/>
                  <a:pt x="344668" y="444729"/>
                </a:cubicBezTo>
                <a:cubicBezTo>
                  <a:pt x="353173" y="444729"/>
                  <a:pt x="361752" y="444357"/>
                  <a:pt x="370257" y="443687"/>
                </a:cubicBezTo>
                <a:cubicBezTo>
                  <a:pt x="332209" y="465288"/>
                  <a:pt x="286254" y="477876"/>
                  <a:pt x="236717" y="477876"/>
                </a:cubicBezTo>
                <a:cubicBezTo>
                  <a:pt x="223736" y="477876"/>
                  <a:pt x="210755" y="477057"/>
                  <a:pt x="198072" y="475344"/>
                </a:cubicBezTo>
                <a:cubicBezTo>
                  <a:pt x="160397" y="499478"/>
                  <a:pt x="110637" y="528155"/>
                  <a:pt x="82437" y="531284"/>
                </a:cubicBezTo>
                <a:cubicBezTo>
                  <a:pt x="82138" y="531358"/>
                  <a:pt x="81840" y="531358"/>
                  <a:pt x="81542" y="531358"/>
                </a:cubicBezTo>
                <a:cubicBezTo>
                  <a:pt x="78930" y="531358"/>
                  <a:pt x="76469" y="530017"/>
                  <a:pt x="75051" y="527857"/>
                </a:cubicBezTo>
                <a:cubicBezTo>
                  <a:pt x="73410" y="525399"/>
                  <a:pt x="73335" y="522271"/>
                  <a:pt x="74753" y="519738"/>
                </a:cubicBezTo>
                <a:cubicBezTo>
                  <a:pt x="75051" y="519291"/>
                  <a:pt x="99223" y="476014"/>
                  <a:pt x="88778" y="435046"/>
                </a:cubicBezTo>
                <a:cubicBezTo>
                  <a:pt x="32303" y="397653"/>
                  <a:pt x="0" y="342160"/>
                  <a:pt x="0" y="282198"/>
                </a:cubicBezTo>
                <a:cubicBezTo>
                  <a:pt x="0" y="215532"/>
                  <a:pt x="40584" y="156538"/>
                  <a:pt x="102356" y="121231"/>
                </a:cubicBezTo>
                <a:close/>
                <a:moveTo>
                  <a:pt x="356424" y="0"/>
                </a:moveTo>
                <a:cubicBezTo>
                  <a:pt x="495540" y="0"/>
                  <a:pt x="608697" y="94747"/>
                  <a:pt x="608697" y="211244"/>
                </a:cubicBezTo>
                <a:cubicBezTo>
                  <a:pt x="608697" y="274408"/>
                  <a:pt x="575802" y="333178"/>
                  <a:pt x="518290" y="373401"/>
                </a:cubicBezTo>
                <a:cubicBezTo>
                  <a:pt x="512845" y="406324"/>
                  <a:pt x="531717" y="440811"/>
                  <a:pt x="531941" y="441109"/>
                </a:cubicBezTo>
                <a:cubicBezTo>
                  <a:pt x="536267" y="448781"/>
                  <a:pt x="535969" y="458092"/>
                  <a:pt x="531120" y="465391"/>
                </a:cubicBezTo>
                <a:cubicBezTo>
                  <a:pt x="526794" y="472021"/>
                  <a:pt x="519484" y="475894"/>
                  <a:pt x="511577" y="475894"/>
                </a:cubicBezTo>
                <a:cubicBezTo>
                  <a:pt x="510756" y="475894"/>
                  <a:pt x="509936" y="475894"/>
                  <a:pt x="509041" y="475745"/>
                </a:cubicBezTo>
                <a:cubicBezTo>
                  <a:pt x="484574" y="473064"/>
                  <a:pt x="444966" y="454442"/>
                  <a:pt x="391408" y="420476"/>
                </a:cubicBezTo>
                <a:cubicBezTo>
                  <a:pt x="379920" y="421817"/>
                  <a:pt x="368135" y="422487"/>
                  <a:pt x="356424" y="422487"/>
                </a:cubicBezTo>
                <a:cubicBezTo>
                  <a:pt x="217382" y="422487"/>
                  <a:pt x="104225" y="327741"/>
                  <a:pt x="104225" y="211244"/>
                </a:cubicBezTo>
                <a:cubicBezTo>
                  <a:pt x="104225" y="94747"/>
                  <a:pt x="217382" y="0"/>
                  <a:pt x="35642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9422327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D8894-D469-B418-F01E-A8B896CB2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191ABFCC-DC06-DE77-DBDA-37A4DC245027}"/>
              </a:ext>
            </a:extLst>
          </p:cNvPr>
          <p:cNvSpPr/>
          <p:nvPr/>
        </p:nvSpPr>
        <p:spPr>
          <a:xfrm>
            <a:off x="10945503" y="441325"/>
            <a:ext cx="659122" cy="659122"/>
          </a:xfrm>
          <a:prstGeom prst="rect">
            <a:avLst/>
          </a:prstGeom>
          <a:blipFill dpi="0" rotWithShape="1">
            <a:blip r:embed="rId2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576C68D0-F0E8-3C21-B3E5-FB69ED317D0A}"/>
              </a:ext>
            </a:extLst>
          </p:cNvPr>
          <p:cNvCxnSpPr/>
          <p:nvPr/>
        </p:nvCxnSpPr>
        <p:spPr>
          <a:xfrm>
            <a:off x="648833" y="490652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3CF42394-39AC-1A88-23EB-3C6F678416C5}"/>
              </a:ext>
            </a:extLst>
          </p:cNvPr>
          <p:cNvSpPr txBox="1"/>
          <p:nvPr/>
        </p:nvSpPr>
        <p:spPr>
          <a:xfrm>
            <a:off x="542925" y="5786978"/>
            <a:ext cx="1321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CASE STUDY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RESEARCH.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20A24B5E-208B-4C8B-417F-C9BA8018FBA5}"/>
              </a:ext>
            </a:extLst>
          </p:cNvPr>
          <p:cNvCxnSpPr/>
          <p:nvPr/>
        </p:nvCxnSpPr>
        <p:spPr>
          <a:xfrm>
            <a:off x="648833" y="6391831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E079E523-8DF3-1649-3BEB-6BB98516AB5A}"/>
              </a:ext>
            </a:extLst>
          </p:cNvPr>
          <p:cNvGrpSpPr/>
          <p:nvPr/>
        </p:nvGrpSpPr>
        <p:grpSpPr>
          <a:xfrm>
            <a:off x="4249489" y="1419736"/>
            <a:ext cx="2083573" cy="3987567"/>
            <a:chOff x="5881079" y="1581584"/>
            <a:chExt cx="2083573" cy="3987567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92EBF5DC-8F21-C82C-5C93-7322671CF430}"/>
                </a:ext>
              </a:extLst>
            </p:cNvPr>
            <p:cNvGrpSpPr/>
            <p:nvPr/>
          </p:nvGrpSpPr>
          <p:grpSpPr>
            <a:xfrm>
              <a:off x="7517288" y="1581584"/>
              <a:ext cx="447364" cy="447364"/>
              <a:chOff x="6800850" y="1381903"/>
              <a:chExt cx="808755" cy="808755"/>
            </a:xfrm>
          </p:grpSpPr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AEA7DFFD-982F-2977-E14E-27EE83820E8C}"/>
                  </a:ext>
                </a:extLst>
              </p:cNvPr>
              <p:cNvSpPr/>
              <p:nvPr/>
            </p:nvSpPr>
            <p:spPr>
              <a:xfrm>
                <a:off x="6800850" y="1381903"/>
                <a:ext cx="808755" cy="80875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0" name="iconfont-11180-4674648">
                <a:extLst>
                  <a:ext uri="{FF2B5EF4-FFF2-40B4-BE49-F238E27FC236}">
                    <a16:creationId xmlns:a16="http://schemas.microsoft.com/office/drawing/2014/main" id="{9E36289E-35B5-EE01-B23D-CECE819AF9E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000531" y="1581584"/>
                <a:ext cx="409393" cy="409393"/>
              </a:xfrm>
              <a:custGeom>
                <a:avLst/>
                <a:gdLst>
                  <a:gd name="T0" fmla="*/ 6903 w 13303"/>
                  <a:gd name="T1" fmla="*/ 13303 h 13303"/>
                  <a:gd name="T2" fmla="*/ 990 w 13303"/>
                  <a:gd name="T3" fmla="*/ 9352 h 13303"/>
                  <a:gd name="T4" fmla="*/ 2378 w 13303"/>
                  <a:gd name="T5" fmla="*/ 2378 h 13303"/>
                  <a:gd name="T6" fmla="*/ 9352 w 13303"/>
                  <a:gd name="T7" fmla="*/ 990 h 13303"/>
                  <a:gd name="T8" fmla="*/ 13303 w 13303"/>
                  <a:gd name="T9" fmla="*/ 6903 h 13303"/>
                  <a:gd name="T10" fmla="*/ 11428 w 13303"/>
                  <a:gd name="T11" fmla="*/ 11428 h 13303"/>
                  <a:gd name="T12" fmla="*/ 6903 w 13303"/>
                  <a:gd name="T13" fmla="*/ 13303 h 13303"/>
                  <a:gd name="T14" fmla="*/ 10243 w 13303"/>
                  <a:gd name="T15" fmla="*/ 4852 h 13303"/>
                  <a:gd name="T16" fmla="*/ 9597 w 13303"/>
                  <a:gd name="T17" fmla="*/ 4852 h 13303"/>
                  <a:gd name="T18" fmla="*/ 6041 w 13303"/>
                  <a:gd name="T19" fmla="*/ 8405 h 13303"/>
                  <a:gd name="T20" fmla="*/ 4209 w 13303"/>
                  <a:gd name="T21" fmla="*/ 6574 h 13303"/>
                  <a:gd name="T22" fmla="*/ 3572 w 13303"/>
                  <a:gd name="T23" fmla="*/ 6583 h 13303"/>
                  <a:gd name="T24" fmla="*/ 3563 w 13303"/>
                  <a:gd name="T25" fmla="*/ 7220 h 13303"/>
                  <a:gd name="T26" fmla="*/ 5718 w 13303"/>
                  <a:gd name="T27" fmla="*/ 9378 h 13303"/>
                  <a:gd name="T28" fmla="*/ 6364 w 13303"/>
                  <a:gd name="T29" fmla="*/ 9378 h 13303"/>
                  <a:gd name="T30" fmla="*/ 10243 w 13303"/>
                  <a:gd name="T31" fmla="*/ 5498 h 13303"/>
                  <a:gd name="T32" fmla="*/ 10243 w 13303"/>
                  <a:gd name="T33" fmla="*/ 4852 h 133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3303" h="13303">
                    <a:moveTo>
                      <a:pt x="6903" y="13303"/>
                    </a:moveTo>
                    <a:cubicBezTo>
                      <a:pt x="4314" y="13303"/>
                      <a:pt x="1981" y="11744"/>
                      <a:pt x="990" y="9352"/>
                    </a:cubicBezTo>
                    <a:cubicBezTo>
                      <a:pt x="0" y="6961"/>
                      <a:pt x="547" y="4208"/>
                      <a:pt x="2378" y="2378"/>
                    </a:cubicBezTo>
                    <a:cubicBezTo>
                      <a:pt x="4208" y="547"/>
                      <a:pt x="6961" y="0"/>
                      <a:pt x="9352" y="990"/>
                    </a:cubicBezTo>
                    <a:cubicBezTo>
                      <a:pt x="11744" y="1981"/>
                      <a:pt x="13303" y="4314"/>
                      <a:pt x="13303" y="6903"/>
                    </a:cubicBezTo>
                    <a:cubicBezTo>
                      <a:pt x="13303" y="8600"/>
                      <a:pt x="12629" y="10228"/>
                      <a:pt x="11428" y="11428"/>
                    </a:cubicBezTo>
                    <a:cubicBezTo>
                      <a:pt x="10228" y="12629"/>
                      <a:pt x="8600" y="13303"/>
                      <a:pt x="6903" y="13303"/>
                    </a:cubicBezTo>
                    <a:close/>
                    <a:moveTo>
                      <a:pt x="10243" y="4852"/>
                    </a:moveTo>
                    <a:cubicBezTo>
                      <a:pt x="10065" y="4672"/>
                      <a:pt x="9775" y="4672"/>
                      <a:pt x="9597" y="4852"/>
                    </a:cubicBezTo>
                    <a:lnTo>
                      <a:pt x="6041" y="8405"/>
                    </a:lnTo>
                    <a:lnTo>
                      <a:pt x="4209" y="6574"/>
                    </a:lnTo>
                    <a:cubicBezTo>
                      <a:pt x="4029" y="6404"/>
                      <a:pt x="3747" y="6408"/>
                      <a:pt x="3572" y="6583"/>
                    </a:cubicBezTo>
                    <a:cubicBezTo>
                      <a:pt x="3397" y="6758"/>
                      <a:pt x="3393" y="7040"/>
                      <a:pt x="3563" y="7220"/>
                    </a:cubicBezTo>
                    <a:lnTo>
                      <a:pt x="5718" y="9378"/>
                    </a:lnTo>
                    <a:cubicBezTo>
                      <a:pt x="5897" y="9554"/>
                      <a:pt x="6185" y="9554"/>
                      <a:pt x="6364" y="9378"/>
                    </a:cubicBezTo>
                    <a:lnTo>
                      <a:pt x="10243" y="5498"/>
                    </a:lnTo>
                    <a:cubicBezTo>
                      <a:pt x="10421" y="5320"/>
                      <a:pt x="10421" y="5030"/>
                      <a:pt x="10243" y="485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</p:sp>
        </p:grp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39664B33-DB66-85FB-D489-D0320F7CADEF}"/>
                </a:ext>
              </a:extLst>
            </p:cNvPr>
            <p:cNvGrpSpPr/>
            <p:nvPr/>
          </p:nvGrpSpPr>
          <p:grpSpPr>
            <a:xfrm>
              <a:off x="7517288" y="5121787"/>
              <a:ext cx="447364" cy="447364"/>
              <a:chOff x="6800850" y="4922106"/>
              <a:chExt cx="808755" cy="808755"/>
            </a:xfrm>
          </p:grpSpPr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272B3C29-C294-1C83-1059-4E31F2908A86}"/>
                  </a:ext>
                </a:extLst>
              </p:cNvPr>
              <p:cNvSpPr/>
              <p:nvPr/>
            </p:nvSpPr>
            <p:spPr>
              <a:xfrm>
                <a:off x="6800850" y="4922106"/>
                <a:ext cx="808755" cy="80875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8" name="live-chat_72439">
                <a:extLst>
                  <a:ext uri="{FF2B5EF4-FFF2-40B4-BE49-F238E27FC236}">
                    <a16:creationId xmlns:a16="http://schemas.microsoft.com/office/drawing/2014/main" id="{6518AA0E-99DD-B3AC-E359-78872E2D412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000531" y="5147795"/>
                <a:ext cx="409393" cy="357377"/>
              </a:xfrm>
              <a:custGeom>
                <a:avLst/>
                <a:gdLst>
                  <a:gd name="connsiteX0" fmla="*/ 424975 w 608697"/>
                  <a:gd name="connsiteY0" fmla="*/ 168488 h 531358"/>
                  <a:gd name="connsiteX1" fmla="*/ 387604 w 608697"/>
                  <a:gd name="connsiteY1" fmla="*/ 205806 h 531358"/>
                  <a:gd name="connsiteX2" fmla="*/ 424975 w 608697"/>
                  <a:gd name="connsiteY2" fmla="*/ 243124 h 531358"/>
                  <a:gd name="connsiteX3" fmla="*/ 462346 w 608697"/>
                  <a:gd name="connsiteY3" fmla="*/ 205806 h 531358"/>
                  <a:gd name="connsiteX4" fmla="*/ 424975 w 608697"/>
                  <a:gd name="connsiteY4" fmla="*/ 168488 h 531358"/>
                  <a:gd name="connsiteX5" fmla="*/ 287947 w 608697"/>
                  <a:gd name="connsiteY5" fmla="*/ 168488 h 531358"/>
                  <a:gd name="connsiteX6" fmla="*/ 250576 w 608697"/>
                  <a:gd name="connsiteY6" fmla="*/ 205806 h 531358"/>
                  <a:gd name="connsiteX7" fmla="*/ 287947 w 608697"/>
                  <a:gd name="connsiteY7" fmla="*/ 243124 h 531358"/>
                  <a:gd name="connsiteX8" fmla="*/ 325318 w 608697"/>
                  <a:gd name="connsiteY8" fmla="*/ 205806 h 531358"/>
                  <a:gd name="connsiteX9" fmla="*/ 287947 w 608697"/>
                  <a:gd name="connsiteY9" fmla="*/ 168488 h 531358"/>
                  <a:gd name="connsiteX10" fmla="*/ 102356 w 608697"/>
                  <a:gd name="connsiteY10" fmla="*/ 121231 h 531358"/>
                  <a:gd name="connsiteX11" fmla="*/ 98850 w 608697"/>
                  <a:gd name="connsiteY11" fmla="*/ 127711 h 531358"/>
                  <a:gd name="connsiteX12" fmla="*/ 76842 w 608697"/>
                  <a:gd name="connsiteY12" fmla="*/ 217990 h 531358"/>
                  <a:gd name="connsiteX13" fmla="*/ 98850 w 608697"/>
                  <a:gd name="connsiteY13" fmla="*/ 308194 h 531358"/>
                  <a:gd name="connsiteX14" fmla="*/ 157488 w 608697"/>
                  <a:gd name="connsiteY14" fmla="*/ 380223 h 531358"/>
                  <a:gd name="connsiteX15" fmla="*/ 344668 w 608697"/>
                  <a:gd name="connsiteY15" fmla="*/ 444729 h 531358"/>
                  <a:gd name="connsiteX16" fmla="*/ 370257 w 608697"/>
                  <a:gd name="connsiteY16" fmla="*/ 443687 h 531358"/>
                  <a:gd name="connsiteX17" fmla="*/ 236717 w 608697"/>
                  <a:gd name="connsiteY17" fmla="*/ 477876 h 531358"/>
                  <a:gd name="connsiteX18" fmla="*/ 198072 w 608697"/>
                  <a:gd name="connsiteY18" fmla="*/ 475344 h 531358"/>
                  <a:gd name="connsiteX19" fmla="*/ 82437 w 608697"/>
                  <a:gd name="connsiteY19" fmla="*/ 531284 h 531358"/>
                  <a:gd name="connsiteX20" fmla="*/ 81542 w 608697"/>
                  <a:gd name="connsiteY20" fmla="*/ 531358 h 531358"/>
                  <a:gd name="connsiteX21" fmla="*/ 75051 w 608697"/>
                  <a:gd name="connsiteY21" fmla="*/ 527857 h 531358"/>
                  <a:gd name="connsiteX22" fmla="*/ 74753 w 608697"/>
                  <a:gd name="connsiteY22" fmla="*/ 519738 h 531358"/>
                  <a:gd name="connsiteX23" fmla="*/ 88778 w 608697"/>
                  <a:gd name="connsiteY23" fmla="*/ 435046 h 531358"/>
                  <a:gd name="connsiteX24" fmla="*/ 0 w 608697"/>
                  <a:gd name="connsiteY24" fmla="*/ 282198 h 531358"/>
                  <a:gd name="connsiteX25" fmla="*/ 102356 w 608697"/>
                  <a:gd name="connsiteY25" fmla="*/ 121231 h 531358"/>
                  <a:gd name="connsiteX26" fmla="*/ 356424 w 608697"/>
                  <a:gd name="connsiteY26" fmla="*/ 0 h 531358"/>
                  <a:gd name="connsiteX27" fmla="*/ 608697 w 608697"/>
                  <a:gd name="connsiteY27" fmla="*/ 211244 h 531358"/>
                  <a:gd name="connsiteX28" fmla="*/ 518290 w 608697"/>
                  <a:gd name="connsiteY28" fmla="*/ 373401 h 531358"/>
                  <a:gd name="connsiteX29" fmla="*/ 531941 w 608697"/>
                  <a:gd name="connsiteY29" fmla="*/ 441109 h 531358"/>
                  <a:gd name="connsiteX30" fmla="*/ 531120 w 608697"/>
                  <a:gd name="connsiteY30" fmla="*/ 465391 h 531358"/>
                  <a:gd name="connsiteX31" fmla="*/ 511577 w 608697"/>
                  <a:gd name="connsiteY31" fmla="*/ 475894 h 531358"/>
                  <a:gd name="connsiteX32" fmla="*/ 509041 w 608697"/>
                  <a:gd name="connsiteY32" fmla="*/ 475745 h 531358"/>
                  <a:gd name="connsiteX33" fmla="*/ 391408 w 608697"/>
                  <a:gd name="connsiteY33" fmla="*/ 420476 h 531358"/>
                  <a:gd name="connsiteX34" fmla="*/ 356424 w 608697"/>
                  <a:gd name="connsiteY34" fmla="*/ 422487 h 531358"/>
                  <a:gd name="connsiteX35" fmla="*/ 104225 w 608697"/>
                  <a:gd name="connsiteY35" fmla="*/ 211244 h 531358"/>
                  <a:gd name="connsiteX36" fmla="*/ 356424 w 608697"/>
                  <a:gd name="connsiteY36" fmla="*/ 0 h 5313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608697" h="531358">
                    <a:moveTo>
                      <a:pt x="424975" y="168488"/>
                    </a:moveTo>
                    <a:cubicBezTo>
                      <a:pt x="404312" y="168488"/>
                      <a:pt x="387604" y="185248"/>
                      <a:pt x="387604" y="205806"/>
                    </a:cubicBezTo>
                    <a:cubicBezTo>
                      <a:pt x="387604" y="226439"/>
                      <a:pt x="404312" y="243124"/>
                      <a:pt x="424975" y="243124"/>
                    </a:cubicBezTo>
                    <a:cubicBezTo>
                      <a:pt x="445562" y="243124"/>
                      <a:pt x="462346" y="226439"/>
                      <a:pt x="462346" y="205806"/>
                    </a:cubicBezTo>
                    <a:cubicBezTo>
                      <a:pt x="462346" y="185248"/>
                      <a:pt x="445637" y="168488"/>
                      <a:pt x="424975" y="168488"/>
                    </a:cubicBezTo>
                    <a:close/>
                    <a:moveTo>
                      <a:pt x="287947" y="168488"/>
                    </a:moveTo>
                    <a:cubicBezTo>
                      <a:pt x="267285" y="168488"/>
                      <a:pt x="250576" y="185248"/>
                      <a:pt x="250576" y="205806"/>
                    </a:cubicBezTo>
                    <a:cubicBezTo>
                      <a:pt x="250576" y="226439"/>
                      <a:pt x="267285" y="243124"/>
                      <a:pt x="287947" y="243124"/>
                    </a:cubicBezTo>
                    <a:cubicBezTo>
                      <a:pt x="308610" y="243124"/>
                      <a:pt x="325318" y="226439"/>
                      <a:pt x="325318" y="205806"/>
                    </a:cubicBezTo>
                    <a:cubicBezTo>
                      <a:pt x="325318" y="185248"/>
                      <a:pt x="308610" y="168488"/>
                      <a:pt x="287947" y="168488"/>
                    </a:cubicBezTo>
                    <a:close/>
                    <a:moveTo>
                      <a:pt x="102356" y="121231"/>
                    </a:moveTo>
                    <a:cubicBezTo>
                      <a:pt x="101162" y="123317"/>
                      <a:pt x="99969" y="125477"/>
                      <a:pt x="98850" y="127711"/>
                    </a:cubicBezTo>
                    <a:cubicBezTo>
                      <a:pt x="84227" y="156240"/>
                      <a:pt x="76842" y="186631"/>
                      <a:pt x="76842" y="217990"/>
                    </a:cubicBezTo>
                    <a:cubicBezTo>
                      <a:pt x="76842" y="249275"/>
                      <a:pt x="84227" y="279666"/>
                      <a:pt x="98850" y="308194"/>
                    </a:cubicBezTo>
                    <a:cubicBezTo>
                      <a:pt x="112726" y="335308"/>
                      <a:pt x="132496" y="359516"/>
                      <a:pt x="157488" y="380223"/>
                    </a:cubicBezTo>
                    <a:cubicBezTo>
                      <a:pt x="207845" y="421787"/>
                      <a:pt x="274317" y="444729"/>
                      <a:pt x="344668" y="444729"/>
                    </a:cubicBezTo>
                    <a:cubicBezTo>
                      <a:pt x="353173" y="444729"/>
                      <a:pt x="361752" y="444357"/>
                      <a:pt x="370257" y="443687"/>
                    </a:cubicBezTo>
                    <a:cubicBezTo>
                      <a:pt x="332209" y="465288"/>
                      <a:pt x="286254" y="477876"/>
                      <a:pt x="236717" y="477876"/>
                    </a:cubicBezTo>
                    <a:cubicBezTo>
                      <a:pt x="223736" y="477876"/>
                      <a:pt x="210755" y="477057"/>
                      <a:pt x="198072" y="475344"/>
                    </a:cubicBezTo>
                    <a:cubicBezTo>
                      <a:pt x="160397" y="499478"/>
                      <a:pt x="110637" y="528155"/>
                      <a:pt x="82437" y="531284"/>
                    </a:cubicBezTo>
                    <a:cubicBezTo>
                      <a:pt x="82138" y="531358"/>
                      <a:pt x="81840" y="531358"/>
                      <a:pt x="81542" y="531358"/>
                    </a:cubicBezTo>
                    <a:cubicBezTo>
                      <a:pt x="78930" y="531358"/>
                      <a:pt x="76469" y="530017"/>
                      <a:pt x="75051" y="527857"/>
                    </a:cubicBezTo>
                    <a:cubicBezTo>
                      <a:pt x="73410" y="525399"/>
                      <a:pt x="73335" y="522271"/>
                      <a:pt x="74753" y="519738"/>
                    </a:cubicBezTo>
                    <a:cubicBezTo>
                      <a:pt x="75051" y="519291"/>
                      <a:pt x="99223" y="476014"/>
                      <a:pt x="88778" y="435046"/>
                    </a:cubicBezTo>
                    <a:cubicBezTo>
                      <a:pt x="32303" y="397653"/>
                      <a:pt x="0" y="342160"/>
                      <a:pt x="0" y="282198"/>
                    </a:cubicBezTo>
                    <a:cubicBezTo>
                      <a:pt x="0" y="215532"/>
                      <a:pt x="40584" y="156538"/>
                      <a:pt x="102356" y="121231"/>
                    </a:cubicBezTo>
                    <a:close/>
                    <a:moveTo>
                      <a:pt x="356424" y="0"/>
                    </a:moveTo>
                    <a:cubicBezTo>
                      <a:pt x="495540" y="0"/>
                      <a:pt x="608697" y="94747"/>
                      <a:pt x="608697" y="211244"/>
                    </a:cubicBezTo>
                    <a:cubicBezTo>
                      <a:pt x="608697" y="274408"/>
                      <a:pt x="575802" y="333178"/>
                      <a:pt x="518290" y="373401"/>
                    </a:cubicBezTo>
                    <a:cubicBezTo>
                      <a:pt x="512845" y="406324"/>
                      <a:pt x="531717" y="440811"/>
                      <a:pt x="531941" y="441109"/>
                    </a:cubicBezTo>
                    <a:cubicBezTo>
                      <a:pt x="536267" y="448781"/>
                      <a:pt x="535969" y="458092"/>
                      <a:pt x="531120" y="465391"/>
                    </a:cubicBezTo>
                    <a:cubicBezTo>
                      <a:pt x="526794" y="472021"/>
                      <a:pt x="519484" y="475894"/>
                      <a:pt x="511577" y="475894"/>
                    </a:cubicBezTo>
                    <a:cubicBezTo>
                      <a:pt x="510756" y="475894"/>
                      <a:pt x="509936" y="475894"/>
                      <a:pt x="509041" y="475745"/>
                    </a:cubicBezTo>
                    <a:cubicBezTo>
                      <a:pt x="484574" y="473064"/>
                      <a:pt x="444966" y="454442"/>
                      <a:pt x="391408" y="420476"/>
                    </a:cubicBezTo>
                    <a:cubicBezTo>
                      <a:pt x="379920" y="421817"/>
                      <a:pt x="368135" y="422487"/>
                      <a:pt x="356424" y="422487"/>
                    </a:cubicBezTo>
                    <a:cubicBezTo>
                      <a:pt x="217382" y="422487"/>
                      <a:pt x="104225" y="327741"/>
                      <a:pt x="104225" y="211244"/>
                    </a:cubicBezTo>
                    <a:cubicBezTo>
                      <a:pt x="104225" y="94747"/>
                      <a:pt x="217382" y="0"/>
                      <a:pt x="35642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</p: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8D44E6BC-45BF-F9C6-FC5C-FDC046E73B5A}"/>
                </a:ext>
              </a:extLst>
            </p:cNvPr>
            <p:cNvGrpSpPr/>
            <p:nvPr/>
          </p:nvGrpSpPr>
          <p:grpSpPr>
            <a:xfrm>
              <a:off x="7517288" y="3351686"/>
              <a:ext cx="447364" cy="447364"/>
              <a:chOff x="6800850" y="3077444"/>
              <a:chExt cx="808755" cy="808755"/>
            </a:xfrm>
          </p:grpSpPr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56A81B83-80EC-8679-3422-927428434E07}"/>
                  </a:ext>
                </a:extLst>
              </p:cNvPr>
              <p:cNvSpPr/>
              <p:nvPr/>
            </p:nvSpPr>
            <p:spPr>
              <a:xfrm>
                <a:off x="6800850" y="3077444"/>
                <a:ext cx="808755" cy="80875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6" name="iconfont-10585-5147501">
                <a:extLst>
                  <a:ext uri="{FF2B5EF4-FFF2-40B4-BE49-F238E27FC236}">
                    <a16:creationId xmlns:a16="http://schemas.microsoft.com/office/drawing/2014/main" id="{62834539-913B-FB74-2644-1C75FF1581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000530" y="3323449"/>
                <a:ext cx="409394" cy="316744"/>
              </a:xfrm>
              <a:custGeom>
                <a:avLst/>
                <a:gdLst>
                  <a:gd name="T0" fmla="*/ 8851 w 12288"/>
                  <a:gd name="T1" fmla="*/ 2190 h 9507"/>
                  <a:gd name="T2" fmla="*/ 5095 w 12288"/>
                  <a:gd name="T3" fmla="*/ 299 h 9507"/>
                  <a:gd name="T4" fmla="*/ 2323 w 12288"/>
                  <a:gd name="T5" fmla="*/ 3463 h 9507"/>
                  <a:gd name="T6" fmla="*/ 0 w 12288"/>
                  <a:gd name="T7" fmla="*/ 6419 h 9507"/>
                  <a:gd name="T8" fmla="*/ 3072 w 12288"/>
                  <a:gd name="T9" fmla="*/ 9507 h 9507"/>
                  <a:gd name="T10" fmla="*/ 8832 w 12288"/>
                  <a:gd name="T11" fmla="*/ 9507 h 9507"/>
                  <a:gd name="T12" fmla="*/ 12288 w 12288"/>
                  <a:gd name="T13" fmla="*/ 5839 h 9507"/>
                  <a:gd name="T14" fmla="*/ 8851 w 12288"/>
                  <a:gd name="T15" fmla="*/ 2190 h 9507"/>
                  <a:gd name="T16" fmla="*/ 7857 w 12288"/>
                  <a:gd name="T17" fmla="*/ 5994 h 9507"/>
                  <a:gd name="T18" fmla="*/ 7455 w 12288"/>
                  <a:gd name="T19" fmla="*/ 5994 h 9507"/>
                  <a:gd name="T20" fmla="*/ 7253 w 12288"/>
                  <a:gd name="T21" fmla="*/ 6186 h 9507"/>
                  <a:gd name="T22" fmla="*/ 7248 w 12288"/>
                  <a:gd name="T23" fmla="*/ 8151 h 9507"/>
                  <a:gd name="T24" fmla="*/ 6845 w 12288"/>
                  <a:gd name="T25" fmla="*/ 8535 h 9507"/>
                  <a:gd name="T26" fmla="*/ 5441 w 12288"/>
                  <a:gd name="T27" fmla="*/ 8535 h 9507"/>
                  <a:gd name="T28" fmla="*/ 5039 w 12288"/>
                  <a:gd name="T29" fmla="*/ 8151 h 9507"/>
                  <a:gd name="T30" fmla="*/ 5034 w 12288"/>
                  <a:gd name="T31" fmla="*/ 6186 h 9507"/>
                  <a:gd name="T32" fmla="*/ 4832 w 12288"/>
                  <a:gd name="T33" fmla="*/ 5994 h 9507"/>
                  <a:gd name="T34" fmla="*/ 4429 w 12288"/>
                  <a:gd name="T35" fmla="*/ 5994 h 9507"/>
                  <a:gd name="T36" fmla="*/ 4026 w 12288"/>
                  <a:gd name="T37" fmla="*/ 5610 h 9507"/>
                  <a:gd name="T38" fmla="*/ 4104 w 12288"/>
                  <a:gd name="T39" fmla="*/ 5380 h 9507"/>
                  <a:gd name="T40" fmla="*/ 5784 w 12288"/>
                  <a:gd name="T41" fmla="*/ 3442 h 9507"/>
                  <a:gd name="T42" fmla="*/ 6499 w 12288"/>
                  <a:gd name="T43" fmla="*/ 3442 h 9507"/>
                  <a:gd name="T44" fmla="*/ 8180 w 12288"/>
                  <a:gd name="T45" fmla="*/ 5380 h 9507"/>
                  <a:gd name="T46" fmla="*/ 8259 w 12288"/>
                  <a:gd name="T47" fmla="*/ 5610 h 9507"/>
                  <a:gd name="T48" fmla="*/ 7857 w 12288"/>
                  <a:gd name="T49" fmla="*/ 5994 h 95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88" h="9507">
                    <a:moveTo>
                      <a:pt x="8851" y="2190"/>
                    </a:moveTo>
                    <a:cubicBezTo>
                      <a:pt x="8176" y="777"/>
                      <a:pt x="6631" y="0"/>
                      <a:pt x="5095" y="299"/>
                    </a:cubicBezTo>
                    <a:cubicBezTo>
                      <a:pt x="3558" y="599"/>
                      <a:pt x="2418" y="1900"/>
                      <a:pt x="2323" y="3463"/>
                    </a:cubicBezTo>
                    <a:cubicBezTo>
                      <a:pt x="979" y="3847"/>
                      <a:pt x="0" y="5028"/>
                      <a:pt x="0" y="6419"/>
                    </a:cubicBezTo>
                    <a:cubicBezTo>
                      <a:pt x="0" y="8061"/>
                      <a:pt x="1363" y="9410"/>
                      <a:pt x="3072" y="9507"/>
                    </a:cubicBezTo>
                    <a:lnTo>
                      <a:pt x="8832" y="9507"/>
                    </a:lnTo>
                    <a:cubicBezTo>
                      <a:pt x="10732" y="9507"/>
                      <a:pt x="12288" y="7865"/>
                      <a:pt x="12288" y="5839"/>
                    </a:cubicBezTo>
                    <a:cubicBezTo>
                      <a:pt x="12287" y="3889"/>
                      <a:pt x="10770" y="2288"/>
                      <a:pt x="8851" y="2190"/>
                    </a:cubicBezTo>
                    <a:close/>
                    <a:moveTo>
                      <a:pt x="7857" y="5994"/>
                    </a:moveTo>
                    <a:lnTo>
                      <a:pt x="7455" y="5994"/>
                    </a:lnTo>
                    <a:cubicBezTo>
                      <a:pt x="7347" y="5992"/>
                      <a:pt x="7257" y="6077"/>
                      <a:pt x="7253" y="6186"/>
                    </a:cubicBezTo>
                    <a:lnTo>
                      <a:pt x="7248" y="8151"/>
                    </a:lnTo>
                    <a:cubicBezTo>
                      <a:pt x="7243" y="8368"/>
                      <a:pt x="7062" y="8541"/>
                      <a:pt x="6845" y="8535"/>
                    </a:cubicBezTo>
                    <a:lnTo>
                      <a:pt x="5441" y="8535"/>
                    </a:lnTo>
                    <a:cubicBezTo>
                      <a:pt x="5223" y="8541"/>
                      <a:pt x="5043" y="8368"/>
                      <a:pt x="5039" y="8151"/>
                    </a:cubicBezTo>
                    <a:lnTo>
                      <a:pt x="5034" y="6186"/>
                    </a:lnTo>
                    <a:cubicBezTo>
                      <a:pt x="5031" y="6077"/>
                      <a:pt x="4940" y="5991"/>
                      <a:pt x="4832" y="5994"/>
                    </a:cubicBezTo>
                    <a:lnTo>
                      <a:pt x="4429" y="5994"/>
                    </a:lnTo>
                    <a:cubicBezTo>
                      <a:pt x="4212" y="5998"/>
                      <a:pt x="4032" y="5827"/>
                      <a:pt x="4026" y="5610"/>
                    </a:cubicBezTo>
                    <a:cubicBezTo>
                      <a:pt x="4025" y="5527"/>
                      <a:pt x="4053" y="5446"/>
                      <a:pt x="4104" y="5380"/>
                    </a:cubicBezTo>
                    <a:lnTo>
                      <a:pt x="5784" y="3442"/>
                    </a:lnTo>
                    <a:cubicBezTo>
                      <a:pt x="5986" y="3254"/>
                      <a:pt x="6298" y="3254"/>
                      <a:pt x="6499" y="3442"/>
                    </a:cubicBezTo>
                    <a:lnTo>
                      <a:pt x="8180" y="5380"/>
                    </a:lnTo>
                    <a:cubicBezTo>
                      <a:pt x="8231" y="5446"/>
                      <a:pt x="8259" y="5526"/>
                      <a:pt x="8259" y="5610"/>
                    </a:cubicBezTo>
                    <a:cubicBezTo>
                      <a:pt x="8254" y="5827"/>
                      <a:pt x="8074" y="5999"/>
                      <a:pt x="7857" y="599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</p:sp>
        </p:grpSp>
        <p:sp>
          <p:nvSpPr>
            <p:cNvPr id="20" name="iconfont-1014-790368">
              <a:extLst>
                <a:ext uri="{FF2B5EF4-FFF2-40B4-BE49-F238E27FC236}">
                  <a16:creationId xmlns:a16="http://schemas.microsoft.com/office/drawing/2014/main" id="{6436AF10-93D8-23EE-F4BA-38707B2FBF8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881079" y="3245951"/>
              <a:ext cx="609685" cy="609685"/>
            </a:xfrm>
            <a:custGeom>
              <a:avLst/>
              <a:gdLst>
                <a:gd name="T0" fmla="*/ 6400 w 12800"/>
                <a:gd name="T1" fmla="*/ 0 h 12800"/>
                <a:gd name="T2" fmla="*/ 0 w 12800"/>
                <a:gd name="T3" fmla="*/ 6400 h 12800"/>
                <a:gd name="T4" fmla="*/ 6400 w 12800"/>
                <a:gd name="T5" fmla="*/ 12800 h 12800"/>
                <a:gd name="T6" fmla="*/ 12800 w 12800"/>
                <a:gd name="T7" fmla="*/ 6400 h 12800"/>
                <a:gd name="T8" fmla="*/ 6400 w 12800"/>
                <a:gd name="T9" fmla="*/ 0 h 12800"/>
                <a:gd name="T10" fmla="*/ 6193 w 12800"/>
                <a:gd name="T11" fmla="*/ 10019 h 12800"/>
                <a:gd name="T12" fmla="*/ 5522 w 12800"/>
                <a:gd name="T13" fmla="*/ 9320 h 12800"/>
                <a:gd name="T14" fmla="*/ 6211 w 12800"/>
                <a:gd name="T15" fmla="*/ 8575 h 12800"/>
                <a:gd name="T16" fmla="*/ 6892 w 12800"/>
                <a:gd name="T17" fmla="*/ 9302 h 12800"/>
                <a:gd name="T18" fmla="*/ 6193 w 12800"/>
                <a:gd name="T19" fmla="*/ 10019 h 12800"/>
                <a:gd name="T20" fmla="*/ 7343 w 12800"/>
                <a:gd name="T21" fmla="*/ 6138 h 12800"/>
                <a:gd name="T22" fmla="*/ 6626 w 12800"/>
                <a:gd name="T23" fmla="*/ 7444 h 12800"/>
                <a:gd name="T24" fmla="*/ 6662 w 12800"/>
                <a:gd name="T25" fmla="*/ 7849 h 12800"/>
                <a:gd name="T26" fmla="*/ 5705 w 12800"/>
                <a:gd name="T27" fmla="*/ 7849 h 12800"/>
                <a:gd name="T28" fmla="*/ 5659 w 12800"/>
                <a:gd name="T29" fmla="*/ 7352 h 12800"/>
                <a:gd name="T30" fmla="*/ 6487 w 12800"/>
                <a:gd name="T31" fmla="*/ 5798 h 12800"/>
                <a:gd name="T32" fmla="*/ 7416 w 12800"/>
                <a:gd name="T33" fmla="*/ 4464 h 12800"/>
                <a:gd name="T34" fmla="*/ 6074 w 12800"/>
                <a:gd name="T35" fmla="*/ 3627 h 12800"/>
                <a:gd name="T36" fmla="*/ 4602 w 12800"/>
                <a:gd name="T37" fmla="*/ 3977 h 12800"/>
                <a:gd name="T38" fmla="*/ 4289 w 12800"/>
                <a:gd name="T39" fmla="*/ 3222 h 12800"/>
                <a:gd name="T40" fmla="*/ 6220 w 12800"/>
                <a:gd name="T41" fmla="*/ 2781 h 12800"/>
                <a:gd name="T42" fmla="*/ 8511 w 12800"/>
                <a:gd name="T43" fmla="*/ 4335 h 12800"/>
                <a:gd name="T44" fmla="*/ 7343 w 12800"/>
                <a:gd name="T45" fmla="*/ 6138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800" h="12800">
                  <a:moveTo>
                    <a:pt x="6400" y="0"/>
                  </a:moveTo>
                  <a:cubicBezTo>
                    <a:pt x="2865" y="0"/>
                    <a:pt x="0" y="2865"/>
                    <a:pt x="0" y="6400"/>
                  </a:cubicBezTo>
                  <a:cubicBezTo>
                    <a:pt x="0" y="9935"/>
                    <a:pt x="2865" y="12800"/>
                    <a:pt x="6400" y="12800"/>
                  </a:cubicBezTo>
                  <a:cubicBezTo>
                    <a:pt x="9935" y="12800"/>
                    <a:pt x="12800" y="9935"/>
                    <a:pt x="12800" y="6400"/>
                  </a:cubicBezTo>
                  <a:cubicBezTo>
                    <a:pt x="12800" y="2865"/>
                    <a:pt x="9935" y="0"/>
                    <a:pt x="6400" y="0"/>
                  </a:cubicBezTo>
                  <a:close/>
                  <a:moveTo>
                    <a:pt x="6193" y="10019"/>
                  </a:moveTo>
                  <a:cubicBezTo>
                    <a:pt x="5806" y="10019"/>
                    <a:pt x="5522" y="9716"/>
                    <a:pt x="5522" y="9320"/>
                  </a:cubicBezTo>
                  <a:cubicBezTo>
                    <a:pt x="5522" y="8824"/>
                    <a:pt x="5853" y="8575"/>
                    <a:pt x="6211" y="8575"/>
                  </a:cubicBezTo>
                  <a:cubicBezTo>
                    <a:pt x="6616" y="8575"/>
                    <a:pt x="6892" y="8879"/>
                    <a:pt x="6892" y="9302"/>
                  </a:cubicBezTo>
                  <a:cubicBezTo>
                    <a:pt x="6892" y="9679"/>
                    <a:pt x="6653" y="10019"/>
                    <a:pt x="6193" y="10019"/>
                  </a:cubicBezTo>
                  <a:close/>
                  <a:moveTo>
                    <a:pt x="7343" y="6138"/>
                  </a:moveTo>
                  <a:cubicBezTo>
                    <a:pt x="6846" y="6580"/>
                    <a:pt x="6626" y="6975"/>
                    <a:pt x="6626" y="7444"/>
                  </a:cubicBezTo>
                  <a:cubicBezTo>
                    <a:pt x="6626" y="7527"/>
                    <a:pt x="6626" y="7554"/>
                    <a:pt x="6662" y="7849"/>
                  </a:cubicBezTo>
                  <a:lnTo>
                    <a:pt x="5705" y="7849"/>
                  </a:lnTo>
                  <a:cubicBezTo>
                    <a:pt x="5696" y="7785"/>
                    <a:pt x="5659" y="7435"/>
                    <a:pt x="5659" y="7352"/>
                  </a:cubicBezTo>
                  <a:cubicBezTo>
                    <a:pt x="5659" y="6837"/>
                    <a:pt x="5898" y="6350"/>
                    <a:pt x="6487" y="5798"/>
                  </a:cubicBezTo>
                  <a:cubicBezTo>
                    <a:pt x="7067" y="5274"/>
                    <a:pt x="7416" y="4933"/>
                    <a:pt x="7416" y="4464"/>
                  </a:cubicBezTo>
                  <a:cubicBezTo>
                    <a:pt x="7416" y="3986"/>
                    <a:pt x="6993" y="3627"/>
                    <a:pt x="6074" y="3627"/>
                  </a:cubicBezTo>
                  <a:cubicBezTo>
                    <a:pt x="5531" y="3627"/>
                    <a:pt x="4961" y="3774"/>
                    <a:pt x="4602" y="3977"/>
                  </a:cubicBezTo>
                  <a:lnTo>
                    <a:pt x="4289" y="3222"/>
                  </a:lnTo>
                  <a:cubicBezTo>
                    <a:pt x="4785" y="2974"/>
                    <a:pt x="5485" y="2781"/>
                    <a:pt x="6220" y="2781"/>
                  </a:cubicBezTo>
                  <a:cubicBezTo>
                    <a:pt x="7867" y="2781"/>
                    <a:pt x="8511" y="3554"/>
                    <a:pt x="8511" y="4335"/>
                  </a:cubicBezTo>
                  <a:cubicBezTo>
                    <a:pt x="8511" y="5080"/>
                    <a:pt x="7987" y="5595"/>
                    <a:pt x="7343" y="61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C5922B4B-673A-31AA-C70F-C8CC5C00A143}"/>
                </a:ext>
              </a:extLst>
            </p:cNvPr>
            <p:cNvCxnSpPr>
              <a:cxnSpLocks/>
              <a:stCxn id="29" idx="1"/>
            </p:cNvCxnSpPr>
            <p:nvPr/>
          </p:nvCxnSpPr>
          <p:spPr>
            <a:xfrm flipH="1">
              <a:off x="6938128" y="1805266"/>
              <a:ext cx="579160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FBD27C6B-3C23-391E-CCEE-54AFE7DA4DAC}"/>
                </a:ext>
              </a:extLst>
            </p:cNvPr>
            <p:cNvCxnSpPr>
              <a:cxnSpLocks/>
              <a:endCxn id="20" idx="3"/>
            </p:cNvCxnSpPr>
            <p:nvPr/>
          </p:nvCxnSpPr>
          <p:spPr>
            <a:xfrm flipH="1">
              <a:off x="6490764" y="3550794"/>
              <a:ext cx="1026524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9340E923-CE8A-D1B2-8763-FB7777F98B30}"/>
                </a:ext>
              </a:extLst>
            </p:cNvPr>
            <p:cNvCxnSpPr/>
            <p:nvPr/>
          </p:nvCxnSpPr>
          <p:spPr>
            <a:xfrm flipH="1" flipV="1">
              <a:off x="6938128" y="5326483"/>
              <a:ext cx="579159" cy="1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805C0F4B-49D1-62DD-97E3-0F884350186D}"/>
                </a:ext>
              </a:extLst>
            </p:cNvPr>
            <p:cNvCxnSpPr>
              <a:cxnSpLocks/>
            </p:cNvCxnSpPr>
            <p:nvPr/>
          </p:nvCxnSpPr>
          <p:spPr>
            <a:xfrm>
              <a:off x="6938128" y="1805266"/>
              <a:ext cx="0" cy="3521217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文本框 33">
            <a:extLst>
              <a:ext uri="{FF2B5EF4-FFF2-40B4-BE49-F238E27FC236}">
                <a16:creationId xmlns:a16="http://schemas.microsoft.com/office/drawing/2014/main" id="{AB015528-65FF-25D2-5F96-A00BA43C1795}"/>
              </a:ext>
            </a:extLst>
          </p:cNvPr>
          <p:cNvSpPr txBox="1"/>
          <p:nvPr/>
        </p:nvSpPr>
        <p:spPr>
          <a:xfrm>
            <a:off x="6561544" y="1239664"/>
            <a:ext cx="16698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核心策略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587725C-FD99-3E20-AF64-7C802B35A95A}"/>
              </a:ext>
            </a:extLst>
          </p:cNvPr>
          <p:cNvSpPr txBox="1"/>
          <p:nvPr/>
        </p:nvSpPr>
        <p:spPr>
          <a:xfrm>
            <a:off x="6561542" y="1592279"/>
            <a:ext cx="5401067" cy="795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zh-CN" altLang="en-US" sz="1600" b="0" dirty="0">
                <a:effectLst/>
                <a:latin typeface="Consolas" panose="020B0609020204030204" pitchFamily="49" charset="0"/>
              </a:rPr>
              <a:t>在地理位置分散的两个或多个数据中心建立互为备份的存储系统。数据实时或准实时地从主数据中心复制到备用数据中心。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FE1BABAA-ABB7-3293-E788-1CC4BA2308A2}"/>
              </a:ext>
            </a:extLst>
          </p:cNvPr>
          <p:cNvSpPr txBox="1"/>
          <p:nvPr/>
        </p:nvSpPr>
        <p:spPr>
          <a:xfrm>
            <a:off x="6561544" y="3006723"/>
            <a:ext cx="303965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zh-CN" altLang="en-US" sz="20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灾难恢复与业务连续性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3A549A2-BB8A-E42D-FF1F-CC4E03D14F78}"/>
              </a:ext>
            </a:extLst>
          </p:cNvPr>
          <p:cNvSpPr txBox="1"/>
          <p:nvPr/>
        </p:nvSpPr>
        <p:spPr>
          <a:xfrm>
            <a:off x="6561543" y="3359338"/>
            <a:ext cx="540107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当主数据中心因自然灾害、大规模电力故障或其他不可抗力事件导致服务中断时，可以迅速将业务切换到备用数据中心，从而最大限度地减少停机时间，保障业务的连续性。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5E7FA76-D2B9-4556-165A-4A19D10EF34D}"/>
              </a:ext>
            </a:extLst>
          </p:cNvPr>
          <p:cNvSpPr txBox="1"/>
          <p:nvPr/>
        </p:nvSpPr>
        <p:spPr>
          <a:xfrm>
            <a:off x="6561543" y="4726477"/>
            <a:ext cx="312195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zh-CN" altLang="en-US" sz="20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数据可用性与负载均衡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77983E2-6849-F473-6833-72544BCFD42C}"/>
              </a:ext>
            </a:extLst>
          </p:cNvPr>
          <p:cNvSpPr txBox="1"/>
          <p:nvPr/>
        </p:nvSpPr>
        <p:spPr>
          <a:xfrm>
            <a:off x="6561542" y="5100004"/>
            <a:ext cx="54010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除了灾难恢复，异地数据副本还可以用于数据分析、报表生成等只读负载，分担主数据中心的压力。在某些高级架构中，甚至可以实现异地数据中心的同时在线服务，提升整体服务能力和用户访问速度。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1DF6C13-6627-FBF0-F43D-98D4C27ED1A6}"/>
              </a:ext>
            </a:extLst>
          </p:cNvPr>
          <p:cNvSpPr txBox="1"/>
          <p:nvPr/>
        </p:nvSpPr>
        <p:spPr>
          <a:xfrm>
            <a:off x="587375" y="621626"/>
            <a:ext cx="53732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等线" panose="02010600030101010101" pitchFamily="2" charset="-122"/>
                <a:cs typeface="+mn-cs"/>
              </a:rPr>
              <a:t>5.4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Condensed Extra Bold" panose="020B08030202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4A97662-0CB2-E745-E116-DE007E3B9545}"/>
              </a:ext>
            </a:extLst>
          </p:cNvPr>
          <p:cNvSpPr txBox="1"/>
          <p:nvPr/>
        </p:nvSpPr>
        <p:spPr>
          <a:xfrm>
            <a:off x="1124702" y="621626"/>
            <a:ext cx="1217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异地互备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9" name="Picture 4" descr="容灾架构介绍_应用高可用服务 AHAS-阿里云帮助中心">
            <a:extLst>
              <a:ext uri="{FF2B5EF4-FFF2-40B4-BE49-F238E27FC236}">
                <a16:creationId xmlns:a16="http://schemas.microsoft.com/office/drawing/2014/main" id="{CA336DA9-D8CC-9FD8-32A6-F67108C54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286" y="1652910"/>
            <a:ext cx="3570124" cy="3521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79876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435620C1-A801-4755-B362-321F46EDB2F5}"/>
              </a:ext>
            </a:extLst>
          </p:cNvPr>
          <p:cNvCxnSpPr/>
          <p:nvPr/>
        </p:nvCxnSpPr>
        <p:spPr>
          <a:xfrm>
            <a:off x="648833" y="490652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D688B81B-2200-4477-911B-AC746D185EF0}"/>
              </a:ext>
            </a:extLst>
          </p:cNvPr>
          <p:cNvSpPr txBox="1"/>
          <p:nvPr/>
        </p:nvSpPr>
        <p:spPr>
          <a:xfrm>
            <a:off x="542925" y="604952"/>
            <a:ext cx="16093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CROSS BORDER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E-COMMERCE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0776511-3A62-44FF-9F3D-19DF28CC18FE}"/>
              </a:ext>
            </a:extLst>
          </p:cNvPr>
          <p:cNvSpPr txBox="1"/>
          <p:nvPr/>
        </p:nvSpPr>
        <p:spPr>
          <a:xfrm>
            <a:off x="542925" y="5786978"/>
            <a:ext cx="1321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CASE STUDY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RESEARCH.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4ED5457-C38C-4D52-B24F-65277C6629FC}"/>
              </a:ext>
            </a:extLst>
          </p:cNvPr>
          <p:cNvCxnSpPr/>
          <p:nvPr/>
        </p:nvCxnSpPr>
        <p:spPr>
          <a:xfrm>
            <a:off x="648833" y="6391831"/>
            <a:ext cx="566058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794AC3E1-4450-4F7D-AA51-06C0599A8947}"/>
              </a:ext>
            </a:extLst>
          </p:cNvPr>
          <p:cNvSpPr/>
          <p:nvPr/>
        </p:nvSpPr>
        <p:spPr>
          <a:xfrm>
            <a:off x="10945503" y="441325"/>
            <a:ext cx="659122" cy="659122"/>
          </a:xfrm>
          <a:prstGeom prst="rect">
            <a:avLst/>
          </a:prstGeom>
          <a:blipFill dpi="0" rotWithShape="1">
            <a:blip r:embed="rId3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AA06DD6-CF0D-4076-9AA5-B87B9ACB1800}"/>
              </a:ext>
            </a:extLst>
          </p:cNvPr>
          <p:cNvGrpSpPr/>
          <p:nvPr/>
        </p:nvGrpSpPr>
        <p:grpSpPr>
          <a:xfrm>
            <a:off x="1864121" y="1785221"/>
            <a:ext cx="8447735" cy="2646878"/>
            <a:chOff x="1638028" y="971030"/>
            <a:chExt cx="8447735" cy="2646878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9DFF788E-03A9-45A2-B8FF-99E9C41E7689}"/>
                </a:ext>
              </a:extLst>
            </p:cNvPr>
            <p:cNvSpPr txBox="1"/>
            <p:nvPr/>
          </p:nvSpPr>
          <p:spPr>
            <a:xfrm>
              <a:off x="1638028" y="971030"/>
              <a:ext cx="8447735" cy="2646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  <a:alpha val="85000"/>
                    </a:prstClr>
                  </a:solidFill>
                  <a:effectLst/>
                  <a:uLnTx/>
                  <a:uFillTx/>
                  <a:latin typeface="Tw Cen MT Condensed Extra Bold" panose="020B0803020202020204" pitchFamily="34" charset="0"/>
                  <a:ea typeface="微软雅黑" panose="020B0503020204020204" pitchFamily="34" charset="-122"/>
                  <a:cs typeface="+mn-cs"/>
                </a:rPr>
                <a:t>THANKS</a:t>
              </a:r>
              <a:endParaRPr kumimoji="0" lang="zh-CN" altLang="en-US" sz="16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  <a:alpha val="85000"/>
                  </a:prstClr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386A53F4-7B0F-4247-AE9C-A6381A5CC16D}"/>
                </a:ext>
              </a:extLst>
            </p:cNvPr>
            <p:cNvSpPr txBox="1"/>
            <p:nvPr/>
          </p:nvSpPr>
          <p:spPr>
            <a:xfrm>
              <a:off x="1638028" y="2609940"/>
              <a:ext cx="844773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感谢聆听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184569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1_Office 主题​​">
  <a:themeElements>
    <a:clrScheme name="自定义 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B88F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1704</TotalTime>
  <Words>2763</Words>
  <Application>Microsoft Office PowerPoint</Application>
  <PresentationFormat>宽屏</PresentationFormat>
  <Paragraphs>282</Paragraphs>
  <Slides>24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6" baseType="lpstr">
      <vt:lpstr>等线 Light</vt:lpstr>
      <vt:lpstr>Consolas</vt:lpstr>
      <vt:lpstr>碳纤维正中黑简体</vt:lpstr>
      <vt:lpstr>方正宋刻本秀楷简体</vt:lpstr>
      <vt:lpstr>微软雅黑</vt:lpstr>
      <vt:lpstr>宋体</vt:lpstr>
      <vt:lpstr>等线</vt:lpstr>
      <vt:lpstr>Tw Cen MT Condensed Extra Bold</vt:lpstr>
      <vt:lpstr>Arial</vt:lpstr>
      <vt:lpstr>华文中宋</vt:lpstr>
      <vt:lpstr>黑体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石 奕琛</dc:creator>
  <cp:lastModifiedBy>2569207032@qq.com</cp:lastModifiedBy>
  <cp:revision>11</cp:revision>
  <dcterms:created xsi:type="dcterms:W3CDTF">2020-03-14T11:10:39Z</dcterms:created>
  <dcterms:modified xsi:type="dcterms:W3CDTF">2025-05-28T13:19:08Z</dcterms:modified>
</cp:coreProperties>
</file>